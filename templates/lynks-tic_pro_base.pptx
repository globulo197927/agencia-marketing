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6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0">
                <a:solidFill>
                  <a:srgbClr val="FFFFFF"/>
                </a:solidFill>
                <a:latin typeface="Calibri"/>
              </a:defRPr>
            </a:pPr>
            <a:r>
              <a:t>Propuesta</a:t>
            </a:r>
            <a:br/>
            <a:r>
              <a:t>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JOSE VICENTE SL (B28927994)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0" y="3960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00" b="0">
                <a:solidFill>
                  <a:srgbClr val="6ABD45"/>
                </a:solidFill>
                <a:latin typeface="Calibri"/>
              </a:defRPr>
            </a:pPr>
            <a:r>
              <a:t>lynks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40000" y="46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ABD45"/>
                </a:solidFill>
                <a:latin typeface="Calibri"/>
              </a:defRPr>
            </a:pPr>
            <a:r>
              <a:t>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0" y="5220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0B0B0"/>
                </a:solidFill>
                <a:latin typeface="Calibri"/>
              </a:defRPr>
            </a:pPr>
            <a:r>
              <a:t>professional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702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lynks-tic.com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0000" y="180000"/>
            <a:ext cx="1800000" cy="9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1999" y="288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ABD45"/>
                </a:solidFill>
                <a:latin typeface="Calibri"/>
              </a:defRPr>
            </a:pPr>
            <a:r>
              <a:t>lynks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396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BD45"/>
                </a:solidFill>
                <a:latin typeface="Calibri"/>
              </a:defRPr>
            </a:pPr>
            <a:r>
              <a:t>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576000"/>
            <a:ext cx="165599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professional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288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Calibri"/>
              </a:defRPr>
            </a:pPr>
            <a:r>
              <a:t>JOSE VICENTE SL (B28927994)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5039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Calibri"/>
              </a:defRPr>
            </a:pPr>
            <a:r>
              <a:t>Comercial: JAVIER MARTIN AMADOR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64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Calibri"/>
              </a:defRPr>
            </a:pPr>
            <a:r>
              <a:t>Teléfono: 664258977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792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Calibri"/>
              </a:defRPr>
            </a:pPr>
            <a:r>
              <a:t>C. Electrónico: JAVIER.MARTIN@LYNKS-TIC.COM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152000"/>
            <a:ext cx="10332000" cy="28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1188000"/>
            <a:ext cx="10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DETALLE DE LA OFERTA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8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0000" y="1440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SERVICIO/EQUIPO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1440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COMPROMISO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CANTIDAD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0000" y="1440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DTO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CUOTA 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0" y="1440000"/>
            <a:ext cx="82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DTO C. 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0000" y="144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1655999"/>
            <a:ext cx="10332000" cy="216000"/>
          </a:xfrm>
          <a:prstGeom prst="rect">
            <a:avLst/>
          </a:prstGeom>
          <a:solidFill>
            <a:srgbClr val="E8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PAQUETES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015999" y="1691999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B2ONE B8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6000" y="1691999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149,00€/mes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1691999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13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036000" y="1691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936000" y="1691999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149,00 €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890000"/>
            <a:ext cx="10332000" cy="216000"/>
          </a:xfrm>
          <a:prstGeom prst="rect">
            <a:avLst/>
          </a:prstGeom>
          <a:solidFill>
            <a:srgbClr val="D0E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11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2015999" y="1926000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LYNKS FTTO 1GB + BACKUP 4G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6000" y="1926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7416000" y="1926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813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9036000" y="192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9936000" y="1926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0000" y="2124000"/>
            <a:ext cx="10332000" cy="216000"/>
          </a:xfrm>
          <a:prstGeom prst="rect">
            <a:avLst/>
          </a:prstGeom>
          <a:solidFill>
            <a:srgbClr val="E8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111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2015999" y="2160000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CANAL VOZ (TRUNK)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6000" y="2160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1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7416000" y="2160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813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9036000" y="2160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9936000" y="216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0000" y="2358000"/>
            <a:ext cx="10332000" cy="216000"/>
          </a:xfrm>
          <a:prstGeom prst="rect">
            <a:avLst/>
          </a:prstGeom>
          <a:solidFill>
            <a:srgbClr val="D0E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111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2015999" y="2394000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EXT IP (IVR,GRABACIÓN,SOFTPHONE)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6000" y="2394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7416000" y="2394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813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9036000" y="2394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9936000" y="2394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0000" y="2591999"/>
            <a:ext cx="10332000" cy="216000"/>
          </a:xfrm>
          <a:prstGeom prst="rect">
            <a:avLst/>
          </a:prstGeom>
          <a:solidFill>
            <a:srgbClr val="E8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111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2015999" y="2627999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DDI (NACIONAL)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36000" y="2627999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7416000" y="2627999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813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9036000" y="2627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9936000" y="2627999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0000" y="2826000"/>
            <a:ext cx="10332000" cy="216000"/>
          </a:xfrm>
          <a:prstGeom prst="rect">
            <a:avLst/>
          </a:prstGeom>
          <a:solidFill>
            <a:srgbClr val="D0E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111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2015999" y="2862000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MOVIL B2 ILIMITADA PACK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36000" y="2862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1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7416000" y="2862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6" name="TextBox 85"/>
          <p:cNvSpPr txBox="1"/>
          <p:nvPr/>
        </p:nvSpPr>
        <p:spPr>
          <a:xfrm>
            <a:off x="813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7" name="TextBox 86"/>
          <p:cNvSpPr txBox="1"/>
          <p:nvPr/>
        </p:nvSpPr>
        <p:spPr>
          <a:xfrm>
            <a:off x="9036000" y="2862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8" name="TextBox 87"/>
          <p:cNvSpPr txBox="1"/>
          <p:nvPr/>
        </p:nvSpPr>
        <p:spPr>
          <a:xfrm>
            <a:off x="9936000" y="2862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0000" y="3060000"/>
            <a:ext cx="10332000" cy="216000"/>
          </a:xfrm>
          <a:prstGeom prst="rect">
            <a:avLst/>
          </a:prstGeom>
          <a:solidFill>
            <a:srgbClr val="E8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LYNKS MOBILE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TARIFAS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15999" y="3096000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MOVIL B2 ILIMITADA PACK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36000" y="3096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12 meses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1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9,45€/mes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16000" y="3096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813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9036000" y="3096000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9" name="TextBox 98"/>
          <p:cNvSpPr txBox="1"/>
          <p:nvPr/>
        </p:nvSpPr>
        <p:spPr>
          <a:xfrm>
            <a:off x="9936000" y="3096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37,80 €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0000" y="3293999"/>
            <a:ext cx="10332000" cy="216000"/>
          </a:xfrm>
          <a:prstGeom prst="rect">
            <a:avLst/>
          </a:prstGeom>
          <a:solidFill>
            <a:srgbClr val="D0E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LYNKS IP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1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EQUIPOS Y TERMINALES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15999" y="3329999"/>
            <a:ext cx="24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GIGASET BÁSICO P710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36000" y="3329999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1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1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3,00€/mes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16000" y="3329999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08" name="TextBox 107"/>
          <p:cNvSpPr txBox="1"/>
          <p:nvPr/>
        </p:nvSpPr>
        <p:spPr>
          <a:xfrm>
            <a:off x="813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09" name="TextBox 108"/>
          <p:cNvSpPr txBox="1"/>
          <p:nvPr/>
        </p:nvSpPr>
        <p:spPr>
          <a:xfrm>
            <a:off x="9036000" y="3329999"/>
            <a:ext cx="82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10" name="TextBox 109"/>
          <p:cNvSpPr txBox="1"/>
          <p:nvPr/>
        </p:nvSpPr>
        <p:spPr>
          <a:xfrm>
            <a:off x="9936000" y="3329999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24,00 €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0000" y="3636000"/>
            <a:ext cx="10332000" cy="288000"/>
          </a:xfrm>
          <a:prstGeom prst="rect">
            <a:avLst/>
          </a:prstGeom>
          <a:solidFill>
            <a:srgbClr val="4A8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320000" y="3690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PRIMER PAGO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80000" y="369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210,80 €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60000" y="369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RESTO MEN...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0000" y="702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  <a:latin typeface="Calibri"/>
              </a:defRPr>
            </a:pPr>
            <a:r>
              <a:t>* Los precios no incluyen IVA / IGIC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28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272000"/>
            <a:ext cx="10692000" cy="28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40000"/>
            <a:ext cx="10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CLOUD · BACKUP ·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07999"/>
            <a:ext cx="106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Infraestructura en CPD Tier-IV Madrid · Distribuidor oficial Datos101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ISO 20000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RGPD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NIS2-ready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0000" y="1368000"/>
            <a:ext cx="1512000" cy="251999"/>
          </a:xfrm>
          <a:prstGeom prst="round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0000" y="1386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SLA 99,99%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1872000"/>
            <a:ext cx="4680000" cy="17280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1872000"/>
            <a:ext cx="108000" cy="172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000" y="1980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CLOUD &amp; IaaS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" y="2196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BD45"/>
                </a:solidFill>
                <a:latin typeface="Calibri"/>
              </a:defRPr>
            </a:pPr>
            <a:r>
              <a:t>Cloud101 · VPS · Infraestructura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" y="2448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VPS y máquinas virtuales on-demand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" y="2699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Escalado flexible · pago por 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" y="2952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Soberanía del dato en España / 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80000" y="1872000"/>
            <a:ext cx="4680000" cy="17280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80000" y="1872000"/>
            <a:ext cx="108000" cy="172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8000" y="1980000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8000" y="2196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BD45"/>
                </a:solidFill>
                <a:latin typeface="Calibri"/>
              </a:defRPr>
            </a:pPr>
            <a:r>
              <a:t>Backup as a Service · Backup365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2000" y="2448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Copia cifrada de servidores, M365 y NAS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2000" y="2699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Doble destino (local + cloud)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2000" y="2952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Restauración granular en minutos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3851999"/>
            <a:ext cx="4680000" cy="17280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000" y="3851999"/>
            <a:ext cx="108000" cy="172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000" y="3959999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DISASTER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00" y="4175999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BD45"/>
                </a:solidFill>
                <a:latin typeface="Calibri"/>
              </a:defRPr>
            </a:pPr>
            <a:r>
              <a:t>DRaaS · Plan de contingencia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0" y="4427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Replicación continua RTO/RPO bajos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0" y="4679998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Simulacros periódicos de failover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0" y="4931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Réplicas inmutables anti-ransomware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80000" y="3851999"/>
            <a:ext cx="4680000" cy="17280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80000" y="3851999"/>
            <a:ext cx="108000" cy="1728000"/>
          </a:xfrm>
          <a:prstGeom prst="rect">
            <a:avLst/>
          </a:prstGeom>
          <a:solidFill>
            <a:srgbClr val="6AB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68000" y="3959999"/>
            <a:ext cx="41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CIBERSEGURIDAD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8000" y="4175999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BD45"/>
                </a:solidFill>
                <a:latin typeface="Calibri"/>
              </a:defRPr>
            </a:pPr>
            <a:r>
              <a:t>Ciber101 · SOC gestionado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2000" y="4427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SOC 24×7 · detección y respuesta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2000" y="4679998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EDR/XDR · endpoint y servidor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2000" y="4931999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■  Auditorías técnicas · cumplimiento NIS2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" y="6660000"/>
            <a:ext cx="9612000" cy="360000"/>
          </a:xfrm>
          <a:prstGeom prst="rect">
            <a:avLst/>
          </a:prstGeom>
          <a:solidFill>
            <a:srgbClr val="2A2A2A"/>
          </a:solidFill>
          <a:ln w="25400">
            <a:solidFill>
              <a:srgbClr val="6AB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000" y="6732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HABLEMOS  ·  911 08 98 77  ·  info@lynks-tic.com  ·  lynks-tic.com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0000" y="7020000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08080"/>
                </a:solidFill>
                <a:latin typeface="Calibri"/>
              </a:defRPr>
            </a:pPr>
            <a: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