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45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TopBand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DiagDark"/>
          <p:cNvSpPr/>
          <p:nvPr/>
        </p:nvSpPr>
        <p:spPr>
          <a:xfrm rot="-1800000">
            <a:off x="5800000" y="500000"/>
            <a:ext cx="600000" cy="6000000"/>
          </a:xfrm>
          <a:prstGeom prst="rect">
            <a:avLst/>
          </a:prstGeom>
          <a:solidFill>
            <a:srgbClr val="CC0000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VodafoneLabel"/>
          <p:cNvSpPr/>
          <p:nvPr/>
        </p:nvSpPr>
        <p:spPr>
          <a:xfrm>
            <a:off x="304800" y="137160"/>
            <a:ext cx="4000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Calibri" pitchFamily="34" charset="0"/>
              </a:rPr>
              <a:t>VODAFONE</a:t>
            </a:r>
          </a:p>
        </p:txBody>
      </p:sp>
      <p:sp>
        <p:nvSpPr>
          <p:cNvPr id="5" name="PropuestaLabel"/>
          <p:cNvSpPr/>
          <p:nvPr/>
        </p:nvSpPr>
        <p:spPr>
          <a:xfrm>
            <a:off x="304800" y="731520"/>
            <a:ext cx="550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spc="400" dirty="0">
                <a:solidFill>
                  <a:srgbClr val="FFCCCC"/>
                </a:solidFill>
                <a:latin typeface="Calibri" pitchFamily="34" charset="0"/>
              </a:rPr>
              <a:t>PROPUESTA COMERCIAL EMPRESAS</a:t>
            </a:r>
          </a:p>
        </p:txBody>
      </p:sp>
      <p:sp>
        <p:nvSpPr>
          <p:cNvPr id="6" name="ClientLine1"/>
          <p:cNvSpPr/>
          <p:nvPr/>
        </p:nvSpPr>
        <p:spPr>
          <a:xfrm>
            <a:off x="304800" y="1645920"/>
            <a:ext cx="6200000" cy="7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4400" b="1" dirty="0">
                <a:solidFill>
                  <a:srgbClr val="FFFFFF"/>
                </a:solidFill>
                <a:latin typeface="Calibri" pitchFamily="34" charset="0"/>
              </a:rPr>
              <a:t>TECNOLOGÍA</a:t>
            </a:r>
          </a:p>
        </p:txBody>
      </p:sp>
      <p:sp>
        <p:nvSpPr>
          <p:cNvPr id="7" name="ClientLine2"/>
          <p:cNvSpPr/>
          <p:nvPr/>
        </p:nvSpPr>
        <p:spPr>
          <a:xfrm>
            <a:off x="304800" y="2362680"/>
            <a:ext cx="6200000" cy="7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4400" b="1" dirty="0">
                <a:solidFill>
                  <a:srgbClr val="E60000"/>
                </a:solidFill>
                <a:latin typeface="Calibri" pitchFamily="34" charset="0"/>
              </a:rPr>
              <a:t>TÉRMICA SA</a:t>
            </a:r>
          </a:p>
        </p:txBody>
      </p:sp>
      <p:sp>
        <p:nvSpPr>
          <p:cNvPr id="8" name="Separator"/>
          <p:cNvSpPr/>
          <p:nvPr/>
        </p:nvSpPr>
        <p:spPr>
          <a:xfrm>
            <a:off x="304800" y="3200400"/>
            <a:ext cx="1371600" cy="457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" name="PillNIF"/>
          <p:cNvSpPr/>
          <p:nvPr/>
        </p:nvSpPr>
        <p:spPr>
          <a:xfrm>
            <a:off x="304800" y="3337560"/>
            <a:ext cx="1097280" cy="274320"/>
          </a:xfrm>
          <a:prstGeom prst="roundRect">
            <a:avLst>
              <a:gd name="adj" fmla="val 25000"/>
            </a:avLst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s-ES" sz="900" dirty="0">
                <a:solidFill>
                  <a:srgbClr val="AAAAAA"/>
                </a:solidFill>
                <a:latin typeface="Calibri" pitchFamily="34" charset="0"/>
              </a:rPr>
              <a:t>NIF A28592772</a:t>
            </a:r>
          </a:p>
        </p:txBody>
      </p:sp>
      <p:sp>
        <p:nvSpPr>
          <p:cNvPr id="10" name="Pill5G"/>
          <p:cNvSpPr/>
          <p:nvPr/>
        </p:nvSpPr>
        <p:spPr>
          <a:xfrm>
            <a:off x="1463040" y="3337560"/>
            <a:ext cx="1280160" cy="274320"/>
          </a:xfrm>
          <a:prstGeom prst="roundRect">
            <a:avLst>
              <a:gd name="adj" fmla="val 25000"/>
            </a:avLst>
          </a:prstGeom>
          <a:solidFill>
            <a:srgbClr val="2A0000"/>
          </a:solidFill>
          <a:ln w="12700">
            <a:solidFill>
              <a:srgbClr val="E60000"/>
            </a:solidFill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E60000"/>
                </a:solidFill>
                <a:latin typeface="Calibri" pitchFamily="34" charset="0"/>
              </a:rPr>
              <a:t>● Red 5G Vodafone</a:t>
            </a:r>
          </a:p>
        </p:txBody>
      </p:sp>
      <p:sp>
        <p:nvSpPr>
          <p:cNvPr id="11" name="PillNuevo"/>
          <p:cNvSpPr/>
          <p:nvPr/>
        </p:nvSpPr>
        <p:spPr>
          <a:xfrm>
            <a:off x="2804160" y="3337560"/>
            <a:ext cx="1280160" cy="274320"/>
          </a:xfrm>
          <a:prstGeom prst="roundRect">
            <a:avLst>
              <a:gd name="adj" fmla="val 25000"/>
            </a:avLst>
          </a:prstGeom>
          <a:solidFill>
            <a:srgbClr val="002A00"/>
          </a:solidFill>
          <a:ln w="12700">
            <a:solidFill>
              <a:srgbClr val="00AA00"/>
            </a:solidFill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00CC00"/>
                </a:solidFill>
                <a:latin typeface="Calibri" pitchFamily="34" charset="0"/>
              </a:rPr>
              <a:t>Abril 2026</a:t>
            </a:r>
          </a:p>
        </p:txBody>
      </p:sp>
      <p:sp>
        <p:nvSpPr>
          <p:cNvPr id="12" name="BulletPoints"/>
          <p:cNvSpPr/>
          <p:nvPr/>
        </p:nvSpPr>
        <p:spPr>
          <a:xfrm>
            <a:off x="304800" y="3749040"/>
            <a:ext cx="5500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100" dirty="0">
                <a:solidFill>
                  <a:srgbClr val="DDDDDD"/>
                </a:solidFill>
                <a:latin typeface="Calibri" pitchFamily="34" charset="0"/>
              </a:rPr>
              <a:t>▸  25 líneas móviles · Plan RED Infinity PRO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DDDDDD"/>
                </a:solidFill>
                <a:latin typeface="Calibri" pitchFamily="34" charset="0"/>
              </a:rPr>
              <a:t>▸  Fibra 1Gbps + Centralita Plus incluidas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DDDDDD"/>
                </a:solidFill>
                <a:latin typeface="Calibri" pitchFamily="34" charset="0"/>
              </a:rPr>
              <a:t>▸  Terminales a precio 0€ disponibles</a:t>
            </a:r>
          </a:p>
        </p:txBody>
      </p:sp>
      <p:sp>
        <p:nvSpPr>
          <p:cNvPr id="13" name="Fecha"/>
          <p:cNvSpPr/>
          <p:nvPr/>
        </p:nvSpPr>
        <p:spPr>
          <a:xfrm>
            <a:off x="304800" y="4480560"/>
            <a:ext cx="2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777777"/>
                </a:solidFill>
                <a:latin typeface="Calibri" pitchFamily="34" charset="0"/>
              </a:rPr>
              <a:t>Marzo 2026</a:t>
            </a:r>
          </a:p>
        </p:txBody>
      </p:sp>
      <p:sp>
        <p:nvSpPr>
          <p:cNvPr id="14" name="PlatinumCard"/>
          <p:cNvSpPr/>
          <p:nvPr/>
        </p:nvSpPr>
        <p:spPr>
          <a:xfrm>
            <a:off x="6629400" y="1600200"/>
            <a:ext cx="2286000" cy="2743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9050">
            <a:solidFill>
              <a:srgbClr val="E60000"/>
            </a:solidFill>
          </a:ln>
          <a:effectLst>
            <a:outerShdw blurRad="76200" dist="38100" dir="5400000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rophyEmoji"/>
          <p:cNvSpPr/>
          <p:nvPr/>
        </p:nvSpPr>
        <p:spPr>
          <a:xfrm>
            <a:off x="6629400" y="16764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800" dirty="0">
                <a:solidFill>
                  <a:srgbClr val="E60000"/>
                </a:solidFill>
                <a:latin typeface="Segoe UI Emoji" pitchFamily="34" charset="0"/>
              </a:rPr>
              <a:t>🏆</a:t>
            </a:r>
          </a:p>
        </p:txBody>
      </p:sp>
      <p:sp>
        <p:nvSpPr>
          <p:cNvPr id="16" name="PlatinumText"/>
          <p:cNvSpPr/>
          <p:nvPr/>
        </p:nvSpPr>
        <p:spPr>
          <a:xfrm>
            <a:off x="6629400" y="22860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b="1" dirty="0">
                <a:solidFill>
                  <a:srgbClr val="E60000"/>
                </a:solidFill>
                <a:latin typeface="Calibri" pitchFamily="34" charset="0"/>
              </a:rPr>
              <a:t>DISTRIBUIDOR</a:t>
            </a:r>
          </a:p>
          <a:p>
            <a:pPr marL="0" indent="0" algn="ctr">
              <a:buNone/>
            </a:pPr>
            <a:r>
              <a:rPr lang="es-ES" sz="1400" b="1" dirty="0">
                <a:solidFill>
                  <a:srgbClr val="E60000"/>
                </a:solidFill>
                <a:latin typeface="Calibri" pitchFamily="34" charset="0"/>
              </a:rPr>
              <a:t>PLATINUM</a:t>
            </a:r>
          </a:p>
        </p:txBody>
      </p:sp>
      <p:sp>
        <p:nvSpPr>
          <p:cNvPr id="17" name="EnertelName"/>
          <p:cNvSpPr/>
          <p:nvPr/>
        </p:nvSpPr>
        <p:spPr>
          <a:xfrm>
            <a:off x="6629400" y="29250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</a:rPr>
              <a:t>Grupo Enertel</a:t>
            </a:r>
          </a:p>
        </p:txBody>
      </p:sp>
      <p:sp>
        <p:nvSpPr>
          <p:cNvPr id="18" name="Anos"/>
          <p:cNvSpPr/>
          <p:nvPr/>
        </p:nvSpPr>
        <p:spPr>
          <a:xfrm>
            <a:off x="6629400" y="32901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AAAAAA"/>
                </a:solidFill>
                <a:latin typeface="Calibri" pitchFamily="34" charset="0"/>
              </a:rPr>
              <a:t>+10 años en telecomunicaciones</a:t>
            </a:r>
          </a:p>
        </p:txBody>
      </p:sp>
      <p:sp>
        <p:nvSpPr>
          <p:cNvPr id="19" name="FooterBa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FooterText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s-ES" sz="800" dirty="0">
                <a:solidFill>
                  <a:srgbClr val="777777"/>
                </a:solidFill>
                <a:latin typeface="Calibri" pitchFamily="34" charset="0"/>
              </a:rPr>
              <a:t>Grupo Enertel · Distribuidor Platinum Vodafone Empresas · info@grupoenertel.com · 942-30-40-45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VODAFONE + GRUPO ENERTEL?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más potente de España con el servicio más cercano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64008" cy="9875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93192" y="11887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Red 5G líder en España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4996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5G más extensa del mercado. Velocidades ultrarrápidas y baja latencia para toda tu flota.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1728" y="1115568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681728" y="1115568"/>
            <a:ext cx="64008" cy="9875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Precio con descuento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996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de descuento en líneas móviles. Fibra 1Gbps y Centralita Plus incluidas a coste 0€.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231136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2231136"/>
            <a:ext cx="64008" cy="9875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93192" y="23042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Terminales a 0€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261518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Adoc NEO 8000, Cocomm Neo 5700 y Cocomm DT250 disponibles sin coste de adquisición.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2231136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681728" y="2231136"/>
            <a:ext cx="64008" cy="9875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46320" y="23042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Distribuidor Platinum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61518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Enertel es Distribuidor Platinum oficial de Vodafone con más de 10 años de trayectoria.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346704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28600" y="3346704"/>
            <a:ext cx="64008" cy="9875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93192" y="34198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Seguridad empresarial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373075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ciberseguridad y MDM para gestionar y proteger todos los dispositivos de tu empresa.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3346704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681728" y="3346704"/>
            <a:ext cx="64008" cy="9875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46320" y="34198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Servicio personalizado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73075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Asesoramiento, gestión de portabilidades y soporte post-venta dedicado para TECNOLOGÍA TÉRMICA SA.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Enertel · Distribuidor Platinum Vodafone Empresas · info@grupoenertel.com · 942-30-40-45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82880" y="4572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94560" cy="36576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82880" y="1874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2880" y="2514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926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eSIM para viajar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roaming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3200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HolidaySim?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74980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HolidaySim es una eSIM internacional que permite conectarse a internet en más de 197 destinos de todo el mundo sin necesidad de tarjeta física ni costes de roaming. Se activa en segundos escaneando un código QR.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572768"/>
            <a:ext cx="5394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70332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 Cobertura global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9568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África, Asia, América, Europa, Oceanía y Reino Unido.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20440" y="2487168"/>
            <a:ext cx="5394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703320" y="2560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Activación instantánea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28712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tarjetas físicas. Compra online, escanea el QR y navega desde el aterrizaje.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20440" y="3401568"/>
            <a:ext cx="5394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703320" y="3474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 Más segura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37856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eSIM está integrada en el dispositivo. Gestión remota y sin riesgo de pérdida.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0440" y="4407408"/>
            <a:ext cx="5394960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566160" y="44165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2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Planes: 1GB/7d · 2GB/15d · 3GB/30d · 5GB/60d · 10GB/180d · 20GB/365d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Enertel · Distribuidor Platinum Vodafone Empresas · info@grupoenertel.com · 942-30-40-45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Lynks TIC · Operador Global de Telecomunicaciones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Lynks TIC?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Lynks TIC es un operador global de telecomunicaciones que ofrece soluciones integrales de conectividad, comunicación y tecnología para empresas. Tecnología de vanguardia, experiencia y atención cercana.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737360"/>
            <a:ext cx="2057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1737360"/>
            <a:ext cx="205740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✶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834640"/>
            <a:ext cx="594360" cy="36576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0040" y="29260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 FTTO, internet móvil y redes seguras. Velocidad y estabilidad garantizadas.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95728" y="1737360"/>
            <a:ext cx="2057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395728" y="1737360"/>
            <a:ext cx="205740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395728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✶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87168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Centralita 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27248" y="2834640"/>
            <a:ext cx="594360" cy="36576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487168" y="29260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eficiente de llamadas con centralita IP flexible y comunicación optimizada.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737360"/>
            <a:ext cx="2057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572000" y="1737360"/>
            <a:ext cx="205740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0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✶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6344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2834640"/>
            <a:ext cx="594360" cy="36576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663440" y="29260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avanzada de datos y dispositivos. Evita amenazas y accesos no autorizados.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39128" y="1737360"/>
            <a:ext cx="2057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739128" y="1737360"/>
            <a:ext cx="205740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739128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✶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30568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70648" y="2834640"/>
            <a:ext cx="594360" cy="36576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830568" y="29260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publicidad online y redes sociales. Estrategias medibles para hacer crecer tu marca.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480560"/>
            <a:ext cx="8686800" cy="2286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228600" y="448056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Soluciones integrales   ✔ Personalizado para tu empresa   ✔ Tecnología de vanguardia   ✔ Soporte cercano y profesional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Enertel · Distribuidor Platinum Vodafone Empresas · info@grupoenertel.com · 942-30-40-45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INCLUYE TU PROPUESTA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base para TECNOLOGÍA TÉRMICA SA · 25 líneas · Cliente Nuevo · Compromiso 36 meses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889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88920" cy="5486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 PRO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2606040" cy="4572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73,44€/mes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112,98€/mes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1691640" cy="25603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de descuento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456432"/>
            <a:ext cx="54864" cy="1645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ilimitados Full Speed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54864" cy="1645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0080" y="3730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en toda la red Vodafone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005072"/>
            <a:ext cx="54864" cy="1645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incluido en 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18688" y="1078992"/>
            <a:ext cx="27889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218688" y="1078992"/>
            <a:ext cx="2788920" cy="5486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218688" y="11887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■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10128" y="1719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0128" y="2286000"/>
            <a:ext cx="2606040" cy="4572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310128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0€/mes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10128" y="27980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34,85€/mes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67328" y="3090672"/>
            <a:ext cx="1691640" cy="25603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767328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descuento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47288" y="3456432"/>
            <a:ext cx="54864" cy="1645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584448" y="34564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simétrica 1 Gbps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47288" y="3730752"/>
            <a:ext cx="54864" cy="1645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584448" y="3730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 sin coste adicional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47288" y="4005072"/>
            <a:ext cx="54864" cy="1645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584448" y="40050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 mantenimiento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63056" y="1078992"/>
            <a:ext cx="27889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6163056" y="1078992"/>
            <a:ext cx="2788920" cy="5486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163056" y="11887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■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254496" y="1719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54496" y="2286000"/>
            <a:ext cx="2606040" cy="4572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254496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0€/mes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54496" y="27980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30,75€/mes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11696" y="3090672"/>
            <a:ext cx="1691640" cy="25603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6711696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descuento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91656" y="3456432"/>
            <a:ext cx="54864" cy="1645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6528816" y="34564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avanzada de llamadas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91656" y="3730752"/>
            <a:ext cx="54864" cy="1645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6528816" y="3730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 sin coste adicional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91656" y="4005072"/>
            <a:ext cx="54864" cy="1645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6528816" y="40050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Multi-sede y extensiones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663440"/>
            <a:ext cx="278892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274320" y="46634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25 líneas móviles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18688" y="4663440"/>
            <a:ext cx="278892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3218688" y="46634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Red 5G Vodafone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0" y="4663440"/>
            <a:ext cx="228600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572000" y="4663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Cliente Nuevo</a:t>
            </a:r>
            <a:endParaRPr lang="en-US" sz="950" dirty="0"/>
          </a:p>
        </p:txBody>
      </p:sp>
      <p:sp>
        <p:nvSpPr>
          <p:cNvPr id="60" name="ApoyoBg"/>
          <p:cNvSpPr/>
          <p:nvPr/>
        </p:nvSpPr>
        <p:spPr>
          <a:xfrm>
            <a:off x="6858000" y="4663440"/>
            <a:ext cx="2286000" cy="2286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61" name="ApoyoText"/>
          <p:cNvSpPr/>
          <p:nvPr/>
        </p:nvSpPr>
        <p:spPr>
          <a:xfrm>
            <a:off x="6858000" y="4663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50" b="1" dirty="0">
                <a:solidFill>
                  <a:srgbClr val="FFFFFF"/>
                </a:solidFill>
                <a:latin typeface="Calibri" pitchFamily="34" charset="0"/>
              </a:rPr>
              <a:t>💰  Apoyo Económico: 1.800€</a:t>
            </a:r>
          </a:p>
        </p:txBody>
      </p:sp>
      <p:sp>
        <p:nvSpPr>
          <p:cNvPr id="56" name="Shape 5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Enertel · Distribuidor Platinum Vodafone Empresas · info@grupoenertel.com · 942-30-40-45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LÍNEAS — CON TERMINALES A 0€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92608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305,79 €/mes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0" y="8046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líneas · Terminales a 0€ · Todos con 35% dto · Compromiso 36 meses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430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Sub. Vodafone: -160,82€  ·  Sub. Plan Negocio: -956,18€  ·  Apoyo Económico: 1.800€</a:t>
            </a:r>
            <a:endParaRPr lang="en-US" sz="900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508760"/>
          <a:ext cx="8695944" cy="267004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Terminal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Plan de precios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Precio Cesión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€ sin dto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€ con dto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Total/mes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Adoc NEO 8000 4G Deals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RED Infinity PRO Ilim. Bundle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187,00€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0,00€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0,00€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0,00€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Adoc NEO 3850W 4G Deals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RED Infinity PRO Ilim. Full Speed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365,00€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17,95€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11,67€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58,34€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Adoc NEO 3850W 4G Deals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RED Infinity PRO Ilim. Full Speed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365,00€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17,95€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11,67€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58,34€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RED Infinity PRO 5Gb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0,00€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13,73€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8,92€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89,24€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RED Infinity PRO 5Gb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0,00€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13,73€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8,92€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8,92€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Cocomm DT250 4G Solo Voz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RED Infinity PRO Solo Voz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198,00€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8,98€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5,84€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17,51€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25 uds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0000"/>
                          </a:solidFill>
                        </a:rPr>
                        <a:t>305,79€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Enertel · Distribuidor Platinum Vodafone Empresas · info@grupoenertel.com · 942-30-40-45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TÉCNICAS Y TERMINALES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834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83464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28600" y="8412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Adoc NEO 8000 4G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26517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CESIÓN: 0,00 €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" y="1920240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93192" y="19568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44168" y="1956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6,56" IPS 90Hz HD+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8328" y="2258568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93192" y="22951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44168" y="2295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MT6761 4G · 4GB RAM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" y="2596896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93192" y="26334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44168" y="26334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64GB + microSD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8328" y="2935224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93192" y="2971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44168" y="2971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13MP + 5MP frontal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8328" y="3273552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93192" y="3310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44168" y="3310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5000mAh · carga 10W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8328" y="3611880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93192" y="3648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44168" y="3648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· Wi-Fi 5 · BT · NFC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8328" y="3950208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93192" y="3986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44168" y="39867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intensivo empresarial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8328" y="4288536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93192" y="4325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44168" y="43251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0" y="749808"/>
            <a:ext cx="2834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3200400" y="749808"/>
            <a:ext cx="283464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3200400" y="8412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Adoc NEO 3850W 4G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91840" y="1536192"/>
            <a:ext cx="26517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29184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CESIÓN: 0,00 €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10128" y="1920240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364992" y="19568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15968" y="1956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6,6" IPS 90Hz FHD+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10128" y="2258568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3364992" y="22951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15968" y="2295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MT6769 · 4GB RAM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10128" y="2596896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364992" y="26334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15968" y="26334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128GB + microSD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10128" y="2935224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3364992" y="2971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315968" y="2971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50MP + 5MP frontal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10128" y="3273552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3364992" y="3310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315968" y="3310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5700mAh · carga rápida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310128" y="3611880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3364992" y="3648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315968" y="3648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· Wi-Fi 5 · BT 5.0 · NFC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310128" y="3950208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3364992" y="3986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315968" y="39867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IP54 · resistencia sólida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310128" y="4288536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3364992" y="4325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315968" y="43251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14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172200" y="749808"/>
            <a:ext cx="2834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6172200" y="749808"/>
            <a:ext cx="283464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6172200" y="8412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6364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Cocomm DT250 4G Solo Voz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263640" y="1536192"/>
            <a:ext cx="26517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626364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CESIÓN: 0,00 €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281928" y="1920240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6336792" y="19568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287768" y="1956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2,4" TFT · Diseño básico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281928" y="2258568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6336792" y="22951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287768" y="2295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MT6261 · 128MB RAM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281928" y="2596896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6336792" y="26334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287768" y="26334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256MB + microSD 32GB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281928" y="2935224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6336792" y="2971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287768" y="2971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cámara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281928" y="3273552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6336792" y="3310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287768" y="3310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1500mAh · larga duración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281928" y="3611880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Text 84"/>
          <p:cNvSpPr/>
          <p:nvPr/>
        </p:nvSpPr>
        <p:spPr>
          <a:xfrm>
            <a:off x="6336792" y="3648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287768" y="3648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· BT 3.0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281928" y="3950208"/>
            <a:ext cx="261518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Text 87"/>
          <p:cNvSpPr/>
          <p:nvPr/>
        </p:nvSpPr>
        <p:spPr>
          <a:xfrm>
            <a:off x="6336792" y="3986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287768" y="39867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Resistente · uso diario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281928" y="4288536"/>
            <a:ext cx="2615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Text 90"/>
          <p:cNvSpPr/>
          <p:nvPr/>
        </p:nvSpPr>
        <p:spPr>
          <a:xfrm>
            <a:off x="6336792" y="4325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287768" y="43251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4G Solo Voz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Enertel · Distribuidor Platinum Vodafone Empresas · info@grupoenertel.com · 942-30-40-45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600" b="1" dirty="0">
                <a:solidFill>
                  <a:srgbClr val="FFFFFF"/>
                </a:solidFill>
                <a:latin typeface="Calibri" pitchFamily="34" charset="0"/>
              </a:rPr>
              <a:t>PRÓXIMOS PASOS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i="1" dirty="0">
                <a:solidFill>
                  <a:srgbClr val="FFCCCC"/>
                </a:solidFill>
                <a:latin typeface="Calibri" pitchFamily="34" charset="0"/>
              </a:rPr>
              <a:t>Estamos listos para formalizar la propuesta para TECNOLOGÍA TÉRMICA SA</a:t>
            </a:r>
          </a:p>
        </p:txBody>
      </p:sp>
      <p:sp>
        <p:nvSpPr>
          <p:cNvPr id="5" name="Card1Bg"/>
          <p:cNvSpPr/>
          <p:nvPr/>
        </p:nvSpPr>
        <p:spPr>
          <a:xfrm>
            <a:off x="182880" y="1115568"/>
            <a:ext cx="2057400" cy="26517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 w="19050">
            <a:solidFill>
              <a:srgbClr val="E60000"/>
            </a:solidFill>
          </a:ln>
          <a:effectLst>
            <a:outerShdw blurRad="76200" dist="38100" dir="5400000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Num1Circle"/>
          <p:cNvSpPr/>
          <p:nvPr/>
        </p:nvSpPr>
        <p:spPr>
          <a:xfrm>
            <a:off x="960120" y="1207008"/>
            <a:ext cx="548640" cy="54864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Num1"/>
          <p:cNvSpPr/>
          <p:nvPr/>
        </p:nvSpPr>
        <p:spPr>
          <a:xfrm>
            <a:off x="960120" y="12070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8" name="Step1Title"/>
          <p:cNvSpPr/>
          <p:nvPr/>
        </p:nvSpPr>
        <p:spPr>
          <a:xfrm>
            <a:off x="273240" y="1865880"/>
            <a:ext cx="187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</a:rPr>
              <a:t>Elige tu opción</a:t>
            </a:r>
          </a:p>
        </p:txBody>
      </p:sp>
      <p:sp>
        <p:nvSpPr>
          <p:cNvPr id="9" name="Step1Div"/>
          <p:cNvSpPr/>
          <p:nvPr/>
        </p:nvSpPr>
        <p:spPr>
          <a:xfrm>
            <a:off x="593880" y="2286000"/>
            <a:ext cx="914400" cy="36576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Step1Desc"/>
          <p:cNvSpPr/>
          <p:nvPr/>
        </p:nvSpPr>
        <p:spPr>
          <a:xfrm>
            <a:off x="273240" y="2368800"/>
            <a:ext cx="1875600" cy="912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950" dirty="0">
                <a:solidFill>
                  <a:srgbClr val="AAAAAA"/>
                </a:solidFill>
                <a:latin typeface="Calibri" pitchFamily="34" charset="0"/>
              </a:rPr>
              <a:t>Confirma los terminales y planes</a:t>
            </a:r>
          </a:p>
          <a:p>
            <a:pPr marL="0" indent="0" algn="ctr">
              <a:buNone/>
            </a:pPr>
            <a:r>
              <a:rPr lang="es-ES" sz="950" dirty="0">
                <a:solidFill>
                  <a:srgbClr val="AAAAAA"/>
                </a:solidFill>
                <a:latin typeface="Calibri" pitchFamily="34" charset="0"/>
              </a:rPr>
              <a:t>O hablamos para ajustar a tu medida</a:t>
            </a:r>
          </a:p>
        </p:txBody>
      </p:sp>
      <p:sp>
        <p:nvSpPr>
          <p:cNvPr id="11" name="Card2Bg"/>
          <p:cNvSpPr/>
          <p:nvPr/>
        </p:nvSpPr>
        <p:spPr>
          <a:xfrm>
            <a:off x="2377440" y="1115568"/>
            <a:ext cx="2057400" cy="26517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 w="19050">
            <a:solidFill>
              <a:srgbClr val="E60000"/>
            </a:solidFill>
          </a:ln>
          <a:effectLst>
            <a:outerShdw blurRad="76200" dist="38100" dir="5400000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Num2Circle"/>
          <p:cNvSpPr/>
          <p:nvPr/>
        </p:nvSpPr>
        <p:spPr>
          <a:xfrm>
            <a:off x="3154680" y="1207008"/>
            <a:ext cx="548640" cy="54864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Num2"/>
          <p:cNvSpPr/>
          <p:nvPr/>
        </p:nvSpPr>
        <p:spPr>
          <a:xfrm>
            <a:off x="3154680" y="12070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14" name="Step2Title"/>
          <p:cNvSpPr/>
          <p:nvPr/>
        </p:nvSpPr>
        <p:spPr>
          <a:xfrm>
            <a:off x="2468880" y="1865880"/>
            <a:ext cx="187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</a:rPr>
              <a:t>Firma del contrato</a:t>
            </a:r>
          </a:p>
        </p:txBody>
      </p:sp>
      <p:sp>
        <p:nvSpPr>
          <p:cNvPr id="15" name="Step2Div"/>
          <p:cNvSpPr/>
          <p:nvPr/>
        </p:nvSpPr>
        <p:spPr>
          <a:xfrm>
            <a:off x="2789520" y="2286000"/>
            <a:ext cx="914400" cy="36576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Step2Desc"/>
          <p:cNvSpPr/>
          <p:nvPr/>
        </p:nvSpPr>
        <p:spPr>
          <a:xfrm>
            <a:off x="2468880" y="2368800"/>
            <a:ext cx="1875600" cy="912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950" dirty="0">
                <a:solidFill>
                  <a:srgbClr val="AAAAAA"/>
                </a:solidFill>
                <a:latin typeface="Calibri" pitchFamily="34" charset="0"/>
              </a:rPr>
              <a:t>Proceso 100% digital</a:t>
            </a:r>
          </a:p>
          <a:p>
            <a:pPr marL="0" indent="0" algn="ctr">
              <a:buNone/>
            </a:pPr>
            <a:r>
              <a:rPr lang="es-ES" sz="950" dirty="0">
                <a:solidFill>
                  <a:srgbClr val="AAAAAA"/>
                </a:solidFill>
                <a:latin typeface="Calibri" pitchFamily="34" charset="0"/>
              </a:rPr>
              <a:t>Sin desplazamientos ni papeleo</a:t>
            </a:r>
          </a:p>
        </p:txBody>
      </p:sp>
      <p:sp>
        <p:nvSpPr>
          <p:cNvPr id="17" name="Card3Bg"/>
          <p:cNvSpPr/>
          <p:nvPr/>
        </p:nvSpPr>
        <p:spPr>
          <a:xfrm>
            <a:off x="4572000" y="1115568"/>
            <a:ext cx="2057400" cy="26517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 w="19050">
            <a:solidFill>
              <a:srgbClr val="E60000"/>
            </a:solidFill>
          </a:ln>
          <a:effectLst>
            <a:outerShdw blurRad="76200" dist="38100" dir="5400000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Num3Circle"/>
          <p:cNvSpPr/>
          <p:nvPr/>
        </p:nvSpPr>
        <p:spPr>
          <a:xfrm>
            <a:off x="5349240" y="1207008"/>
            <a:ext cx="548640" cy="54864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Num3"/>
          <p:cNvSpPr/>
          <p:nvPr/>
        </p:nvSpPr>
        <p:spPr>
          <a:xfrm>
            <a:off x="5349240" y="12070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20" name="Step3Title"/>
          <p:cNvSpPr/>
          <p:nvPr/>
        </p:nvSpPr>
        <p:spPr>
          <a:xfrm>
            <a:off x="4663440" y="1865880"/>
            <a:ext cx="187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</a:rPr>
              <a:t>Portabilidades</a:t>
            </a:r>
          </a:p>
        </p:txBody>
      </p:sp>
      <p:sp>
        <p:nvSpPr>
          <p:cNvPr id="21" name="Step3Div"/>
          <p:cNvSpPr/>
          <p:nvPr/>
        </p:nvSpPr>
        <p:spPr>
          <a:xfrm>
            <a:off x="4984080" y="2286000"/>
            <a:ext cx="914400" cy="36576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Step3Desc"/>
          <p:cNvSpPr/>
          <p:nvPr/>
        </p:nvSpPr>
        <p:spPr>
          <a:xfrm>
            <a:off x="4663440" y="2368800"/>
            <a:ext cx="1875600" cy="912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950" dirty="0">
                <a:solidFill>
                  <a:srgbClr val="AAAAAA"/>
                </a:solidFill>
                <a:latin typeface="Calibri" pitchFamily="34" charset="0"/>
              </a:rPr>
              <a:t>Gestión completa de portabilidades</a:t>
            </a:r>
          </a:p>
          <a:p>
            <a:pPr marL="0" indent="0" algn="ctr">
              <a:buNone/>
            </a:pPr>
            <a:r>
              <a:rPr lang="es-ES" sz="950" dirty="0">
                <a:solidFill>
                  <a:srgbClr val="AAAAAA"/>
                </a:solidFill>
                <a:latin typeface="Calibri" pitchFamily="34" charset="0"/>
              </a:rPr>
              <a:t>Sin interrupciones de servicio</a:t>
            </a:r>
          </a:p>
        </p:txBody>
      </p:sp>
      <p:sp>
        <p:nvSpPr>
          <p:cNvPr id="23" name="Card4Bg"/>
          <p:cNvSpPr/>
          <p:nvPr/>
        </p:nvSpPr>
        <p:spPr>
          <a:xfrm>
            <a:off x="6766560" y="1115568"/>
            <a:ext cx="2057400" cy="26517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 w="19050">
            <a:solidFill>
              <a:srgbClr val="E60000"/>
            </a:solidFill>
          </a:ln>
          <a:effectLst>
            <a:outerShdw blurRad="76200" dist="38100" dir="5400000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Num4Circle"/>
          <p:cNvSpPr/>
          <p:nvPr/>
        </p:nvSpPr>
        <p:spPr>
          <a:xfrm>
            <a:off x="7543800" y="1207008"/>
            <a:ext cx="548640" cy="54864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Num4"/>
          <p:cNvSpPr/>
          <p:nvPr/>
        </p:nvSpPr>
        <p:spPr>
          <a:xfrm>
            <a:off x="7543800" y="12070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 dirty="0">
                <a:solidFill>
                  <a:srgbClr val="FFFFFF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26" name="Step4Title"/>
          <p:cNvSpPr/>
          <p:nvPr/>
        </p:nvSpPr>
        <p:spPr>
          <a:xfrm>
            <a:off x="6858000" y="1865880"/>
            <a:ext cx="187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</a:rPr>
              <a:t>Activación</a:t>
            </a:r>
          </a:p>
        </p:txBody>
      </p:sp>
      <p:sp>
        <p:nvSpPr>
          <p:cNvPr id="27" name="Step4Div"/>
          <p:cNvSpPr/>
          <p:nvPr/>
        </p:nvSpPr>
        <p:spPr>
          <a:xfrm>
            <a:off x="7178640" y="2286000"/>
            <a:ext cx="914400" cy="36576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Step4Desc"/>
          <p:cNvSpPr/>
          <p:nvPr/>
        </p:nvSpPr>
        <p:spPr>
          <a:xfrm>
            <a:off x="6858000" y="2368800"/>
            <a:ext cx="1875600" cy="912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950" dirty="0">
                <a:solidFill>
                  <a:srgbClr val="AAAAAA"/>
                </a:solidFill>
                <a:latin typeface="Calibri" pitchFamily="34" charset="0"/>
              </a:rPr>
              <a:t>Activación en el plazo acordado</a:t>
            </a:r>
          </a:p>
          <a:p>
            <a:pPr marL="0" indent="0" algn="ctr">
              <a:buNone/>
            </a:pPr>
            <a:r>
              <a:rPr lang="es-ES" sz="950" dirty="0">
                <a:solidFill>
                  <a:srgbClr val="AAAAAA"/>
                </a:solidFill>
                <a:latin typeface="Calibri" pitchFamily="34" charset="0"/>
              </a:rPr>
              <a:t>Soporte técnico incluido</a:t>
            </a:r>
          </a:p>
        </p:txBody>
      </p:sp>
      <p:sp>
        <p:nvSpPr>
          <p:cNvPr id="29" name="ContactBand"/>
          <p:cNvSpPr/>
          <p:nvPr/>
        </p:nvSpPr>
        <p:spPr>
          <a:xfrm>
            <a:off x="0" y="4115040"/>
            <a:ext cx="9144000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ContactText"/>
          <p:cNvSpPr/>
          <p:nvPr/>
        </p:nvSpPr>
        <p:spPr>
          <a:xfrm>
            <a:off x="0" y="411504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s-ES" sz="1100" b="1" dirty="0">
                <a:solidFill>
                  <a:srgbClr val="FFFFFF"/>
                </a:solidFill>
                <a:latin typeface="Calibri" pitchFamily="34" charset="0"/>
              </a:rPr>
              <a:t>TEL: 942-30-40-45   |   info@grupoenertel.com   |   grupoenertel.com   |   C/ Astorga 6, Alcorcon - Madrid</a:t>
            </a:r>
          </a:p>
        </p:txBody>
      </p:sp>
      <p:sp>
        <p:nvSpPr>
          <p:cNvPr id="31" name="FooterBar"/>
          <p:cNvSpPr/>
          <p:nvPr/>
        </p:nvSpPr>
        <p:spPr>
          <a:xfrm>
            <a:off x="0" y="4800840"/>
            <a:ext cx="9144000" cy="3429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" name="FooterText"/>
          <p:cNvSpPr/>
          <p:nvPr/>
        </p:nvSpPr>
        <p:spPr>
          <a:xfrm>
            <a:off x="0" y="480084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s-ES" sz="800" dirty="0">
                <a:solidFill>
                  <a:srgbClr val="777777"/>
                </a:solidFill>
                <a:latin typeface="Calibri" pitchFamily="34" charset="0"/>
              </a:rPr>
              <a:t>Grupo Enertel · Distribuidor Platinum Vodafone Empresas · info@grupoenertel.com · 942-30-40-45</a:t>
            </a:r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2</ap:TotalTime>
  <ap:Words>1150</ap:Words>
  <ap:Application>Microsoft Macintosh PowerPoint</ap:Application>
  <ap:PresentationFormat>Presentación en pantalla (16:9)</ap:PresentationFormat>
  <ap:Paragraphs>250</ap:Paragraphs>
  <ap:Slides>8</ap:Slides>
  <ap:Notes>8</ap:Notes>
  <ap:HiddenSlides>0</ap:HiddenSlides>
  <ap:MMClips>0</ap:MMClips>
  <ap:ScaleCrop>false</ap:ScaleCrop>
  <ap:HeadingPairs>
    <vt:vector baseType="variant" size="6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ap:HeadingPairs>
  <ap:TitlesOfParts>
    <vt:vector baseType="lpstr" size="12">
      <vt:lpstr>Arial</vt:lpstr>
      <vt:lpstr>Calibri</vt:lpstr>
      <vt:lpstr>Segoe UI Emoji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ap:TitlesOfParts>
  <ap:Company>PptxGenJS</ap:Company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Vodafone - Tecnología Térmica SA</dc:title>
  <dc:subject>PptxGenJS Presentation</dc:subject>
  <dc:creator>PptxGenJS</dc:creator>
  <cp:lastModifiedBy>Javier Martin</cp:lastModifiedBy>
  <cp:revision>3</cp:revision>
  <dcterms:created xsi:type="dcterms:W3CDTF">2026-03-26T10:31:17Z</dcterms:created>
  <dcterms:modified xsi:type="dcterms:W3CDTF">2026-04-09T15:35:59Z</dcterms:modified>
</cp:coreProperties>
</file>