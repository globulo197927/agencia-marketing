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9" r:id="rId4"/>
    <p:sldId id="260" r:id="rId5"/>
    <p:sldId id="261" r:id="rId6"/>
    <p:sldId id="263" r:id="rId7"/>
    <p:sldId id="264" r:id="rId8"/>
    <p:sldId id="265" r:id="rId9"/>
    <p:sldId id="266" r:id="rId10"/>
    <p:sldId id="267" r:id="rId11"/>
    <p:sldId id="258" r:id="rId12"/>
    <p:sldId id="268" r:id="rId13"/>
    <p:sldId id="262"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43" d="100"/>
          <a:sy n="143" d="100"/>
        </p:scale>
        <p:origin x="7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94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5C241"/>
          </a:solidFill>
          <a:ln w="12700">
            <a:solidFill>
              <a:srgbClr val="45C241"/>
            </a:solidFill>
            <a:prstDash val="solid"/>
          </a:ln>
        </p:spPr>
        <p:txBody>
          <a:bodyPr/>
          <a:lstStyle/>
          <a:p>
            <a:endParaRPr lang="es-ES"/>
          </a:p>
        </p:txBody>
      </p:sp>
      <p:sp>
        <p:nvSpPr>
          <p:cNvPr id="3" name="Shape 1"/>
          <p:cNvSpPr/>
          <p:nvPr/>
        </p:nvSpPr>
        <p:spPr>
          <a:xfrm>
            <a:off x="164592" y="0"/>
            <a:ext cx="8979408" cy="914400"/>
          </a:xfrm>
          <a:prstGeom prst="rect">
            <a:avLst/>
          </a:prstGeom>
          <a:solidFill>
            <a:srgbClr val="1A1A1A"/>
          </a:solidFill>
          <a:ln w="12700">
            <a:solidFill>
              <a:srgbClr val="1A1A1A"/>
            </a:solidFill>
            <a:prstDash val="solid"/>
          </a:ln>
        </p:spPr>
        <p:txBody>
          <a:bodyPr/>
          <a:lstStyle/>
          <a:p>
            <a:endParaRPr lang="es-ES"/>
          </a:p>
        </p:txBody>
      </p:sp>
      <p:sp>
        <p:nvSpPr>
          <p:cNvPr id="4" name="Text 2"/>
          <p:cNvSpPr/>
          <p:nvPr/>
        </p:nvSpPr>
        <p:spPr>
          <a:xfrm>
            <a:off x="411480" y="137160"/>
            <a:ext cx="3657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lynks</a:t>
            </a:r>
            <a:r>
              <a:rPr lang="en-US" sz="1500" dirty="0">
                <a:solidFill>
                  <a:srgbClr val="45C241"/>
                </a:solidFill>
                <a:latin typeface="Calibri" pitchFamily="34" charset="0"/>
                <a:ea typeface="Calibri" pitchFamily="34" charset="-122"/>
                <a:cs typeface="Calibri" pitchFamily="34" charset="-120"/>
              </a:rPr>
              <a:t>tic</a:t>
            </a:r>
            <a:endParaRPr lang="en-US" sz="2200" dirty="0"/>
          </a:p>
        </p:txBody>
      </p:sp>
      <p:sp>
        <p:nvSpPr>
          <p:cNvPr id="5" name="Text 3"/>
          <p:cNvSpPr/>
          <p:nvPr/>
        </p:nvSpPr>
        <p:spPr>
          <a:xfrm>
            <a:off x="411480" y="621792"/>
            <a:ext cx="3657600" cy="18288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professional network</a:t>
            </a:r>
            <a:endParaRPr lang="en-US" sz="850" dirty="0"/>
          </a:p>
        </p:txBody>
      </p:sp>
      <p:sp>
        <p:nvSpPr>
          <p:cNvPr id="6" name="Text 4"/>
          <p:cNvSpPr/>
          <p:nvPr/>
        </p:nvSpPr>
        <p:spPr>
          <a:xfrm>
            <a:off x="411480" y="1280160"/>
            <a:ext cx="8503920" cy="100584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DIAVERUM</a:t>
            </a:r>
            <a:endParaRPr lang="en-US" sz="5800" dirty="0"/>
          </a:p>
        </p:txBody>
      </p:sp>
      <p:sp>
        <p:nvSpPr>
          <p:cNvPr id="7" name="Text 5"/>
          <p:cNvSpPr/>
          <p:nvPr/>
        </p:nvSpPr>
        <p:spPr>
          <a:xfrm>
            <a:off x="411480" y="2240280"/>
            <a:ext cx="8503920" cy="594360"/>
          </a:xfrm>
          <a:prstGeom prst="rect">
            <a:avLst/>
          </a:prstGeom>
          <a:noFill/>
          <a:ln/>
        </p:spPr>
        <p:txBody>
          <a:bodyPr wrap="square" lIns="0" tIns="0" rIns="0" bIns="0" rtlCol="0" anchor="ctr"/>
          <a:lstStyle/>
          <a:p>
            <a:pPr marL="0" indent="0">
              <a:buNone/>
            </a:pPr>
            <a:r>
              <a:rPr lang="en-US" sz="2600" b="1" dirty="0">
                <a:solidFill>
                  <a:srgbClr val="45C241"/>
                </a:solidFill>
                <a:latin typeface="Calibri" pitchFamily="34" charset="0"/>
                <a:ea typeface="Calibri" pitchFamily="34" charset="-122"/>
                <a:cs typeface="Calibri" pitchFamily="34" charset="-120"/>
              </a:rPr>
              <a:t>SERVICIOS RENALES SL</a:t>
            </a:r>
            <a:endParaRPr lang="en-US" sz="2600" dirty="0"/>
          </a:p>
        </p:txBody>
      </p:sp>
      <p:sp>
        <p:nvSpPr>
          <p:cNvPr id="8" name="Shape 6"/>
          <p:cNvSpPr/>
          <p:nvPr/>
        </p:nvSpPr>
        <p:spPr>
          <a:xfrm>
            <a:off x="411480" y="2926080"/>
            <a:ext cx="3200400" cy="36576"/>
          </a:xfrm>
          <a:prstGeom prst="rect">
            <a:avLst/>
          </a:prstGeom>
          <a:solidFill>
            <a:srgbClr val="45C241"/>
          </a:solidFill>
          <a:ln w="12700">
            <a:solidFill>
              <a:srgbClr val="45C241"/>
            </a:solidFill>
            <a:prstDash val="solid"/>
          </a:ln>
        </p:spPr>
        <p:txBody>
          <a:bodyPr/>
          <a:lstStyle/>
          <a:p>
            <a:endParaRPr lang="es-ES"/>
          </a:p>
        </p:txBody>
      </p:sp>
      <p:sp>
        <p:nvSpPr>
          <p:cNvPr id="9" name="Text 7"/>
          <p:cNvSpPr/>
          <p:nvPr/>
        </p:nvSpPr>
        <p:spPr>
          <a:xfrm>
            <a:off x="411480" y="3063240"/>
            <a:ext cx="8412480" cy="292608"/>
          </a:xfrm>
          <a:prstGeom prst="rect">
            <a:avLst/>
          </a:prstGeom>
          <a:noFill/>
          <a:ln/>
        </p:spPr>
        <p:txBody>
          <a:bodyPr wrap="square" lIns="0" tIns="0" rIns="0" bIns="0" rtlCol="0" anchor="ctr"/>
          <a:lstStyle/>
          <a:p>
            <a:pPr marL="0" indent="0">
              <a:buNone/>
            </a:pPr>
            <a:r>
              <a:rPr lang="en-US" sz="1100" dirty="0">
                <a:solidFill>
                  <a:srgbClr val="888888"/>
                </a:solidFill>
                <a:latin typeface="Calibri" pitchFamily="34" charset="0"/>
                <a:ea typeface="Calibri" pitchFamily="34" charset="-122"/>
                <a:cs typeface="Calibri" pitchFamily="34" charset="-120"/>
              </a:rPr>
              <a:t>B84991736  ·  55 sedes  ·  Conectividad FTTO + Voz IP  ·  Marzo 2026</a:t>
            </a:r>
            <a:endParaRPr lang="en-US" sz="1100" dirty="0"/>
          </a:p>
        </p:txBody>
      </p:sp>
      <p:sp>
        <p:nvSpPr>
          <p:cNvPr id="10" name="Shape 8"/>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11" name="Text 9"/>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¿POR QUÉ LYNKS TIC?</a:t>
            </a:r>
            <a:endParaRPr lang="en-US" sz="1700" dirty="0"/>
          </a:p>
        </p:txBody>
      </p:sp>
      <p:sp>
        <p:nvSpPr>
          <p:cNvPr id="5" name="Text 3"/>
          <p:cNvSpPr/>
          <p:nvPr/>
        </p:nvSpPr>
        <p:spPr>
          <a:xfrm>
            <a:off x="320040" y="658368"/>
            <a:ext cx="8503920" cy="347472"/>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Soluciones integrales de conectividad, comunicación y tecnología para entornos empresariales</a:t>
            </a:r>
            <a:endParaRPr lang="en-US" sz="1050" dirty="0"/>
          </a:p>
        </p:txBody>
      </p:sp>
      <p:sp>
        <p:nvSpPr>
          <p:cNvPr id="6" name="Shape 4"/>
          <p:cNvSpPr/>
          <p:nvPr/>
        </p:nvSpPr>
        <p:spPr>
          <a:xfrm>
            <a:off x="228600" y="1115568"/>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28600" y="1115568"/>
            <a:ext cx="64008" cy="987552"/>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393192" y="1188720"/>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Conectividad FTTO garantizada</a:t>
            </a:r>
            <a:endParaRPr lang="en-US" sz="1200" dirty="0"/>
          </a:p>
        </p:txBody>
      </p:sp>
      <p:sp>
        <p:nvSpPr>
          <p:cNvPr id="9" name="Text 7"/>
          <p:cNvSpPr/>
          <p:nvPr/>
        </p:nvSpPr>
        <p:spPr>
          <a:xfrm>
            <a:off x="393192" y="1499616"/>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Fibra óptica dedicada hasta cada sede. Sin compartir con terceros, SLA empresarial y latencia mínima.</a:t>
            </a:r>
            <a:endParaRPr lang="en-US" sz="950" dirty="0"/>
          </a:p>
        </p:txBody>
      </p:sp>
      <p:sp>
        <p:nvSpPr>
          <p:cNvPr id="10" name="Shape 8"/>
          <p:cNvSpPr/>
          <p:nvPr/>
        </p:nvSpPr>
        <p:spPr>
          <a:xfrm>
            <a:off x="4681728" y="1115568"/>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1" name="Shape 9"/>
          <p:cNvSpPr/>
          <p:nvPr/>
        </p:nvSpPr>
        <p:spPr>
          <a:xfrm>
            <a:off x="4681728" y="1115568"/>
            <a:ext cx="64008" cy="987552"/>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4846320" y="1188720"/>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Centralita LynksIP cloud</a:t>
            </a:r>
            <a:endParaRPr lang="en-US" sz="1200" dirty="0"/>
          </a:p>
        </p:txBody>
      </p:sp>
      <p:sp>
        <p:nvSpPr>
          <p:cNvPr id="13" name="Text 11"/>
          <p:cNvSpPr/>
          <p:nvPr/>
        </p:nvSpPr>
        <p:spPr>
          <a:xfrm>
            <a:off x="4846320" y="1499616"/>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UC&amp;C multitenant en la nube. Sin inversión en hardware, sin obsolescencia, escalable en tiempo real.</a:t>
            </a:r>
            <a:endParaRPr lang="en-US" sz="950" dirty="0"/>
          </a:p>
        </p:txBody>
      </p:sp>
      <p:sp>
        <p:nvSpPr>
          <p:cNvPr id="14" name="Shape 12"/>
          <p:cNvSpPr/>
          <p:nvPr/>
        </p:nvSpPr>
        <p:spPr>
          <a:xfrm>
            <a:off x="228600" y="2231136"/>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5" name="Shape 13"/>
          <p:cNvSpPr/>
          <p:nvPr/>
        </p:nvSpPr>
        <p:spPr>
          <a:xfrm>
            <a:off x="228600" y="2231136"/>
            <a:ext cx="64008" cy="987552"/>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393192" y="2304288"/>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Ciberseguridad integrada</a:t>
            </a:r>
            <a:endParaRPr lang="en-US" sz="1200" dirty="0"/>
          </a:p>
        </p:txBody>
      </p:sp>
      <p:sp>
        <p:nvSpPr>
          <p:cNvPr id="17" name="Text 15"/>
          <p:cNvSpPr/>
          <p:nvPr/>
        </p:nvSpPr>
        <p:spPr>
          <a:xfrm>
            <a:off x="393192" y="2615184"/>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Securización TLS, cifrado IPsec y gestión de dispositivos. Entorno seguro para datos sensibles.</a:t>
            </a:r>
            <a:endParaRPr lang="en-US" sz="950" dirty="0"/>
          </a:p>
        </p:txBody>
      </p:sp>
      <p:sp>
        <p:nvSpPr>
          <p:cNvPr id="18" name="Shape 16"/>
          <p:cNvSpPr/>
          <p:nvPr/>
        </p:nvSpPr>
        <p:spPr>
          <a:xfrm>
            <a:off x="4681728" y="2231136"/>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9" name="Shape 17"/>
          <p:cNvSpPr/>
          <p:nvPr/>
        </p:nvSpPr>
        <p:spPr>
          <a:xfrm>
            <a:off x="4681728" y="2231136"/>
            <a:ext cx="64008" cy="987552"/>
          </a:xfrm>
          <a:prstGeom prst="rect">
            <a:avLst/>
          </a:prstGeom>
          <a:solidFill>
            <a:srgbClr val="45C241"/>
          </a:solidFill>
          <a:ln w="12700">
            <a:solidFill>
              <a:srgbClr val="45C241"/>
            </a:solidFill>
            <a:prstDash val="solid"/>
          </a:ln>
        </p:spPr>
        <p:txBody>
          <a:bodyPr/>
          <a:lstStyle/>
          <a:p>
            <a:endParaRPr lang="es-ES"/>
          </a:p>
        </p:txBody>
      </p:sp>
      <p:sp>
        <p:nvSpPr>
          <p:cNvPr id="20" name="Text 18"/>
          <p:cNvSpPr/>
          <p:nvPr/>
        </p:nvSpPr>
        <p:spPr>
          <a:xfrm>
            <a:off x="4846320" y="2304288"/>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Informes y estadísticas BI</a:t>
            </a:r>
            <a:endParaRPr lang="en-US" sz="1200" dirty="0"/>
          </a:p>
        </p:txBody>
      </p:sp>
      <p:sp>
        <p:nvSpPr>
          <p:cNvPr id="21" name="Text 19"/>
          <p:cNvSpPr/>
          <p:nvPr/>
        </p:nvSpPr>
        <p:spPr>
          <a:xfrm>
            <a:off x="4846320" y="2615184"/>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Módulo de informes a medida sobre llamadas, IVR, colas y extensiones. Visibilidad total en tiempo real.</a:t>
            </a:r>
            <a:endParaRPr lang="en-US" sz="950" dirty="0"/>
          </a:p>
        </p:txBody>
      </p:sp>
      <p:sp>
        <p:nvSpPr>
          <p:cNvPr id="22" name="Shape 20"/>
          <p:cNvSpPr/>
          <p:nvPr/>
        </p:nvSpPr>
        <p:spPr>
          <a:xfrm>
            <a:off x="228600" y="3346704"/>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3" name="Shape 21"/>
          <p:cNvSpPr/>
          <p:nvPr/>
        </p:nvSpPr>
        <p:spPr>
          <a:xfrm>
            <a:off x="228600" y="3346704"/>
            <a:ext cx="64008" cy="987552"/>
          </a:xfrm>
          <a:prstGeom prst="rect">
            <a:avLst/>
          </a:prstGeom>
          <a:solidFill>
            <a:srgbClr val="45C241"/>
          </a:solidFill>
          <a:ln w="12700">
            <a:solidFill>
              <a:srgbClr val="45C241"/>
            </a:solidFill>
            <a:prstDash val="solid"/>
          </a:ln>
        </p:spPr>
        <p:txBody>
          <a:bodyPr/>
          <a:lstStyle/>
          <a:p>
            <a:endParaRPr lang="es-ES"/>
          </a:p>
        </p:txBody>
      </p:sp>
      <p:sp>
        <p:nvSpPr>
          <p:cNvPr id="24" name="Text 22"/>
          <p:cNvSpPr/>
          <p:nvPr/>
        </p:nvSpPr>
        <p:spPr>
          <a:xfrm>
            <a:off x="393192" y="3419856"/>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Integración con CRM</a:t>
            </a:r>
            <a:endParaRPr lang="en-US" sz="1200" dirty="0"/>
          </a:p>
        </p:txBody>
      </p:sp>
      <p:sp>
        <p:nvSpPr>
          <p:cNvPr id="25" name="Text 23"/>
          <p:cNvSpPr/>
          <p:nvPr/>
        </p:nvSpPr>
        <p:spPr>
          <a:xfrm>
            <a:off x="393192" y="3730752"/>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Salesforce, HubSpot, Zendesk, MS Dynamics, Zoho, Pipedrive y más. Telefonía embebida en tu CRM.</a:t>
            </a:r>
            <a:endParaRPr lang="en-US" sz="950" dirty="0"/>
          </a:p>
        </p:txBody>
      </p:sp>
      <p:sp>
        <p:nvSpPr>
          <p:cNvPr id="26" name="Shape 24"/>
          <p:cNvSpPr/>
          <p:nvPr/>
        </p:nvSpPr>
        <p:spPr>
          <a:xfrm>
            <a:off x="4681728" y="3346704"/>
            <a:ext cx="4315968" cy="987552"/>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7" name="Shape 25"/>
          <p:cNvSpPr/>
          <p:nvPr/>
        </p:nvSpPr>
        <p:spPr>
          <a:xfrm>
            <a:off x="4681728" y="3346704"/>
            <a:ext cx="64008" cy="987552"/>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4846320" y="3419856"/>
            <a:ext cx="40690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Soporte técnico propio</a:t>
            </a:r>
            <a:endParaRPr lang="en-US" sz="1200" dirty="0"/>
          </a:p>
        </p:txBody>
      </p:sp>
      <p:sp>
        <p:nvSpPr>
          <p:cNvPr id="29" name="Text 27"/>
          <p:cNvSpPr/>
          <p:nvPr/>
        </p:nvSpPr>
        <p:spPr>
          <a:xfrm>
            <a:off x="4846320" y="3730752"/>
            <a:ext cx="4069080" cy="53035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Equipo técnico dedicado para Diaverum. Gestión de incidencias y acompañamiento continuo post-implantación.</a:t>
            </a:r>
            <a:endParaRPr lang="en-US" sz="950" dirty="0"/>
          </a:p>
        </p:txBody>
      </p:sp>
      <p:sp>
        <p:nvSpPr>
          <p:cNvPr id="30" name="Shape 28"/>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31" name="Text 29"/>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CENTRALITA EN LA NUBE · UC&amp;C</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50" i="1" dirty="0">
                <a:solidFill>
                  <a:srgbClr val="888888"/>
                </a:solidFill>
                <a:latin typeface="Calibri" pitchFamily="34" charset="0"/>
                <a:ea typeface="Calibri" pitchFamily="34" charset="-122"/>
                <a:cs typeface="Calibri" pitchFamily="34" charset="-120"/>
              </a:rPr>
              <a:t>Servicio de comunicaciones cloud y multitenant para empresas con múltiples sedes</a:t>
            </a:r>
            <a:endParaRPr lang="en-US" sz="1050" dirty="0"/>
          </a:p>
        </p:txBody>
      </p:sp>
      <p:sp>
        <p:nvSpPr>
          <p:cNvPr id="6" name="Shape 4"/>
          <p:cNvSpPr/>
          <p:nvPr/>
        </p:nvSpPr>
        <p:spPr>
          <a:xfrm>
            <a:off x="256032" y="1024128"/>
            <a:ext cx="2011680" cy="91440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24128"/>
            <a:ext cx="2011680" cy="54864"/>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256032" y="1097280"/>
            <a:ext cx="2011680" cy="411480"/>
          </a:xfrm>
          <a:prstGeom prst="rect">
            <a:avLst/>
          </a:prstGeom>
          <a:noFill/>
          <a:ln/>
        </p:spPr>
        <p:txBody>
          <a:bodyPr wrap="square" lIns="0" tIns="0" rIns="0" bIns="0" rtlCol="0" anchor="ctr"/>
          <a:lstStyle/>
          <a:p>
            <a:pPr marL="0" indent="0" algn="ctr">
              <a:buNone/>
            </a:pPr>
            <a:r>
              <a:rPr lang="en-US" sz="2200" b="1" dirty="0">
                <a:solidFill>
                  <a:srgbClr val="45C241"/>
                </a:solidFill>
                <a:latin typeface="Calibri" pitchFamily="34" charset="0"/>
                <a:ea typeface="Calibri" pitchFamily="34" charset="-122"/>
                <a:cs typeface="Calibri" pitchFamily="34" charset="-120"/>
              </a:rPr>
              <a:t>Cloud</a:t>
            </a:r>
            <a:endParaRPr lang="en-US" sz="2200" dirty="0"/>
          </a:p>
        </p:txBody>
      </p:sp>
      <p:sp>
        <p:nvSpPr>
          <p:cNvPr id="9" name="Text 7"/>
          <p:cNvSpPr/>
          <p:nvPr/>
        </p:nvSpPr>
        <p:spPr>
          <a:xfrm>
            <a:off x="329184" y="1499616"/>
            <a:ext cx="18745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Sin hardware en sede</a:t>
            </a:r>
            <a:endParaRPr lang="en-US" sz="900" dirty="0"/>
          </a:p>
        </p:txBody>
      </p:sp>
      <p:sp>
        <p:nvSpPr>
          <p:cNvPr id="10" name="Text 8"/>
          <p:cNvSpPr/>
          <p:nvPr/>
        </p:nvSpPr>
        <p:spPr>
          <a:xfrm>
            <a:off x="329184" y="1719072"/>
            <a:ext cx="1874520" cy="164592"/>
          </a:xfrm>
          <a:prstGeom prst="rect">
            <a:avLst/>
          </a:prstGeom>
          <a:noFill/>
          <a:ln/>
        </p:spPr>
        <p:txBody>
          <a:bodyPr wrap="square" lIns="0" tIns="0" rIns="0" bIns="0" rtlCol="0" anchor="ctr"/>
          <a:lstStyle/>
          <a:p>
            <a:pPr marL="0" indent="0" algn="ctr">
              <a:buNone/>
            </a:pPr>
            <a:r>
              <a:rPr lang="en-US" sz="750" dirty="0">
                <a:solidFill>
                  <a:srgbClr val="888888"/>
                </a:solidFill>
                <a:latin typeface="Calibri" pitchFamily="34" charset="0"/>
                <a:ea typeface="Calibri" pitchFamily="34" charset="-122"/>
                <a:cs typeface="Calibri" pitchFamily="34" charset="-120"/>
              </a:rPr>
              <a:t>Cero inversión en equipos</a:t>
            </a:r>
            <a:endParaRPr lang="en-US" sz="750" dirty="0"/>
          </a:p>
        </p:txBody>
      </p:sp>
      <p:sp>
        <p:nvSpPr>
          <p:cNvPr id="11" name="Shape 9"/>
          <p:cNvSpPr/>
          <p:nvPr/>
        </p:nvSpPr>
        <p:spPr>
          <a:xfrm>
            <a:off x="2432304" y="1024128"/>
            <a:ext cx="2011680" cy="91440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12" name="Shape 10"/>
          <p:cNvSpPr/>
          <p:nvPr/>
        </p:nvSpPr>
        <p:spPr>
          <a:xfrm>
            <a:off x="2432304" y="1024128"/>
            <a:ext cx="2011680" cy="54864"/>
          </a:xfrm>
          <a:prstGeom prst="rect">
            <a:avLst/>
          </a:prstGeom>
          <a:solidFill>
            <a:srgbClr val="45C241"/>
          </a:solidFill>
          <a:ln w="12700">
            <a:solidFill>
              <a:srgbClr val="45C241"/>
            </a:solidFill>
            <a:prstDash val="solid"/>
          </a:ln>
        </p:spPr>
        <p:txBody>
          <a:bodyPr/>
          <a:lstStyle/>
          <a:p>
            <a:endParaRPr lang="es-ES"/>
          </a:p>
        </p:txBody>
      </p:sp>
      <p:sp>
        <p:nvSpPr>
          <p:cNvPr id="13" name="Text 11"/>
          <p:cNvSpPr/>
          <p:nvPr/>
        </p:nvSpPr>
        <p:spPr>
          <a:xfrm>
            <a:off x="2432304" y="1097280"/>
            <a:ext cx="2011680" cy="411480"/>
          </a:xfrm>
          <a:prstGeom prst="rect">
            <a:avLst/>
          </a:prstGeom>
          <a:noFill/>
          <a:ln/>
        </p:spPr>
        <p:txBody>
          <a:bodyPr wrap="square" lIns="0" tIns="0" rIns="0" bIns="0" rtlCol="0" anchor="ctr"/>
          <a:lstStyle/>
          <a:p>
            <a:pPr marL="0" indent="0" algn="ctr">
              <a:buNone/>
            </a:pPr>
            <a:r>
              <a:rPr lang="en-US" sz="2200" b="1" dirty="0">
                <a:solidFill>
                  <a:srgbClr val="45C241"/>
                </a:solidFill>
                <a:latin typeface="Calibri" pitchFamily="34" charset="0"/>
                <a:ea typeface="Calibri" pitchFamily="34" charset="-122"/>
                <a:cs typeface="Calibri" pitchFamily="34" charset="-120"/>
              </a:rPr>
              <a:t>Multi</a:t>
            </a:r>
            <a:endParaRPr lang="en-US" sz="2200" dirty="0"/>
          </a:p>
        </p:txBody>
      </p:sp>
      <p:sp>
        <p:nvSpPr>
          <p:cNvPr id="14" name="Text 12"/>
          <p:cNvSpPr/>
          <p:nvPr/>
        </p:nvSpPr>
        <p:spPr>
          <a:xfrm>
            <a:off x="2505456" y="1499616"/>
            <a:ext cx="18745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Multitenant</a:t>
            </a:r>
            <a:endParaRPr lang="en-US" sz="900" dirty="0"/>
          </a:p>
        </p:txBody>
      </p:sp>
      <p:sp>
        <p:nvSpPr>
          <p:cNvPr id="15" name="Text 13"/>
          <p:cNvSpPr/>
          <p:nvPr/>
        </p:nvSpPr>
        <p:spPr>
          <a:xfrm>
            <a:off x="2505456" y="1719072"/>
            <a:ext cx="1874520" cy="164592"/>
          </a:xfrm>
          <a:prstGeom prst="rect">
            <a:avLst/>
          </a:prstGeom>
          <a:noFill/>
          <a:ln/>
        </p:spPr>
        <p:txBody>
          <a:bodyPr wrap="square" lIns="0" tIns="0" rIns="0" bIns="0" rtlCol="0" anchor="ctr"/>
          <a:lstStyle/>
          <a:p>
            <a:pPr marL="0" indent="0" algn="ctr">
              <a:buNone/>
            </a:pPr>
            <a:r>
              <a:rPr lang="en-US" sz="750" dirty="0">
                <a:solidFill>
                  <a:srgbClr val="888888"/>
                </a:solidFill>
                <a:latin typeface="Calibri" pitchFamily="34" charset="0"/>
                <a:ea typeface="Calibri" pitchFamily="34" charset="-122"/>
                <a:cs typeface="Calibri" pitchFamily="34" charset="-120"/>
              </a:rPr>
              <a:t>Un sistema, todas las sedes</a:t>
            </a:r>
            <a:endParaRPr lang="en-US" sz="750" dirty="0"/>
          </a:p>
        </p:txBody>
      </p:sp>
      <p:sp>
        <p:nvSpPr>
          <p:cNvPr id="16" name="Shape 14"/>
          <p:cNvSpPr/>
          <p:nvPr/>
        </p:nvSpPr>
        <p:spPr>
          <a:xfrm>
            <a:off x="4608576" y="1024128"/>
            <a:ext cx="2011680" cy="91440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17" name="Shape 15"/>
          <p:cNvSpPr/>
          <p:nvPr/>
        </p:nvSpPr>
        <p:spPr>
          <a:xfrm>
            <a:off x="4608576" y="1024128"/>
            <a:ext cx="2011680" cy="54864"/>
          </a:xfrm>
          <a:prstGeom prst="rect">
            <a:avLst/>
          </a:prstGeom>
          <a:solidFill>
            <a:srgbClr val="45C241"/>
          </a:solidFill>
          <a:ln w="12700">
            <a:solidFill>
              <a:srgbClr val="45C241"/>
            </a:solidFill>
            <a:prstDash val="solid"/>
          </a:ln>
        </p:spPr>
        <p:txBody>
          <a:bodyPr/>
          <a:lstStyle/>
          <a:p>
            <a:endParaRPr lang="es-ES"/>
          </a:p>
        </p:txBody>
      </p:sp>
      <p:sp>
        <p:nvSpPr>
          <p:cNvPr id="18" name="Text 16"/>
          <p:cNvSpPr/>
          <p:nvPr/>
        </p:nvSpPr>
        <p:spPr>
          <a:xfrm>
            <a:off x="4608576" y="1097280"/>
            <a:ext cx="2011680" cy="411480"/>
          </a:xfrm>
          <a:prstGeom prst="rect">
            <a:avLst/>
          </a:prstGeom>
          <a:noFill/>
          <a:ln/>
        </p:spPr>
        <p:txBody>
          <a:bodyPr wrap="square" lIns="0" tIns="0" rIns="0" bIns="0" rtlCol="0" anchor="ctr"/>
          <a:lstStyle/>
          <a:p>
            <a:pPr marL="0" indent="0" algn="ctr">
              <a:buNone/>
            </a:pPr>
            <a:r>
              <a:rPr lang="en-US" sz="2200" b="1" dirty="0">
                <a:solidFill>
                  <a:srgbClr val="45C241"/>
                </a:solidFill>
                <a:latin typeface="Calibri" pitchFamily="34" charset="0"/>
                <a:ea typeface="Calibri" pitchFamily="34" charset="-122"/>
                <a:cs typeface="Calibri" pitchFamily="34" charset="-120"/>
              </a:rPr>
              <a:t>0€</a:t>
            </a:r>
            <a:endParaRPr lang="en-US" sz="2200" dirty="0"/>
          </a:p>
        </p:txBody>
      </p:sp>
      <p:sp>
        <p:nvSpPr>
          <p:cNvPr id="19" name="Text 17"/>
          <p:cNvSpPr/>
          <p:nvPr/>
        </p:nvSpPr>
        <p:spPr>
          <a:xfrm>
            <a:off x="4681728" y="1499616"/>
            <a:ext cx="18745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Sin inversión inicial</a:t>
            </a:r>
            <a:endParaRPr lang="en-US" sz="900" dirty="0"/>
          </a:p>
        </p:txBody>
      </p:sp>
      <p:sp>
        <p:nvSpPr>
          <p:cNvPr id="20" name="Text 18"/>
          <p:cNvSpPr/>
          <p:nvPr/>
        </p:nvSpPr>
        <p:spPr>
          <a:xfrm>
            <a:off x="4681728" y="1719072"/>
            <a:ext cx="1874520" cy="164592"/>
          </a:xfrm>
          <a:prstGeom prst="rect">
            <a:avLst/>
          </a:prstGeom>
          <a:noFill/>
          <a:ln/>
        </p:spPr>
        <p:txBody>
          <a:bodyPr wrap="square" lIns="0" tIns="0" rIns="0" bIns="0" rtlCol="0" anchor="ctr"/>
          <a:lstStyle/>
          <a:p>
            <a:pPr marL="0" indent="0" algn="ctr">
              <a:buNone/>
            </a:pPr>
            <a:r>
              <a:rPr lang="en-US" sz="750" dirty="0">
                <a:solidFill>
                  <a:srgbClr val="888888"/>
                </a:solidFill>
                <a:latin typeface="Calibri" pitchFamily="34" charset="0"/>
                <a:ea typeface="Calibri" pitchFamily="34" charset="-122"/>
                <a:cs typeface="Calibri" pitchFamily="34" charset="-120"/>
              </a:rPr>
              <a:t>Cuota mensual todo incluido</a:t>
            </a:r>
            <a:endParaRPr lang="en-US" sz="750" dirty="0"/>
          </a:p>
        </p:txBody>
      </p:sp>
      <p:sp>
        <p:nvSpPr>
          <p:cNvPr id="21" name="Shape 19"/>
          <p:cNvSpPr/>
          <p:nvPr/>
        </p:nvSpPr>
        <p:spPr>
          <a:xfrm>
            <a:off x="6784848" y="1024128"/>
            <a:ext cx="2011680" cy="91440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22" name="Shape 20"/>
          <p:cNvSpPr/>
          <p:nvPr/>
        </p:nvSpPr>
        <p:spPr>
          <a:xfrm>
            <a:off x="6784848" y="1024128"/>
            <a:ext cx="2011680" cy="54864"/>
          </a:xfrm>
          <a:prstGeom prst="rect">
            <a:avLst/>
          </a:prstGeom>
          <a:solidFill>
            <a:srgbClr val="45C241"/>
          </a:solidFill>
          <a:ln w="12700">
            <a:solidFill>
              <a:srgbClr val="45C241"/>
            </a:solidFill>
            <a:prstDash val="solid"/>
          </a:ln>
        </p:spPr>
        <p:txBody>
          <a:bodyPr/>
          <a:lstStyle/>
          <a:p>
            <a:endParaRPr lang="es-ES"/>
          </a:p>
        </p:txBody>
      </p:sp>
      <p:sp>
        <p:nvSpPr>
          <p:cNvPr id="23" name="Text 21"/>
          <p:cNvSpPr/>
          <p:nvPr/>
        </p:nvSpPr>
        <p:spPr>
          <a:xfrm>
            <a:off x="6784848" y="1097280"/>
            <a:ext cx="2011680" cy="411480"/>
          </a:xfrm>
          <a:prstGeom prst="rect">
            <a:avLst/>
          </a:prstGeom>
          <a:noFill/>
          <a:ln/>
        </p:spPr>
        <p:txBody>
          <a:bodyPr wrap="square" lIns="0" tIns="0" rIns="0" bIns="0" rtlCol="0" anchor="ctr"/>
          <a:lstStyle/>
          <a:p>
            <a:pPr marL="0" indent="0" algn="ctr">
              <a:buNone/>
            </a:pPr>
            <a:r>
              <a:rPr lang="en-US" sz="2200" b="1" dirty="0">
                <a:solidFill>
                  <a:srgbClr val="45C241"/>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6858000" y="1499616"/>
            <a:ext cx="18745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Escalable</a:t>
            </a:r>
            <a:endParaRPr lang="en-US" sz="900" dirty="0"/>
          </a:p>
        </p:txBody>
      </p:sp>
      <p:sp>
        <p:nvSpPr>
          <p:cNvPr id="25" name="Text 23"/>
          <p:cNvSpPr/>
          <p:nvPr/>
        </p:nvSpPr>
        <p:spPr>
          <a:xfrm>
            <a:off x="6858000" y="1719072"/>
            <a:ext cx="1874520" cy="164592"/>
          </a:xfrm>
          <a:prstGeom prst="rect">
            <a:avLst/>
          </a:prstGeom>
          <a:noFill/>
          <a:ln/>
        </p:spPr>
        <p:txBody>
          <a:bodyPr wrap="square" lIns="0" tIns="0" rIns="0" bIns="0" rtlCol="0" anchor="ctr"/>
          <a:lstStyle/>
          <a:p>
            <a:pPr marL="0" indent="0" algn="ctr">
              <a:buNone/>
            </a:pPr>
            <a:r>
              <a:rPr lang="en-US" sz="750" dirty="0">
                <a:solidFill>
                  <a:srgbClr val="888888"/>
                </a:solidFill>
                <a:latin typeface="Calibri" pitchFamily="34" charset="0"/>
                <a:ea typeface="Calibri" pitchFamily="34" charset="-122"/>
                <a:cs typeface="Calibri" pitchFamily="34" charset="-120"/>
              </a:rPr>
              <a:t>Crece con tu organización</a:t>
            </a:r>
            <a:endParaRPr lang="en-US" sz="750" dirty="0"/>
          </a:p>
        </p:txBody>
      </p:sp>
      <p:sp>
        <p:nvSpPr>
          <p:cNvPr id="26" name="Shape 24"/>
          <p:cNvSpPr/>
          <p:nvPr/>
        </p:nvSpPr>
        <p:spPr>
          <a:xfrm>
            <a:off x="256032" y="2084832"/>
            <a:ext cx="2011680" cy="265176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27" name="Shape 25"/>
          <p:cNvSpPr/>
          <p:nvPr/>
        </p:nvSpPr>
        <p:spPr>
          <a:xfrm>
            <a:off x="256032" y="2084832"/>
            <a:ext cx="2011680" cy="54864"/>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256032" y="217627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9" name="Text 27"/>
          <p:cNvSpPr/>
          <p:nvPr/>
        </p:nvSpPr>
        <p:spPr>
          <a:xfrm>
            <a:off x="347472" y="2724912"/>
            <a:ext cx="1828800" cy="384048"/>
          </a:xfrm>
          <a:prstGeom prst="rect">
            <a:avLst/>
          </a:prstGeom>
          <a:noFill/>
          <a:ln/>
        </p:spPr>
        <p:txBody>
          <a:bodyPr wrap="square" lIns="0" tIns="0" rIns="0" bIns="0" rtlCol="0" anchor="ctr"/>
          <a:lstStyle/>
          <a:p>
            <a:pPr marL="0" indent="0" algn="ctr">
              <a:buNone/>
            </a:pPr>
            <a:r>
              <a:rPr lang="en-US" sz="1100" b="1" dirty="0">
                <a:solidFill>
                  <a:srgbClr val="45C241"/>
                </a:solidFill>
                <a:latin typeface="Calibri" pitchFamily="34" charset="0"/>
                <a:ea typeface="Calibri" pitchFamily="34" charset="-122"/>
                <a:cs typeface="Calibri" pitchFamily="34" charset="-120"/>
              </a:rPr>
              <a:t>Cloud y multitenant</a:t>
            </a:r>
            <a:endParaRPr lang="en-US" sz="1100" dirty="0"/>
          </a:p>
        </p:txBody>
      </p:sp>
      <p:sp>
        <p:nvSpPr>
          <p:cNvPr id="30" name="Shape 28"/>
          <p:cNvSpPr/>
          <p:nvPr/>
        </p:nvSpPr>
        <p:spPr>
          <a:xfrm>
            <a:off x="877824" y="3136392"/>
            <a:ext cx="768096" cy="36576"/>
          </a:xfrm>
          <a:prstGeom prst="rect">
            <a:avLst/>
          </a:prstGeom>
          <a:solidFill>
            <a:srgbClr val="45C241"/>
          </a:solidFill>
          <a:ln w="12700">
            <a:solidFill>
              <a:srgbClr val="45C241"/>
            </a:solidFill>
            <a:prstDash val="solid"/>
          </a:ln>
        </p:spPr>
        <p:txBody>
          <a:bodyPr/>
          <a:lstStyle/>
          <a:p>
            <a:endParaRPr lang="es-ES"/>
          </a:p>
        </p:txBody>
      </p:sp>
      <p:sp>
        <p:nvSpPr>
          <p:cNvPr id="31" name="Text 29"/>
          <p:cNvSpPr/>
          <p:nvPr/>
        </p:nvSpPr>
        <p:spPr>
          <a:xfrm>
            <a:off x="347472" y="3246120"/>
            <a:ext cx="1828800" cy="123444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Sin servidores en el cliente. Sin mantenimiento de hardware ni consumo eléctrico.</a:t>
            </a:r>
            <a:endParaRPr lang="en-US" sz="900" dirty="0"/>
          </a:p>
        </p:txBody>
      </p:sp>
      <p:sp>
        <p:nvSpPr>
          <p:cNvPr id="32" name="Shape 30"/>
          <p:cNvSpPr/>
          <p:nvPr/>
        </p:nvSpPr>
        <p:spPr>
          <a:xfrm>
            <a:off x="2432304" y="2084832"/>
            <a:ext cx="2011680" cy="265176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33" name="Shape 31"/>
          <p:cNvSpPr/>
          <p:nvPr/>
        </p:nvSpPr>
        <p:spPr>
          <a:xfrm>
            <a:off x="2432304" y="2084832"/>
            <a:ext cx="2011680" cy="54864"/>
          </a:xfrm>
          <a:prstGeom prst="rect">
            <a:avLst/>
          </a:prstGeom>
          <a:solidFill>
            <a:srgbClr val="45C241"/>
          </a:solidFill>
          <a:ln w="12700">
            <a:solidFill>
              <a:srgbClr val="45C241"/>
            </a:solidFill>
            <a:prstDash val="solid"/>
          </a:ln>
        </p:spPr>
        <p:txBody>
          <a:bodyPr/>
          <a:lstStyle/>
          <a:p>
            <a:endParaRPr lang="es-ES"/>
          </a:p>
        </p:txBody>
      </p:sp>
      <p:sp>
        <p:nvSpPr>
          <p:cNvPr id="34" name="Text 32"/>
          <p:cNvSpPr/>
          <p:nvPr/>
        </p:nvSpPr>
        <p:spPr>
          <a:xfrm>
            <a:off x="2432304" y="217627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35" name="Text 33"/>
          <p:cNvSpPr/>
          <p:nvPr/>
        </p:nvSpPr>
        <p:spPr>
          <a:xfrm>
            <a:off x="2523744" y="2724912"/>
            <a:ext cx="1828800" cy="384048"/>
          </a:xfrm>
          <a:prstGeom prst="rect">
            <a:avLst/>
          </a:prstGeom>
          <a:noFill/>
          <a:ln/>
        </p:spPr>
        <p:txBody>
          <a:bodyPr wrap="square" lIns="0" tIns="0" rIns="0" bIns="0" rtlCol="0" anchor="ctr"/>
          <a:lstStyle/>
          <a:p>
            <a:pPr marL="0" indent="0" algn="ctr">
              <a:buNone/>
            </a:pPr>
            <a:r>
              <a:rPr lang="en-US" sz="1100" b="1" dirty="0">
                <a:solidFill>
                  <a:srgbClr val="45C241"/>
                </a:solidFill>
                <a:latin typeface="Calibri" pitchFamily="34" charset="0"/>
                <a:ea typeface="Calibri" pitchFamily="34" charset="-122"/>
                <a:cs typeface="Calibri" pitchFamily="34" charset="-120"/>
              </a:rPr>
              <a:t>Modos por usuario</a:t>
            </a:r>
            <a:endParaRPr lang="en-US" sz="1100" dirty="0"/>
          </a:p>
        </p:txBody>
      </p:sp>
      <p:sp>
        <p:nvSpPr>
          <p:cNvPr id="36" name="Shape 34"/>
          <p:cNvSpPr/>
          <p:nvPr/>
        </p:nvSpPr>
        <p:spPr>
          <a:xfrm>
            <a:off x="3054096" y="3136392"/>
            <a:ext cx="768096" cy="36576"/>
          </a:xfrm>
          <a:prstGeom prst="rect">
            <a:avLst/>
          </a:prstGeom>
          <a:solidFill>
            <a:srgbClr val="45C241"/>
          </a:solidFill>
          <a:ln w="12700">
            <a:solidFill>
              <a:srgbClr val="45C241"/>
            </a:solidFill>
            <a:prstDash val="solid"/>
          </a:ln>
        </p:spPr>
        <p:txBody>
          <a:bodyPr/>
          <a:lstStyle/>
          <a:p>
            <a:endParaRPr lang="es-ES"/>
          </a:p>
        </p:txBody>
      </p:sp>
      <p:sp>
        <p:nvSpPr>
          <p:cNvPr id="37" name="Text 35"/>
          <p:cNvSpPr/>
          <p:nvPr/>
        </p:nvSpPr>
        <p:spPr>
          <a:xfrm>
            <a:off x="2523744" y="3246120"/>
            <a:ext cx="1828800" cy="123444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Distintos perfiles para cada tipo de usuario: básico, avanzado o colaboración completa.</a:t>
            </a:r>
            <a:endParaRPr lang="en-US" sz="900" dirty="0"/>
          </a:p>
        </p:txBody>
      </p:sp>
      <p:sp>
        <p:nvSpPr>
          <p:cNvPr id="38" name="Shape 36"/>
          <p:cNvSpPr/>
          <p:nvPr/>
        </p:nvSpPr>
        <p:spPr>
          <a:xfrm>
            <a:off x="4608576" y="2084832"/>
            <a:ext cx="2011680" cy="265176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39" name="Shape 37"/>
          <p:cNvSpPr/>
          <p:nvPr/>
        </p:nvSpPr>
        <p:spPr>
          <a:xfrm>
            <a:off x="4608576" y="2084832"/>
            <a:ext cx="2011680" cy="54864"/>
          </a:xfrm>
          <a:prstGeom prst="rect">
            <a:avLst/>
          </a:prstGeom>
          <a:solidFill>
            <a:srgbClr val="45C241"/>
          </a:solidFill>
          <a:ln w="12700">
            <a:solidFill>
              <a:srgbClr val="45C241"/>
            </a:solidFill>
            <a:prstDash val="solid"/>
          </a:ln>
        </p:spPr>
        <p:txBody>
          <a:bodyPr/>
          <a:lstStyle/>
          <a:p>
            <a:endParaRPr lang="es-ES"/>
          </a:p>
        </p:txBody>
      </p:sp>
      <p:sp>
        <p:nvSpPr>
          <p:cNvPr id="40" name="Text 38"/>
          <p:cNvSpPr/>
          <p:nvPr/>
        </p:nvSpPr>
        <p:spPr>
          <a:xfrm>
            <a:off x="4608576" y="217627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41" name="Text 39"/>
          <p:cNvSpPr/>
          <p:nvPr/>
        </p:nvSpPr>
        <p:spPr>
          <a:xfrm>
            <a:off x="4700016" y="2724912"/>
            <a:ext cx="1828800" cy="384048"/>
          </a:xfrm>
          <a:prstGeom prst="rect">
            <a:avLst/>
          </a:prstGeom>
          <a:noFill/>
          <a:ln/>
        </p:spPr>
        <p:txBody>
          <a:bodyPr wrap="square" lIns="0" tIns="0" rIns="0" bIns="0" rtlCol="0" anchor="ctr"/>
          <a:lstStyle/>
          <a:p>
            <a:pPr marL="0" indent="0" algn="ctr">
              <a:buNone/>
            </a:pPr>
            <a:r>
              <a:rPr lang="en-US" sz="1100" b="1" dirty="0">
                <a:solidFill>
                  <a:srgbClr val="45C241"/>
                </a:solidFill>
                <a:latin typeface="Calibri" pitchFamily="34" charset="0"/>
                <a:ea typeface="Calibri" pitchFamily="34" charset="-122"/>
                <a:cs typeface="Calibri" pitchFamily="34" charset="-120"/>
              </a:rPr>
              <a:t>Integración con CRM y ERP</a:t>
            </a:r>
            <a:endParaRPr lang="en-US" sz="1100" dirty="0"/>
          </a:p>
        </p:txBody>
      </p:sp>
      <p:sp>
        <p:nvSpPr>
          <p:cNvPr id="42" name="Shape 40"/>
          <p:cNvSpPr/>
          <p:nvPr/>
        </p:nvSpPr>
        <p:spPr>
          <a:xfrm>
            <a:off x="5230368" y="3136392"/>
            <a:ext cx="768096" cy="36576"/>
          </a:xfrm>
          <a:prstGeom prst="rect">
            <a:avLst/>
          </a:prstGeom>
          <a:solidFill>
            <a:srgbClr val="45C241"/>
          </a:solidFill>
          <a:ln w="12700">
            <a:solidFill>
              <a:srgbClr val="45C241"/>
            </a:solidFill>
            <a:prstDash val="solid"/>
          </a:ln>
        </p:spPr>
        <p:txBody>
          <a:bodyPr/>
          <a:lstStyle/>
          <a:p>
            <a:endParaRPr lang="es-ES"/>
          </a:p>
        </p:txBody>
      </p:sp>
      <p:sp>
        <p:nvSpPr>
          <p:cNvPr id="43" name="Text 41"/>
          <p:cNvSpPr/>
          <p:nvPr/>
        </p:nvSpPr>
        <p:spPr>
          <a:xfrm>
            <a:off x="4700016" y="3246120"/>
            <a:ext cx="1828800" cy="123444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Conecta con las herramientas del día a día: Salesforce, HubSpot, Zendesk y más.</a:t>
            </a:r>
            <a:endParaRPr lang="en-US" sz="900" dirty="0"/>
          </a:p>
        </p:txBody>
      </p:sp>
      <p:sp>
        <p:nvSpPr>
          <p:cNvPr id="44" name="Shape 42"/>
          <p:cNvSpPr/>
          <p:nvPr/>
        </p:nvSpPr>
        <p:spPr>
          <a:xfrm>
            <a:off x="6784848" y="2084832"/>
            <a:ext cx="2011680" cy="265176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45" name="Shape 43"/>
          <p:cNvSpPr/>
          <p:nvPr/>
        </p:nvSpPr>
        <p:spPr>
          <a:xfrm>
            <a:off x="6784848" y="2084832"/>
            <a:ext cx="2011680" cy="54864"/>
          </a:xfrm>
          <a:prstGeom prst="rect">
            <a:avLst/>
          </a:prstGeom>
          <a:solidFill>
            <a:srgbClr val="45C241"/>
          </a:solidFill>
          <a:ln w="12700">
            <a:solidFill>
              <a:srgbClr val="45C241"/>
            </a:solidFill>
            <a:prstDash val="solid"/>
          </a:ln>
        </p:spPr>
        <p:txBody>
          <a:bodyPr/>
          <a:lstStyle/>
          <a:p>
            <a:endParaRPr lang="es-ES"/>
          </a:p>
        </p:txBody>
      </p:sp>
      <p:sp>
        <p:nvSpPr>
          <p:cNvPr id="46" name="Text 44"/>
          <p:cNvSpPr/>
          <p:nvPr/>
        </p:nvSpPr>
        <p:spPr>
          <a:xfrm>
            <a:off x="6784848" y="217627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47" name="Text 45"/>
          <p:cNvSpPr/>
          <p:nvPr/>
        </p:nvSpPr>
        <p:spPr>
          <a:xfrm>
            <a:off x="6876288" y="2724912"/>
            <a:ext cx="1828800" cy="384048"/>
          </a:xfrm>
          <a:prstGeom prst="rect">
            <a:avLst/>
          </a:prstGeom>
          <a:noFill/>
          <a:ln/>
        </p:spPr>
        <p:txBody>
          <a:bodyPr wrap="square" lIns="0" tIns="0" rIns="0" bIns="0" rtlCol="0" anchor="ctr"/>
          <a:lstStyle/>
          <a:p>
            <a:pPr marL="0" indent="0" algn="ctr">
              <a:buNone/>
            </a:pPr>
            <a:r>
              <a:rPr lang="en-US" sz="1100" b="1" dirty="0">
                <a:solidFill>
                  <a:srgbClr val="45C241"/>
                </a:solidFill>
                <a:latin typeface="Calibri" pitchFamily="34" charset="0"/>
                <a:ea typeface="Calibri" pitchFamily="34" charset="-122"/>
                <a:cs typeface="Calibri" pitchFamily="34" charset="-120"/>
              </a:rPr>
              <a:t>Flexible y escalable</a:t>
            </a:r>
            <a:endParaRPr lang="en-US" sz="1100" dirty="0"/>
          </a:p>
        </p:txBody>
      </p:sp>
      <p:sp>
        <p:nvSpPr>
          <p:cNvPr id="48" name="Shape 46"/>
          <p:cNvSpPr/>
          <p:nvPr/>
        </p:nvSpPr>
        <p:spPr>
          <a:xfrm>
            <a:off x="7406640" y="3136392"/>
            <a:ext cx="768096" cy="36576"/>
          </a:xfrm>
          <a:prstGeom prst="rect">
            <a:avLst/>
          </a:prstGeom>
          <a:solidFill>
            <a:srgbClr val="45C241"/>
          </a:solidFill>
          <a:ln w="12700">
            <a:solidFill>
              <a:srgbClr val="45C241"/>
            </a:solidFill>
            <a:prstDash val="solid"/>
          </a:ln>
        </p:spPr>
        <p:txBody>
          <a:bodyPr/>
          <a:lstStyle/>
          <a:p>
            <a:endParaRPr lang="es-ES"/>
          </a:p>
        </p:txBody>
      </p:sp>
      <p:sp>
        <p:nvSpPr>
          <p:cNvPr id="49" name="Text 47"/>
          <p:cNvSpPr/>
          <p:nvPr/>
        </p:nvSpPr>
        <p:spPr>
          <a:xfrm>
            <a:off x="6876288" y="3246120"/>
            <a:ext cx="1828800" cy="123444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Añade extensiones o sedes en tiempo real sin cambiar de proveedor ni de plataforma.</a:t>
            </a:r>
            <a:endParaRPr lang="en-US" sz="900" dirty="0"/>
          </a:p>
        </p:txBody>
      </p:sp>
      <p:sp>
        <p:nvSpPr>
          <p:cNvPr id="50" name="Shape 48"/>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51" name="Text 49"/>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PRESTACIONES DEL SERVICIO</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Configuración completa de la centralita cloud para Diaverum Servicios Renales SL</a:t>
            </a:r>
            <a:endParaRPr lang="en-US" sz="1050" dirty="0"/>
          </a:p>
        </p:txBody>
      </p:sp>
      <p:sp>
        <p:nvSpPr>
          <p:cNvPr id="6" name="Shape 4"/>
          <p:cNvSpPr/>
          <p:nvPr/>
        </p:nvSpPr>
        <p:spPr>
          <a:xfrm>
            <a:off x="228600" y="105156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28600" y="1051560"/>
            <a:ext cx="54864" cy="841248"/>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365760" y="111556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Gestión de llamadas entrantes</a:t>
            </a:r>
            <a:endParaRPr lang="en-US" sz="1000" dirty="0"/>
          </a:p>
        </p:txBody>
      </p:sp>
      <p:sp>
        <p:nvSpPr>
          <p:cNvPr id="9" name="Text 7"/>
          <p:cNvSpPr/>
          <p:nvPr/>
        </p:nvSpPr>
        <p:spPr>
          <a:xfrm>
            <a:off x="365760" y="143560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Comportamiento personalizable por sede, horario y tipo de llamada.</a:t>
            </a:r>
            <a:endParaRPr lang="en-US" sz="850" dirty="0"/>
          </a:p>
        </p:txBody>
      </p:sp>
      <p:sp>
        <p:nvSpPr>
          <p:cNvPr id="10" name="Shape 8"/>
          <p:cNvSpPr/>
          <p:nvPr/>
        </p:nvSpPr>
        <p:spPr>
          <a:xfrm>
            <a:off x="3127248" y="105156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1" name="Shape 9"/>
          <p:cNvSpPr/>
          <p:nvPr/>
        </p:nvSpPr>
        <p:spPr>
          <a:xfrm>
            <a:off x="3127248" y="1051560"/>
            <a:ext cx="54864" cy="841248"/>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3264408" y="111556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Operadoras IVR multinivel</a:t>
            </a:r>
            <a:endParaRPr lang="en-US" sz="1000" dirty="0"/>
          </a:p>
        </p:txBody>
      </p:sp>
      <p:sp>
        <p:nvSpPr>
          <p:cNvPr id="13" name="Text 11"/>
          <p:cNvSpPr/>
          <p:nvPr/>
        </p:nvSpPr>
        <p:spPr>
          <a:xfrm>
            <a:off x="3264408" y="143560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Menú automático con locuciones y música de espera personalizables.</a:t>
            </a:r>
            <a:endParaRPr lang="en-US" sz="850" dirty="0"/>
          </a:p>
        </p:txBody>
      </p:sp>
      <p:sp>
        <p:nvSpPr>
          <p:cNvPr id="14" name="Shape 12"/>
          <p:cNvSpPr/>
          <p:nvPr/>
        </p:nvSpPr>
        <p:spPr>
          <a:xfrm>
            <a:off x="6035040" y="105156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5" name="Shape 13"/>
          <p:cNvSpPr/>
          <p:nvPr/>
        </p:nvSpPr>
        <p:spPr>
          <a:xfrm>
            <a:off x="6035040" y="1051560"/>
            <a:ext cx="54864" cy="841248"/>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6172200" y="111556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Buzón de voz</a:t>
            </a:r>
            <a:endParaRPr lang="en-US" sz="1000" dirty="0"/>
          </a:p>
        </p:txBody>
      </p:sp>
      <p:sp>
        <p:nvSpPr>
          <p:cNvPr id="17" name="Text 15"/>
          <p:cNvSpPr/>
          <p:nvPr/>
        </p:nvSpPr>
        <p:spPr>
          <a:xfrm>
            <a:off x="6172200" y="143560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Accesible desde Mail, Web y Teléfono. Notificación inmediata.</a:t>
            </a:r>
            <a:endParaRPr lang="en-US" sz="850" dirty="0"/>
          </a:p>
        </p:txBody>
      </p:sp>
      <p:sp>
        <p:nvSpPr>
          <p:cNvPr id="18" name="Shape 16"/>
          <p:cNvSpPr/>
          <p:nvPr/>
        </p:nvSpPr>
        <p:spPr>
          <a:xfrm>
            <a:off x="228600" y="201168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9" name="Shape 17"/>
          <p:cNvSpPr/>
          <p:nvPr/>
        </p:nvSpPr>
        <p:spPr>
          <a:xfrm>
            <a:off x="228600" y="2011680"/>
            <a:ext cx="54864" cy="841248"/>
          </a:xfrm>
          <a:prstGeom prst="rect">
            <a:avLst/>
          </a:prstGeom>
          <a:solidFill>
            <a:srgbClr val="45C241"/>
          </a:solidFill>
          <a:ln w="12700">
            <a:solidFill>
              <a:srgbClr val="45C241"/>
            </a:solidFill>
            <a:prstDash val="solid"/>
          </a:ln>
        </p:spPr>
        <p:txBody>
          <a:bodyPr/>
          <a:lstStyle/>
          <a:p>
            <a:endParaRPr lang="es-ES"/>
          </a:p>
        </p:txBody>
      </p:sp>
      <p:sp>
        <p:nvSpPr>
          <p:cNvPr id="20" name="Text 18"/>
          <p:cNvSpPr/>
          <p:nvPr/>
        </p:nvSpPr>
        <p:spPr>
          <a:xfrm>
            <a:off x="365760" y="207568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Multi-registro y multidispositivo</a:t>
            </a:r>
            <a:endParaRPr lang="en-US" sz="1000" dirty="0"/>
          </a:p>
        </p:txBody>
      </p:sp>
      <p:sp>
        <p:nvSpPr>
          <p:cNvPr id="21" name="Text 19"/>
          <p:cNvSpPr/>
          <p:nvPr/>
        </p:nvSpPr>
        <p:spPr>
          <a:xfrm>
            <a:off x="365760" y="239572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Una extensión en varios dispositivos simultáneamente.</a:t>
            </a:r>
            <a:endParaRPr lang="en-US" sz="850" dirty="0"/>
          </a:p>
        </p:txBody>
      </p:sp>
      <p:sp>
        <p:nvSpPr>
          <p:cNvPr id="22" name="Shape 20"/>
          <p:cNvSpPr/>
          <p:nvPr/>
        </p:nvSpPr>
        <p:spPr>
          <a:xfrm>
            <a:off x="3127248" y="201168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3" name="Shape 21"/>
          <p:cNvSpPr/>
          <p:nvPr/>
        </p:nvSpPr>
        <p:spPr>
          <a:xfrm>
            <a:off x="3127248" y="2011680"/>
            <a:ext cx="54864" cy="841248"/>
          </a:xfrm>
          <a:prstGeom prst="rect">
            <a:avLst/>
          </a:prstGeom>
          <a:solidFill>
            <a:srgbClr val="45C241"/>
          </a:solidFill>
          <a:ln w="12700">
            <a:solidFill>
              <a:srgbClr val="45C241"/>
            </a:solidFill>
            <a:prstDash val="solid"/>
          </a:ln>
        </p:spPr>
        <p:txBody>
          <a:bodyPr/>
          <a:lstStyle/>
          <a:p>
            <a:endParaRPr lang="es-ES"/>
          </a:p>
        </p:txBody>
      </p:sp>
      <p:sp>
        <p:nvSpPr>
          <p:cNvPr id="24" name="Text 22"/>
          <p:cNvSpPr/>
          <p:nvPr/>
        </p:nvSpPr>
        <p:spPr>
          <a:xfrm>
            <a:off x="3264408" y="207568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Monitor en tiempo real</a:t>
            </a:r>
            <a:endParaRPr lang="en-US" sz="1000" dirty="0"/>
          </a:p>
        </p:txBody>
      </p:sp>
      <p:sp>
        <p:nvSpPr>
          <p:cNvPr id="25" name="Text 23"/>
          <p:cNvSpPr/>
          <p:nvPr/>
        </p:nvSpPr>
        <p:spPr>
          <a:xfrm>
            <a:off x="3264408" y="239572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Visualización de extensiones activas, en espera o disponibles.</a:t>
            </a:r>
            <a:endParaRPr lang="en-US" sz="850" dirty="0"/>
          </a:p>
        </p:txBody>
      </p:sp>
      <p:sp>
        <p:nvSpPr>
          <p:cNvPr id="26" name="Shape 24"/>
          <p:cNvSpPr/>
          <p:nvPr/>
        </p:nvSpPr>
        <p:spPr>
          <a:xfrm>
            <a:off x="6035040" y="201168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7" name="Shape 25"/>
          <p:cNvSpPr/>
          <p:nvPr/>
        </p:nvSpPr>
        <p:spPr>
          <a:xfrm>
            <a:off x="6035040" y="2011680"/>
            <a:ext cx="54864" cy="841248"/>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6172200" y="207568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Grabación de llamadas</a:t>
            </a:r>
            <a:endParaRPr lang="en-US" sz="1000" dirty="0"/>
          </a:p>
        </p:txBody>
      </p:sp>
      <p:sp>
        <p:nvSpPr>
          <p:cNvPr id="29" name="Text 27"/>
          <p:cNvSpPr/>
          <p:nvPr/>
        </p:nvSpPr>
        <p:spPr>
          <a:xfrm>
            <a:off x="6172200" y="239572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Todas las llamadas o solo las solicitadas por el usuario.</a:t>
            </a:r>
            <a:endParaRPr lang="en-US" sz="850" dirty="0"/>
          </a:p>
        </p:txBody>
      </p:sp>
      <p:sp>
        <p:nvSpPr>
          <p:cNvPr id="30" name="Shape 28"/>
          <p:cNvSpPr/>
          <p:nvPr/>
        </p:nvSpPr>
        <p:spPr>
          <a:xfrm>
            <a:off x="228600" y="297180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1" name="Shape 29"/>
          <p:cNvSpPr/>
          <p:nvPr/>
        </p:nvSpPr>
        <p:spPr>
          <a:xfrm>
            <a:off x="228600" y="2971800"/>
            <a:ext cx="54864" cy="841248"/>
          </a:xfrm>
          <a:prstGeom prst="rect">
            <a:avLst/>
          </a:prstGeom>
          <a:solidFill>
            <a:srgbClr val="45C241"/>
          </a:solidFill>
          <a:ln w="12700">
            <a:solidFill>
              <a:srgbClr val="45C241"/>
            </a:solidFill>
            <a:prstDash val="solid"/>
          </a:ln>
        </p:spPr>
        <p:txBody>
          <a:bodyPr/>
          <a:lstStyle/>
          <a:p>
            <a:endParaRPr lang="es-ES"/>
          </a:p>
        </p:txBody>
      </p:sp>
      <p:sp>
        <p:nvSpPr>
          <p:cNvPr id="32" name="Text 30"/>
          <p:cNvSpPr/>
          <p:nvPr/>
        </p:nvSpPr>
        <p:spPr>
          <a:xfrm>
            <a:off x="365760" y="303580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Horarios y calendarios</a:t>
            </a:r>
            <a:endParaRPr lang="en-US" sz="1000" dirty="0"/>
          </a:p>
        </p:txBody>
      </p:sp>
      <p:sp>
        <p:nvSpPr>
          <p:cNvPr id="33" name="Text 31"/>
          <p:cNvSpPr/>
          <p:nvPr/>
        </p:nvSpPr>
        <p:spPr>
          <a:xfrm>
            <a:off x="365760" y="335584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Horarios personalizables con fechas cerradas y festivos.</a:t>
            </a:r>
            <a:endParaRPr lang="en-US" sz="850" dirty="0"/>
          </a:p>
        </p:txBody>
      </p:sp>
      <p:sp>
        <p:nvSpPr>
          <p:cNvPr id="34" name="Shape 32"/>
          <p:cNvSpPr/>
          <p:nvPr/>
        </p:nvSpPr>
        <p:spPr>
          <a:xfrm>
            <a:off x="3127248" y="297180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5" name="Shape 33"/>
          <p:cNvSpPr/>
          <p:nvPr/>
        </p:nvSpPr>
        <p:spPr>
          <a:xfrm>
            <a:off x="3127248" y="2971800"/>
            <a:ext cx="54864" cy="841248"/>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3264408" y="303580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Grupos y colas de llamadas</a:t>
            </a:r>
            <a:endParaRPr lang="en-US" sz="1000" dirty="0"/>
          </a:p>
        </p:txBody>
      </p:sp>
      <p:sp>
        <p:nvSpPr>
          <p:cNvPr id="37" name="Text 35"/>
          <p:cNvSpPr/>
          <p:nvPr/>
        </p:nvSpPr>
        <p:spPr>
          <a:xfrm>
            <a:off x="3264408" y="335584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Distribución automática con captura de grupo (*42).</a:t>
            </a:r>
            <a:endParaRPr lang="en-US" sz="850" dirty="0"/>
          </a:p>
        </p:txBody>
      </p:sp>
      <p:sp>
        <p:nvSpPr>
          <p:cNvPr id="38" name="Shape 36"/>
          <p:cNvSpPr/>
          <p:nvPr/>
        </p:nvSpPr>
        <p:spPr>
          <a:xfrm>
            <a:off x="6035040" y="297180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9" name="Shape 37"/>
          <p:cNvSpPr/>
          <p:nvPr/>
        </p:nvSpPr>
        <p:spPr>
          <a:xfrm>
            <a:off x="6035040" y="2971800"/>
            <a:ext cx="54864" cy="841248"/>
          </a:xfrm>
          <a:prstGeom prst="rect">
            <a:avLst/>
          </a:prstGeom>
          <a:solidFill>
            <a:srgbClr val="45C241"/>
          </a:solidFill>
          <a:ln w="12700">
            <a:solidFill>
              <a:srgbClr val="45C241"/>
            </a:solidFill>
            <a:prstDash val="solid"/>
          </a:ln>
        </p:spPr>
        <p:txBody>
          <a:bodyPr/>
          <a:lstStyle/>
          <a:p>
            <a:endParaRPr lang="es-ES"/>
          </a:p>
        </p:txBody>
      </p:sp>
      <p:sp>
        <p:nvSpPr>
          <p:cNvPr id="40" name="Text 38"/>
          <p:cNvSpPr/>
          <p:nvPr/>
        </p:nvSpPr>
        <p:spPr>
          <a:xfrm>
            <a:off x="6172200" y="303580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Seguridad TLS</a:t>
            </a:r>
            <a:endParaRPr lang="en-US" sz="1000" dirty="0"/>
          </a:p>
        </p:txBody>
      </p:sp>
      <p:sp>
        <p:nvSpPr>
          <p:cNvPr id="41" name="Text 39"/>
          <p:cNvSpPr/>
          <p:nvPr/>
        </p:nvSpPr>
        <p:spPr>
          <a:xfrm>
            <a:off x="6172200" y="335584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Protocolo de securización de llamadas extremo a extremo.</a:t>
            </a:r>
            <a:endParaRPr lang="en-US" sz="850" dirty="0"/>
          </a:p>
        </p:txBody>
      </p:sp>
      <p:sp>
        <p:nvSpPr>
          <p:cNvPr id="42" name="Shape 40"/>
          <p:cNvSpPr/>
          <p:nvPr/>
        </p:nvSpPr>
        <p:spPr>
          <a:xfrm>
            <a:off x="228600" y="393192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43" name="Shape 41"/>
          <p:cNvSpPr/>
          <p:nvPr/>
        </p:nvSpPr>
        <p:spPr>
          <a:xfrm>
            <a:off x="228600" y="3931920"/>
            <a:ext cx="54864" cy="841248"/>
          </a:xfrm>
          <a:prstGeom prst="rect">
            <a:avLst/>
          </a:prstGeom>
          <a:solidFill>
            <a:srgbClr val="45C241"/>
          </a:solidFill>
          <a:ln w="12700">
            <a:solidFill>
              <a:srgbClr val="45C241"/>
            </a:solidFill>
            <a:prstDash val="solid"/>
          </a:ln>
        </p:spPr>
        <p:txBody>
          <a:bodyPr/>
          <a:lstStyle/>
          <a:p>
            <a:endParaRPr lang="es-ES"/>
          </a:p>
        </p:txBody>
      </p:sp>
      <p:sp>
        <p:nvSpPr>
          <p:cNvPr id="44" name="Text 42"/>
          <p:cNvSpPr/>
          <p:nvPr/>
        </p:nvSpPr>
        <p:spPr>
          <a:xfrm>
            <a:off x="365760" y="399592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Cliente WebRTC</a:t>
            </a:r>
            <a:endParaRPr lang="en-US" sz="1000" dirty="0"/>
          </a:p>
        </p:txBody>
      </p:sp>
      <p:sp>
        <p:nvSpPr>
          <p:cNvPr id="45" name="Text 43"/>
          <p:cNvSpPr/>
          <p:nvPr/>
        </p:nvSpPr>
        <p:spPr>
          <a:xfrm>
            <a:off x="365760" y="431596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Llamadas desde cualquier navegador sin software adicional.</a:t>
            </a:r>
            <a:endParaRPr lang="en-US" sz="850" dirty="0"/>
          </a:p>
        </p:txBody>
      </p:sp>
      <p:sp>
        <p:nvSpPr>
          <p:cNvPr id="46" name="Shape 44"/>
          <p:cNvSpPr/>
          <p:nvPr/>
        </p:nvSpPr>
        <p:spPr>
          <a:xfrm>
            <a:off x="3127248" y="393192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47" name="Shape 45"/>
          <p:cNvSpPr/>
          <p:nvPr/>
        </p:nvSpPr>
        <p:spPr>
          <a:xfrm>
            <a:off x="3127248" y="3931920"/>
            <a:ext cx="54864" cy="841248"/>
          </a:xfrm>
          <a:prstGeom prst="rect">
            <a:avLst/>
          </a:prstGeom>
          <a:solidFill>
            <a:srgbClr val="45C241"/>
          </a:solidFill>
          <a:ln w="12700">
            <a:solidFill>
              <a:srgbClr val="45C241"/>
            </a:solidFill>
            <a:prstDash val="solid"/>
          </a:ln>
        </p:spPr>
        <p:txBody>
          <a:bodyPr/>
          <a:lstStyle/>
          <a:p>
            <a:endParaRPr lang="es-ES"/>
          </a:p>
        </p:txBody>
      </p:sp>
      <p:sp>
        <p:nvSpPr>
          <p:cNvPr id="48" name="Text 46"/>
          <p:cNvSpPr/>
          <p:nvPr/>
        </p:nvSpPr>
        <p:spPr>
          <a:xfrm>
            <a:off x="3264408" y="399592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BLF y Presencia</a:t>
            </a:r>
            <a:endParaRPr lang="en-US" sz="1000" dirty="0"/>
          </a:p>
        </p:txBody>
      </p:sp>
      <p:sp>
        <p:nvSpPr>
          <p:cNvPr id="49" name="Text 47"/>
          <p:cNvSpPr/>
          <p:nvPr/>
        </p:nvSpPr>
        <p:spPr>
          <a:xfrm>
            <a:off x="3264408" y="431596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Visibilidad del estado de cada extensión en tiempo real.</a:t>
            </a:r>
            <a:endParaRPr lang="en-US" sz="850" dirty="0"/>
          </a:p>
        </p:txBody>
      </p:sp>
      <p:sp>
        <p:nvSpPr>
          <p:cNvPr id="50" name="Shape 48"/>
          <p:cNvSpPr/>
          <p:nvPr/>
        </p:nvSpPr>
        <p:spPr>
          <a:xfrm>
            <a:off x="6035040" y="3931920"/>
            <a:ext cx="2743200" cy="84124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51" name="Shape 49"/>
          <p:cNvSpPr/>
          <p:nvPr/>
        </p:nvSpPr>
        <p:spPr>
          <a:xfrm>
            <a:off x="6035040" y="3931920"/>
            <a:ext cx="54864" cy="841248"/>
          </a:xfrm>
          <a:prstGeom prst="rect">
            <a:avLst/>
          </a:prstGeom>
          <a:solidFill>
            <a:srgbClr val="45C241"/>
          </a:solidFill>
          <a:ln w="12700">
            <a:solidFill>
              <a:srgbClr val="45C241"/>
            </a:solidFill>
            <a:prstDash val="solid"/>
          </a:ln>
        </p:spPr>
        <p:txBody>
          <a:bodyPr/>
          <a:lstStyle/>
          <a:p>
            <a:endParaRPr lang="es-ES"/>
          </a:p>
        </p:txBody>
      </p:sp>
      <p:sp>
        <p:nvSpPr>
          <p:cNvPr id="52" name="Text 50"/>
          <p:cNvSpPr/>
          <p:nvPr/>
        </p:nvSpPr>
        <p:spPr>
          <a:xfrm>
            <a:off x="6172200" y="3995928"/>
            <a:ext cx="2514600" cy="27432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 Enrutamiento avanzado</a:t>
            </a:r>
            <a:endParaRPr lang="en-US" sz="1000" dirty="0"/>
          </a:p>
        </p:txBody>
      </p:sp>
      <p:sp>
        <p:nvSpPr>
          <p:cNvPr id="53" name="Text 51"/>
          <p:cNvSpPr/>
          <p:nvPr/>
        </p:nvSpPr>
        <p:spPr>
          <a:xfrm>
            <a:off x="6172200" y="4315968"/>
            <a:ext cx="251460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Personalizable por número llamante y dial plan propio.</a:t>
            </a:r>
            <a:endParaRPr lang="en-US" sz="850" dirty="0"/>
          </a:p>
        </p:txBody>
      </p:sp>
      <p:sp>
        <p:nvSpPr>
          <p:cNvPr id="54" name="Shape 52"/>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55" name="Text 53"/>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INTEGRACIONES Y LYNKSPHONE</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Comunicación unificada integrada con tu ecosistema digital</a:t>
            </a:r>
            <a:endParaRPr lang="en-US" sz="1050" dirty="0"/>
          </a:p>
        </p:txBody>
      </p:sp>
      <p:sp>
        <p:nvSpPr>
          <p:cNvPr id="6" name="Shape 4"/>
          <p:cNvSpPr/>
          <p:nvPr/>
        </p:nvSpPr>
        <p:spPr>
          <a:xfrm>
            <a:off x="256032" y="1005840"/>
            <a:ext cx="4160520" cy="3794760"/>
          </a:xfrm>
          <a:prstGeom prst="rect">
            <a:avLst/>
          </a:prstGeom>
          <a:solidFill>
            <a:srgbClr val="F5F5F5"/>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05840"/>
            <a:ext cx="4160520" cy="54864"/>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347472" y="1097280"/>
            <a:ext cx="3977640" cy="347472"/>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  LYNKSPHONE</a:t>
            </a:r>
            <a:endParaRPr lang="en-US" sz="1400" dirty="0"/>
          </a:p>
        </p:txBody>
      </p:sp>
      <p:sp>
        <p:nvSpPr>
          <p:cNvPr id="9" name="Text 7"/>
          <p:cNvSpPr/>
          <p:nvPr/>
        </p:nvSpPr>
        <p:spPr>
          <a:xfrm>
            <a:off x="347472" y="1444752"/>
            <a:ext cx="3977640" cy="256032"/>
          </a:xfrm>
          <a:prstGeom prst="rect">
            <a:avLst/>
          </a:prstGeom>
          <a:noFill/>
          <a:ln/>
        </p:spPr>
        <p:txBody>
          <a:bodyPr wrap="square" lIns="0" tIns="0" rIns="0" bIns="0" rtlCol="0" anchor="ctr"/>
          <a:lstStyle/>
          <a:p>
            <a:pPr marL="0" indent="0">
              <a:buNone/>
            </a:pPr>
            <a:r>
              <a:rPr lang="en-US" sz="950" i="1" dirty="0">
                <a:solidFill>
                  <a:srgbClr val="444444"/>
                </a:solidFill>
                <a:latin typeface="Calibri" pitchFamily="34" charset="0"/>
                <a:ea typeface="Calibri" pitchFamily="34" charset="-122"/>
                <a:cs typeface="Calibri" pitchFamily="34" charset="-120"/>
              </a:rPr>
              <a:t>Telefonía y Colaboración — PC · Web · Móvil</a:t>
            </a:r>
            <a:endParaRPr lang="en-US" sz="950" dirty="0"/>
          </a:p>
        </p:txBody>
      </p:sp>
      <p:sp>
        <p:nvSpPr>
          <p:cNvPr id="10" name="Shape 8"/>
          <p:cNvSpPr/>
          <p:nvPr/>
        </p:nvSpPr>
        <p:spPr>
          <a:xfrm>
            <a:off x="347472" y="1783080"/>
            <a:ext cx="1920240" cy="548640"/>
          </a:xfrm>
          <a:prstGeom prst="rect">
            <a:avLst/>
          </a:prstGeom>
          <a:solidFill>
            <a:srgbClr val="1A1A1A"/>
          </a:solidFill>
          <a:ln w="12700">
            <a:solidFill>
              <a:srgbClr val="333333"/>
            </a:solidFill>
            <a:prstDash val="solid"/>
          </a:ln>
        </p:spPr>
        <p:txBody>
          <a:bodyPr/>
          <a:lstStyle/>
          <a:p>
            <a:endParaRPr lang="es-ES"/>
          </a:p>
        </p:txBody>
      </p:sp>
      <p:sp>
        <p:nvSpPr>
          <p:cNvPr id="11" name="Shape 9"/>
          <p:cNvSpPr/>
          <p:nvPr/>
        </p:nvSpPr>
        <p:spPr>
          <a:xfrm>
            <a:off x="347472" y="1783080"/>
            <a:ext cx="54864" cy="548640"/>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457200" y="1856232"/>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Adaptación a PC, Web y Móvil</a:t>
            </a:r>
            <a:endParaRPr lang="en-US" sz="850" dirty="0"/>
          </a:p>
        </p:txBody>
      </p:sp>
      <p:sp>
        <p:nvSpPr>
          <p:cNvPr id="13" name="Shape 11"/>
          <p:cNvSpPr/>
          <p:nvPr/>
        </p:nvSpPr>
        <p:spPr>
          <a:xfrm>
            <a:off x="2359152" y="1783080"/>
            <a:ext cx="1920240" cy="548640"/>
          </a:xfrm>
          <a:prstGeom prst="rect">
            <a:avLst/>
          </a:prstGeom>
          <a:solidFill>
            <a:srgbClr val="1A1A1A"/>
          </a:solidFill>
          <a:ln w="12700">
            <a:solidFill>
              <a:srgbClr val="333333"/>
            </a:solidFill>
            <a:prstDash val="solid"/>
          </a:ln>
        </p:spPr>
        <p:txBody>
          <a:bodyPr/>
          <a:lstStyle/>
          <a:p>
            <a:endParaRPr lang="es-ES"/>
          </a:p>
        </p:txBody>
      </p:sp>
      <p:sp>
        <p:nvSpPr>
          <p:cNvPr id="14" name="Shape 12"/>
          <p:cNvSpPr/>
          <p:nvPr/>
        </p:nvSpPr>
        <p:spPr>
          <a:xfrm>
            <a:off x="2359152" y="1783080"/>
            <a:ext cx="54864" cy="548640"/>
          </a:xfrm>
          <a:prstGeom prst="rect">
            <a:avLst/>
          </a:prstGeom>
          <a:solidFill>
            <a:srgbClr val="45C241"/>
          </a:solidFill>
          <a:ln w="12700">
            <a:solidFill>
              <a:srgbClr val="45C241"/>
            </a:solidFill>
            <a:prstDash val="solid"/>
          </a:ln>
        </p:spPr>
        <p:txBody>
          <a:bodyPr/>
          <a:lstStyle/>
          <a:p>
            <a:endParaRPr lang="es-ES"/>
          </a:p>
        </p:txBody>
      </p:sp>
      <p:sp>
        <p:nvSpPr>
          <p:cNvPr id="15" name="Text 13"/>
          <p:cNvSpPr/>
          <p:nvPr/>
        </p:nvSpPr>
        <p:spPr>
          <a:xfrm>
            <a:off x="2468880" y="1856232"/>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Presencia de extensiones y departamentos</a:t>
            </a:r>
            <a:endParaRPr lang="en-US" sz="850" dirty="0"/>
          </a:p>
        </p:txBody>
      </p:sp>
      <p:sp>
        <p:nvSpPr>
          <p:cNvPr id="16" name="Shape 14"/>
          <p:cNvSpPr/>
          <p:nvPr/>
        </p:nvSpPr>
        <p:spPr>
          <a:xfrm>
            <a:off x="347472" y="2441448"/>
            <a:ext cx="1920240" cy="548640"/>
          </a:xfrm>
          <a:prstGeom prst="rect">
            <a:avLst/>
          </a:prstGeom>
          <a:solidFill>
            <a:srgbClr val="1A1A1A"/>
          </a:solidFill>
          <a:ln w="12700">
            <a:solidFill>
              <a:srgbClr val="333333"/>
            </a:solidFill>
            <a:prstDash val="solid"/>
          </a:ln>
        </p:spPr>
        <p:txBody>
          <a:bodyPr/>
          <a:lstStyle/>
          <a:p>
            <a:endParaRPr lang="es-ES"/>
          </a:p>
        </p:txBody>
      </p:sp>
      <p:sp>
        <p:nvSpPr>
          <p:cNvPr id="17" name="Shape 15"/>
          <p:cNvSpPr/>
          <p:nvPr/>
        </p:nvSpPr>
        <p:spPr>
          <a:xfrm>
            <a:off x="347472" y="2441448"/>
            <a:ext cx="54864" cy="548640"/>
          </a:xfrm>
          <a:prstGeom prst="rect">
            <a:avLst/>
          </a:prstGeom>
          <a:solidFill>
            <a:srgbClr val="45C241"/>
          </a:solidFill>
          <a:ln w="12700">
            <a:solidFill>
              <a:srgbClr val="45C241"/>
            </a:solidFill>
            <a:prstDash val="solid"/>
          </a:ln>
        </p:spPr>
        <p:txBody>
          <a:bodyPr/>
          <a:lstStyle/>
          <a:p>
            <a:endParaRPr lang="es-ES"/>
          </a:p>
        </p:txBody>
      </p:sp>
      <p:sp>
        <p:nvSpPr>
          <p:cNvPr id="18" name="Text 16"/>
          <p:cNvSpPr/>
          <p:nvPr/>
        </p:nvSpPr>
        <p:spPr>
          <a:xfrm>
            <a:off x="457200" y="2514600"/>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Elección de número saliente</a:t>
            </a:r>
            <a:endParaRPr lang="en-US" sz="850" dirty="0"/>
          </a:p>
        </p:txBody>
      </p:sp>
      <p:sp>
        <p:nvSpPr>
          <p:cNvPr id="19" name="Shape 17"/>
          <p:cNvSpPr/>
          <p:nvPr/>
        </p:nvSpPr>
        <p:spPr>
          <a:xfrm>
            <a:off x="2359152" y="2441448"/>
            <a:ext cx="1920240" cy="548640"/>
          </a:xfrm>
          <a:prstGeom prst="rect">
            <a:avLst/>
          </a:prstGeom>
          <a:solidFill>
            <a:srgbClr val="1A1A1A"/>
          </a:solidFill>
          <a:ln w="12700">
            <a:solidFill>
              <a:srgbClr val="333333"/>
            </a:solidFill>
            <a:prstDash val="solid"/>
          </a:ln>
        </p:spPr>
        <p:txBody>
          <a:bodyPr/>
          <a:lstStyle/>
          <a:p>
            <a:endParaRPr lang="es-ES"/>
          </a:p>
        </p:txBody>
      </p:sp>
      <p:sp>
        <p:nvSpPr>
          <p:cNvPr id="20" name="Shape 18"/>
          <p:cNvSpPr/>
          <p:nvPr/>
        </p:nvSpPr>
        <p:spPr>
          <a:xfrm>
            <a:off x="2359152" y="2441448"/>
            <a:ext cx="54864" cy="548640"/>
          </a:xfrm>
          <a:prstGeom prst="rect">
            <a:avLst/>
          </a:prstGeom>
          <a:solidFill>
            <a:srgbClr val="45C241"/>
          </a:solidFill>
          <a:ln w="12700">
            <a:solidFill>
              <a:srgbClr val="45C241"/>
            </a:solidFill>
            <a:prstDash val="solid"/>
          </a:ln>
        </p:spPr>
        <p:txBody>
          <a:bodyPr/>
          <a:lstStyle/>
          <a:p>
            <a:endParaRPr lang="es-ES"/>
          </a:p>
        </p:txBody>
      </p:sp>
      <p:sp>
        <p:nvSpPr>
          <p:cNvPr id="21" name="Text 19"/>
          <p:cNvSpPr/>
          <p:nvPr/>
        </p:nvSpPr>
        <p:spPr>
          <a:xfrm>
            <a:off x="2468880" y="2514600"/>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Chat y mención de usuarios</a:t>
            </a:r>
            <a:endParaRPr lang="en-US" sz="850" dirty="0"/>
          </a:p>
        </p:txBody>
      </p:sp>
      <p:sp>
        <p:nvSpPr>
          <p:cNvPr id="22" name="Shape 20"/>
          <p:cNvSpPr/>
          <p:nvPr/>
        </p:nvSpPr>
        <p:spPr>
          <a:xfrm>
            <a:off x="347472" y="3099816"/>
            <a:ext cx="1920240" cy="548640"/>
          </a:xfrm>
          <a:prstGeom prst="rect">
            <a:avLst/>
          </a:prstGeom>
          <a:solidFill>
            <a:srgbClr val="1A1A1A"/>
          </a:solidFill>
          <a:ln w="12700">
            <a:solidFill>
              <a:srgbClr val="333333"/>
            </a:solidFill>
            <a:prstDash val="solid"/>
          </a:ln>
        </p:spPr>
        <p:txBody>
          <a:bodyPr/>
          <a:lstStyle/>
          <a:p>
            <a:endParaRPr lang="es-ES"/>
          </a:p>
        </p:txBody>
      </p:sp>
      <p:sp>
        <p:nvSpPr>
          <p:cNvPr id="23" name="Shape 21"/>
          <p:cNvSpPr/>
          <p:nvPr/>
        </p:nvSpPr>
        <p:spPr>
          <a:xfrm>
            <a:off x="347472" y="3099816"/>
            <a:ext cx="54864" cy="548640"/>
          </a:xfrm>
          <a:prstGeom prst="rect">
            <a:avLst/>
          </a:prstGeom>
          <a:solidFill>
            <a:srgbClr val="45C241"/>
          </a:solidFill>
          <a:ln w="12700">
            <a:solidFill>
              <a:srgbClr val="45C241"/>
            </a:solidFill>
            <a:prstDash val="solid"/>
          </a:ln>
        </p:spPr>
        <p:txBody>
          <a:bodyPr/>
          <a:lstStyle/>
          <a:p>
            <a:endParaRPr lang="es-ES"/>
          </a:p>
        </p:txBody>
      </p:sp>
      <p:sp>
        <p:nvSpPr>
          <p:cNvPr id="24" name="Text 22"/>
          <p:cNvSpPr/>
          <p:nvPr/>
        </p:nvSpPr>
        <p:spPr>
          <a:xfrm>
            <a:off x="457200" y="3172968"/>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Compartición de ficheros</a:t>
            </a:r>
            <a:endParaRPr lang="en-US" sz="850" dirty="0"/>
          </a:p>
        </p:txBody>
      </p:sp>
      <p:sp>
        <p:nvSpPr>
          <p:cNvPr id="25" name="Shape 23"/>
          <p:cNvSpPr/>
          <p:nvPr/>
        </p:nvSpPr>
        <p:spPr>
          <a:xfrm>
            <a:off x="2359152" y="3099816"/>
            <a:ext cx="1920240" cy="548640"/>
          </a:xfrm>
          <a:prstGeom prst="rect">
            <a:avLst/>
          </a:prstGeom>
          <a:solidFill>
            <a:srgbClr val="1A1A1A"/>
          </a:solidFill>
          <a:ln w="12700">
            <a:solidFill>
              <a:srgbClr val="333333"/>
            </a:solidFill>
            <a:prstDash val="solid"/>
          </a:ln>
        </p:spPr>
        <p:txBody>
          <a:bodyPr/>
          <a:lstStyle/>
          <a:p>
            <a:endParaRPr lang="es-ES"/>
          </a:p>
        </p:txBody>
      </p:sp>
      <p:sp>
        <p:nvSpPr>
          <p:cNvPr id="26" name="Shape 24"/>
          <p:cNvSpPr/>
          <p:nvPr/>
        </p:nvSpPr>
        <p:spPr>
          <a:xfrm>
            <a:off x="2359152" y="3099816"/>
            <a:ext cx="54864" cy="548640"/>
          </a:xfrm>
          <a:prstGeom prst="rect">
            <a:avLst/>
          </a:prstGeom>
          <a:solidFill>
            <a:srgbClr val="45C241"/>
          </a:solidFill>
          <a:ln w="12700">
            <a:solidFill>
              <a:srgbClr val="45C241"/>
            </a:solidFill>
            <a:prstDash val="solid"/>
          </a:ln>
        </p:spPr>
        <p:txBody>
          <a:bodyPr/>
          <a:lstStyle/>
          <a:p>
            <a:endParaRPr lang="es-ES"/>
          </a:p>
        </p:txBody>
      </p:sp>
      <p:sp>
        <p:nvSpPr>
          <p:cNvPr id="27" name="Text 25"/>
          <p:cNvSpPr/>
          <p:nvPr/>
        </p:nvSpPr>
        <p:spPr>
          <a:xfrm>
            <a:off x="2468880" y="3172968"/>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Videoconferencia interna y externa</a:t>
            </a:r>
            <a:endParaRPr lang="en-US" sz="850" dirty="0"/>
          </a:p>
        </p:txBody>
      </p:sp>
      <p:sp>
        <p:nvSpPr>
          <p:cNvPr id="28" name="Shape 26"/>
          <p:cNvSpPr/>
          <p:nvPr/>
        </p:nvSpPr>
        <p:spPr>
          <a:xfrm>
            <a:off x="347472" y="3758184"/>
            <a:ext cx="1920240" cy="548640"/>
          </a:xfrm>
          <a:prstGeom prst="rect">
            <a:avLst/>
          </a:prstGeom>
          <a:solidFill>
            <a:srgbClr val="1A1A1A"/>
          </a:solidFill>
          <a:ln w="12700">
            <a:solidFill>
              <a:srgbClr val="333333"/>
            </a:solidFill>
            <a:prstDash val="solid"/>
          </a:ln>
        </p:spPr>
        <p:txBody>
          <a:bodyPr/>
          <a:lstStyle/>
          <a:p>
            <a:endParaRPr lang="es-ES"/>
          </a:p>
        </p:txBody>
      </p:sp>
      <p:sp>
        <p:nvSpPr>
          <p:cNvPr id="29" name="Shape 27"/>
          <p:cNvSpPr/>
          <p:nvPr/>
        </p:nvSpPr>
        <p:spPr>
          <a:xfrm>
            <a:off x="347472" y="3758184"/>
            <a:ext cx="54864" cy="548640"/>
          </a:xfrm>
          <a:prstGeom prst="rect">
            <a:avLst/>
          </a:prstGeom>
          <a:solidFill>
            <a:srgbClr val="45C241"/>
          </a:solidFill>
          <a:ln w="12700">
            <a:solidFill>
              <a:srgbClr val="45C241"/>
            </a:solidFill>
            <a:prstDash val="solid"/>
          </a:ln>
        </p:spPr>
        <p:txBody>
          <a:bodyPr/>
          <a:lstStyle/>
          <a:p>
            <a:endParaRPr lang="es-ES"/>
          </a:p>
        </p:txBody>
      </p:sp>
      <p:sp>
        <p:nvSpPr>
          <p:cNvPr id="30" name="Text 28"/>
          <p:cNvSpPr/>
          <p:nvPr/>
        </p:nvSpPr>
        <p:spPr>
          <a:xfrm>
            <a:off x="457200" y="3831336"/>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Gestión de permisos por usuario</a:t>
            </a:r>
            <a:endParaRPr lang="en-US" sz="850" dirty="0"/>
          </a:p>
        </p:txBody>
      </p:sp>
      <p:sp>
        <p:nvSpPr>
          <p:cNvPr id="31" name="Shape 29"/>
          <p:cNvSpPr/>
          <p:nvPr/>
        </p:nvSpPr>
        <p:spPr>
          <a:xfrm>
            <a:off x="2359152" y="3758184"/>
            <a:ext cx="1920240" cy="548640"/>
          </a:xfrm>
          <a:prstGeom prst="rect">
            <a:avLst/>
          </a:prstGeom>
          <a:solidFill>
            <a:srgbClr val="1A1A1A"/>
          </a:solidFill>
          <a:ln w="12700">
            <a:solidFill>
              <a:srgbClr val="333333"/>
            </a:solidFill>
            <a:prstDash val="solid"/>
          </a:ln>
        </p:spPr>
        <p:txBody>
          <a:bodyPr/>
          <a:lstStyle/>
          <a:p>
            <a:endParaRPr lang="es-ES"/>
          </a:p>
        </p:txBody>
      </p:sp>
      <p:sp>
        <p:nvSpPr>
          <p:cNvPr id="32" name="Shape 30"/>
          <p:cNvSpPr/>
          <p:nvPr/>
        </p:nvSpPr>
        <p:spPr>
          <a:xfrm>
            <a:off x="2359152" y="3758184"/>
            <a:ext cx="54864" cy="548640"/>
          </a:xfrm>
          <a:prstGeom prst="rect">
            <a:avLst/>
          </a:prstGeom>
          <a:solidFill>
            <a:srgbClr val="45C241"/>
          </a:solidFill>
          <a:ln w="12700">
            <a:solidFill>
              <a:srgbClr val="45C241"/>
            </a:solidFill>
            <a:prstDash val="solid"/>
          </a:ln>
        </p:spPr>
        <p:txBody>
          <a:bodyPr/>
          <a:lstStyle/>
          <a:p>
            <a:endParaRPr lang="es-ES"/>
          </a:p>
        </p:txBody>
      </p:sp>
      <p:sp>
        <p:nvSpPr>
          <p:cNvPr id="33" name="Text 31"/>
          <p:cNvSpPr/>
          <p:nvPr/>
        </p:nvSpPr>
        <p:spPr>
          <a:xfrm>
            <a:off x="2468880" y="3831336"/>
            <a:ext cx="1737360" cy="402336"/>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Modos escucha y susurro</a:t>
            </a:r>
            <a:endParaRPr lang="en-US" sz="850" dirty="0"/>
          </a:p>
        </p:txBody>
      </p:sp>
      <p:sp>
        <p:nvSpPr>
          <p:cNvPr id="34" name="Shape 32"/>
          <p:cNvSpPr/>
          <p:nvPr/>
        </p:nvSpPr>
        <p:spPr>
          <a:xfrm>
            <a:off x="4553712" y="1005840"/>
            <a:ext cx="4370832" cy="3794760"/>
          </a:xfrm>
          <a:prstGeom prst="rect">
            <a:avLst/>
          </a:prstGeom>
          <a:solidFill>
            <a:srgbClr val="F5F5F5"/>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5" name="Shape 33"/>
          <p:cNvSpPr/>
          <p:nvPr/>
        </p:nvSpPr>
        <p:spPr>
          <a:xfrm>
            <a:off x="4553712" y="1005840"/>
            <a:ext cx="4370832" cy="54864"/>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4645152" y="1097280"/>
            <a:ext cx="4160520" cy="347472"/>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  INTEGRACIONES CRM &amp; ERP</a:t>
            </a:r>
            <a:endParaRPr lang="en-US" sz="1400" dirty="0"/>
          </a:p>
        </p:txBody>
      </p:sp>
      <p:sp>
        <p:nvSpPr>
          <p:cNvPr id="37" name="Text 35"/>
          <p:cNvSpPr/>
          <p:nvPr/>
        </p:nvSpPr>
        <p:spPr>
          <a:xfrm>
            <a:off x="4645152" y="1444752"/>
            <a:ext cx="4160520" cy="256032"/>
          </a:xfrm>
          <a:prstGeom prst="rect">
            <a:avLst/>
          </a:prstGeom>
          <a:noFill/>
          <a:ln/>
        </p:spPr>
        <p:txBody>
          <a:bodyPr wrap="square" lIns="0" tIns="0" rIns="0" bIns="0" rtlCol="0" anchor="ctr"/>
          <a:lstStyle/>
          <a:p>
            <a:pPr marL="0" indent="0">
              <a:buNone/>
            </a:pPr>
            <a:r>
              <a:rPr lang="en-US" sz="950" i="1" dirty="0">
                <a:solidFill>
                  <a:srgbClr val="444444"/>
                </a:solidFill>
                <a:latin typeface="Calibri" pitchFamily="34" charset="0"/>
                <a:ea typeface="Calibri" pitchFamily="34" charset="-122"/>
                <a:cs typeface="Calibri" pitchFamily="34" charset="-120"/>
              </a:rPr>
              <a:t>Apertura de ficha, actividad telefónica y routing basado en CRM</a:t>
            </a:r>
            <a:endParaRPr lang="en-US" sz="950" dirty="0"/>
          </a:p>
        </p:txBody>
      </p:sp>
      <p:sp>
        <p:nvSpPr>
          <p:cNvPr id="38" name="Shape 36"/>
          <p:cNvSpPr/>
          <p:nvPr/>
        </p:nvSpPr>
        <p:spPr>
          <a:xfrm>
            <a:off x="4645152" y="1801368"/>
            <a:ext cx="1298448" cy="530352"/>
          </a:xfrm>
          <a:prstGeom prst="rect">
            <a:avLst/>
          </a:prstGeom>
          <a:solidFill>
            <a:srgbClr val="F0F0F0"/>
          </a:solidFill>
          <a:ln w="12700">
            <a:solidFill>
              <a:srgbClr val="E0E0E0"/>
            </a:solidFill>
            <a:prstDash val="solid"/>
          </a:ln>
        </p:spPr>
        <p:txBody>
          <a:bodyPr/>
          <a:lstStyle/>
          <a:p>
            <a:endParaRPr lang="es-ES"/>
          </a:p>
        </p:txBody>
      </p:sp>
      <p:sp>
        <p:nvSpPr>
          <p:cNvPr id="39" name="Shape 37"/>
          <p:cNvSpPr/>
          <p:nvPr/>
        </p:nvSpPr>
        <p:spPr>
          <a:xfrm>
            <a:off x="4645152" y="1801368"/>
            <a:ext cx="1298448" cy="64008"/>
          </a:xfrm>
          <a:prstGeom prst="rect">
            <a:avLst/>
          </a:prstGeom>
          <a:solidFill>
            <a:srgbClr val="00A1E0"/>
          </a:solidFill>
          <a:ln w="12700">
            <a:solidFill>
              <a:srgbClr val="00A1E0"/>
            </a:solidFill>
            <a:prstDash val="solid"/>
          </a:ln>
        </p:spPr>
        <p:txBody>
          <a:bodyPr/>
          <a:lstStyle/>
          <a:p>
            <a:endParaRPr lang="es-ES"/>
          </a:p>
        </p:txBody>
      </p:sp>
      <p:sp>
        <p:nvSpPr>
          <p:cNvPr id="40" name="Text 38"/>
          <p:cNvSpPr/>
          <p:nvPr/>
        </p:nvSpPr>
        <p:spPr>
          <a:xfrm>
            <a:off x="4700016" y="1929384"/>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Salesforce</a:t>
            </a:r>
            <a:endParaRPr lang="en-US" sz="850" dirty="0"/>
          </a:p>
        </p:txBody>
      </p:sp>
      <p:sp>
        <p:nvSpPr>
          <p:cNvPr id="41" name="Shape 39"/>
          <p:cNvSpPr/>
          <p:nvPr/>
        </p:nvSpPr>
        <p:spPr>
          <a:xfrm>
            <a:off x="6035040" y="1801368"/>
            <a:ext cx="1298448" cy="530352"/>
          </a:xfrm>
          <a:prstGeom prst="rect">
            <a:avLst/>
          </a:prstGeom>
          <a:solidFill>
            <a:srgbClr val="F0F0F0"/>
          </a:solidFill>
          <a:ln w="12700">
            <a:solidFill>
              <a:srgbClr val="E0E0E0"/>
            </a:solidFill>
            <a:prstDash val="solid"/>
          </a:ln>
        </p:spPr>
        <p:txBody>
          <a:bodyPr/>
          <a:lstStyle/>
          <a:p>
            <a:endParaRPr lang="es-ES"/>
          </a:p>
        </p:txBody>
      </p:sp>
      <p:sp>
        <p:nvSpPr>
          <p:cNvPr id="42" name="Shape 40"/>
          <p:cNvSpPr/>
          <p:nvPr/>
        </p:nvSpPr>
        <p:spPr>
          <a:xfrm>
            <a:off x="6035040" y="1801368"/>
            <a:ext cx="1298448" cy="64008"/>
          </a:xfrm>
          <a:prstGeom prst="rect">
            <a:avLst/>
          </a:prstGeom>
          <a:solidFill>
            <a:srgbClr val="FF7A59"/>
          </a:solidFill>
          <a:ln w="12700">
            <a:solidFill>
              <a:srgbClr val="FF7A59"/>
            </a:solidFill>
            <a:prstDash val="solid"/>
          </a:ln>
        </p:spPr>
        <p:txBody>
          <a:bodyPr/>
          <a:lstStyle/>
          <a:p>
            <a:endParaRPr lang="es-ES"/>
          </a:p>
        </p:txBody>
      </p:sp>
      <p:sp>
        <p:nvSpPr>
          <p:cNvPr id="43" name="Text 41"/>
          <p:cNvSpPr/>
          <p:nvPr/>
        </p:nvSpPr>
        <p:spPr>
          <a:xfrm>
            <a:off x="6089904" y="1929384"/>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HubSpot</a:t>
            </a:r>
            <a:endParaRPr lang="en-US" sz="850" dirty="0"/>
          </a:p>
        </p:txBody>
      </p:sp>
      <p:sp>
        <p:nvSpPr>
          <p:cNvPr id="44" name="Shape 42"/>
          <p:cNvSpPr/>
          <p:nvPr/>
        </p:nvSpPr>
        <p:spPr>
          <a:xfrm>
            <a:off x="7424928" y="1801368"/>
            <a:ext cx="1298448" cy="530352"/>
          </a:xfrm>
          <a:prstGeom prst="rect">
            <a:avLst/>
          </a:prstGeom>
          <a:solidFill>
            <a:srgbClr val="F0F0F0"/>
          </a:solidFill>
          <a:ln w="12700">
            <a:solidFill>
              <a:srgbClr val="E0E0E0"/>
            </a:solidFill>
            <a:prstDash val="solid"/>
          </a:ln>
        </p:spPr>
        <p:txBody>
          <a:bodyPr/>
          <a:lstStyle/>
          <a:p>
            <a:endParaRPr lang="es-ES"/>
          </a:p>
        </p:txBody>
      </p:sp>
      <p:sp>
        <p:nvSpPr>
          <p:cNvPr id="45" name="Shape 43"/>
          <p:cNvSpPr/>
          <p:nvPr/>
        </p:nvSpPr>
        <p:spPr>
          <a:xfrm>
            <a:off x="7424928" y="1801368"/>
            <a:ext cx="1298448" cy="64008"/>
          </a:xfrm>
          <a:prstGeom prst="rect">
            <a:avLst/>
          </a:prstGeom>
          <a:solidFill>
            <a:srgbClr val="03363D"/>
          </a:solidFill>
          <a:ln w="12700">
            <a:solidFill>
              <a:srgbClr val="03363D"/>
            </a:solidFill>
            <a:prstDash val="solid"/>
          </a:ln>
        </p:spPr>
        <p:txBody>
          <a:bodyPr/>
          <a:lstStyle/>
          <a:p>
            <a:endParaRPr lang="es-ES"/>
          </a:p>
        </p:txBody>
      </p:sp>
      <p:sp>
        <p:nvSpPr>
          <p:cNvPr id="46" name="Text 44"/>
          <p:cNvSpPr/>
          <p:nvPr/>
        </p:nvSpPr>
        <p:spPr>
          <a:xfrm>
            <a:off x="7479792" y="1929384"/>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Zendesk</a:t>
            </a:r>
            <a:endParaRPr lang="en-US" sz="850" dirty="0"/>
          </a:p>
        </p:txBody>
      </p:sp>
      <p:sp>
        <p:nvSpPr>
          <p:cNvPr id="47" name="Shape 45"/>
          <p:cNvSpPr/>
          <p:nvPr/>
        </p:nvSpPr>
        <p:spPr>
          <a:xfrm>
            <a:off x="4645152" y="2459736"/>
            <a:ext cx="1298448" cy="530352"/>
          </a:xfrm>
          <a:prstGeom prst="rect">
            <a:avLst/>
          </a:prstGeom>
          <a:solidFill>
            <a:srgbClr val="F0F0F0"/>
          </a:solidFill>
          <a:ln w="12700">
            <a:solidFill>
              <a:srgbClr val="E0E0E0"/>
            </a:solidFill>
            <a:prstDash val="solid"/>
          </a:ln>
        </p:spPr>
        <p:txBody>
          <a:bodyPr/>
          <a:lstStyle/>
          <a:p>
            <a:endParaRPr lang="es-ES"/>
          </a:p>
        </p:txBody>
      </p:sp>
      <p:sp>
        <p:nvSpPr>
          <p:cNvPr id="48" name="Shape 46"/>
          <p:cNvSpPr/>
          <p:nvPr/>
        </p:nvSpPr>
        <p:spPr>
          <a:xfrm>
            <a:off x="4645152" y="2459736"/>
            <a:ext cx="1298448" cy="64008"/>
          </a:xfrm>
          <a:prstGeom prst="rect">
            <a:avLst/>
          </a:prstGeom>
          <a:solidFill>
            <a:srgbClr val="002050"/>
          </a:solidFill>
          <a:ln w="12700">
            <a:solidFill>
              <a:srgbClr val="002050"/>
            </a:solidFill>
            <a:prstDash val="solid"/>
          </a:ln>
        </p:spPr>
        <p:txBody>
          <a:bodyPr/>
          <a:lstStyle/>
          <a:p>
            <a:endParaRPr lang="es-ES"/>
          </a:p>
        </p:txBody>
      </p:sp>
      <p:sp>
        <p:nvSpPr>
          <p:cNvPr id="49" name="Text 47"/>
          <p:cNvSpPr/>
          <p:nvPr/>
        </p:nvSpPr>
        <p:spPr>
          <a:xfrm>
            <a:off x="4700016" y="2587752"/>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MS Dynamics</a:t>
            </a:r>
            <a:endParaRPr lang="en-US" sz="850" dirty="0"/>
          </a:p>
        </p:txBody>
      </p:sp>
      <p:sp>
        <p:nvSpPr>
          <p:cNvPr id="50" name="Shape 48"/>
          <p:cNvSpPr/>
          <p:nvPr/>
        </p:nvSpPr>
        <p:spPr>
          <a:xfrm>
            <a:off x="6035040" y="2459736"/>
            <a:ext cx="1298448" cy="530352"/>
          </a:xfrm>
          <a:prstGeom prst="rect">
            <a:avLst/>
          </a:prstGeom>
          <a:solidFill>
            <a:srgbClr val="F0F0F0"/>
          </a:solidFill>
          <a:ln w="12700">
            <a:solidFill>
              <a:srgbClr val="E0E0E0"/>
            </a:solidFill>
            <a:prstDash val="solid"/>
          </a:ln>
        </p:spPr>
        <p:txBody>
          <a:bodyPr/>
          <a:lstStyle/>
          <a:p>
            <a:endParaRPr lang="es-ES"/>
          </a:p>
        </p:txBody>
      </p:sp>
      <p:sp>
        <p:nvSpPr>
          <p:cNvPr id="51" name="Shape 49"/>
          <p:cNvSpPr/>
          <p:nvPr/>
        </p:nvSpPr>
        <p:spPr>
          <a:xfrm>
            <a:off x="6035040" y="2459736"/>
            <a:ext cx="1298448" cy="64008"/>
          </a:xfrm>
          <a:prstGeom prst="rect">
            <a:avLst/>
          </a:prstGeom>
          <a:solidFill>
            <a:srgbClr val="E42527"/>
          </a:solidFill>
          <a:ln w="12700">
            <a:solidFill>
              <a:srgbClr val="E42527"/>
            </a:solidFill>
            <a:prstDash val="solid"/>
          </a:ln>
        </p:spPr>
        <p:txBody>
          <a:bodyPr/>
          <a:lstStyle/>
          <a:p>
            <a:endParaRPr lang="es-ES"/>
          </a:p>
        </p:txBody>
      </p:sp>
      <p:sp>
        <p:nvSpPr>
          <p:cNvPr id="52" name="Text 50"/>
          <p:cNvSpPr/>
          <p:nvPr/>
        </p:nvSpPr>
        <p:spPr>
          <a:xfrm>
            <a:off x="6089904" y="2587752"/>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Zoho</a:t>
            </a:r>
            <a:endParaRPr lang="en-US" sz="850" dirty="0"/>
          </a:p>
        </p:txBody>
      </p:sp>
      <p:sp>
        <p:nvSpPr>
          <p:cNvPr id="53" name="Shape 51"/>
          <p:cNvSpPr/>
          <p:nvPr/>
        </p:nvSpPr>
        <p:spPr>
          <a:xfrm>
            <a:off x="7424928" y="2459736"/>
            <a:ext cx="1298448" cy="530352"/>
          </a:xfrm>
          <a:prstGeom prst="rect">
            <a:avLst/>
          </a:prstGeom>
          <a:solidFill>
            <a:srgbClr val="F0F0F0"/>
          </a:solidFill>
          <a:ln w="12700">
            <a:solidFill>
              <a:srgbClr val="E0E0E0"/>
            </a:solidFill>
            <a:prstDash val="solid"/>
          </a:ln>
        </p:spPr>
        <p:txBody>
          <a:bodyPr/>
          <a:lstStyle/>
          <a:p>
            <a:endParaRPr lang="es-ES"/>
          </a:p>
        </p:txBody>
      </p:sp>
      <p:sp>
        <p:nvSpPr>
          <p:cNvPr id="54" name="Shape 52"/>
          <p:cNvSpPr/>
          <p:nvPr/>
        </p:nvSpPr>
        <p:spPr>
          <a:xfrm>
            <a:off x="7424928" y="2459736"/>
            <a:ext cx="1298448" cy="64008"/>
          </a:xfrm>
          <a:prstGeom prst="rect">
            <a:avLst/>
          </a:prstGeom>
          <a:solidFill>
            <a:srgbClr val="1F4C5E"/>
          </a:solidFill>
          <a:ln w="12700">
            <a:solidFill>
              <a:srgbClr val="1F4C5E"/>
            </a:solidFill>
            <a:prstDash val="solid"/>
          </a:ln>
        </p:spPr>
        <p:txBody>
          <a:bodyPr/>
          <a:lstStyle/>
          <a:p>
            <a:endParaRPr lang="es-ES"/>
          </a:p>
        </p:txBody>
      </p:sp>
      <p:sp>
        <p:nvSpPr>
          <p:cNvPr id="55" name="Text 53"/>
          <p:cNvSpPr/>
          <p:nvPr/>
        </p:nvSpPr>
        <p:spPr>
          <a:xfrm>
            <a:off x="7479792" y="2587752"/>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Pipedrive</a:t>
            </a:r>
            <a:endParaRPr lang="en-US" sz="850" dirty="0"/>
          </a:p>
        </p:txBody>
      </p:sp>
      <p:sp>
        <p:nvSpPr>
          <p:cNvPr id="56" name="Shape 54"/>
          <p:cNvSpPr/>
          <p:nvPr/>
        </p:nvSpPr>
        <p:spPr>
          <a:xfrm>
            <a:off x="4645152" y="3118104"/>
            <a:ext cx="1298448" cy="530352"/>
          </a:xfrm>
          <a:prstGeom prst="rect">
            <a:avLst/>
          </a:prstGeom>
          <a:solidFill>
            <a:srgbClr val="F0F0F0"/>
          </a:solidFill>
          <a:ln w="12700">
            <a:solidFill>
              <a:srgbClr val="E0E0E0"/>
            </a:solidFill>
            <a:prstDash val="solid"/>
          </a:ln>
        </p:spPr>
        <p:txBody>
          <a:bodyPr/>
          <a:lstStyle/>
          <a:p>
            <a:endParaRPr lang="es-ES"/>
          </a:p>
        </p:txBody>
      </p:sp>
      <p:sp>
        <p:nvSpPr>
          <p:cNvPr id="57" name="Shape 55"/>
          <p:cNvSpPr/>
          <p:nvPr/>
        </p:nvSpPr>
        <p:spPr>
          <a:xfrm>
            <a:off x="4645152" y="3118104"/>
            <a:ext cx="1298448" cy="64008"/>
          </a:xfrm>
          <a:prstGeom prst="rect">
            <a:avLst/>
          </a:prstGeom>
          <a:solidFill>
            <a:srgbClr val="CC2222"/>
          </a:solidFill>
          <a:ln w="12700">
            <a:solidFill>
              <a:srgbClr val="CC2222"/>
            </a:solidFill>
            <a:prstDash val="solid"/>
          </a:ln>
        </p:spPr>
        <p:txBody>
          <a:bodyPr/>
          <a:lstStyle/>
          <a:p>
            <a:endParaRPr lang="es-ES"/>
          </a:p>
        </p:txBody>
      </p:sp>
      <p:sp>
        <p:nvSpPr>
          <p:cNvPr id="58" name="Text 56"/>
          <p:cNvSpPr/>
          <p:nvPr/>
        </p:nvSpPr>
        <p:spPr>
          <a:xfrm>
            <a:off x="4700016" y="3246120"/>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SugarCRM</a:t>
            </a:r>
            <a:endParaRPr lang="en-US" sz="850" dirty="0"/>
          </a:p>
        </p:txBody>
      </p:sp>
      <p:sp>
        <p:nvSpPr>
          <p:cNvPr id="59" name="Shape 57"/>
          <p:cNvSpPr/>
          <p:nvPr/>
        </p:nvSpPr>
        <p:spPr>
          <a:xfrm>
            <a:off x="6035040" y="3118104"/>
            <a:ext cx="1298448" cy="530352"/>
          </a:xfrm>
          <a:prstGeom prst="rect">
            <a:avLst/>
          </a:prstGeom>
          <a:solidFill>
            <a:srgbClr val="F0F0F0"/>
          </a:solidFill>
          <a:ln w="12700">
            <a:solidFill>
              <a:srgbClr val="E0E0E0"/>
            </a:solidFill>
            <a:prstDash val="solid"/>
          </a:ln>
        </p:spPr>
        <p:txBody>
          <a:bodyPr/>
          <a:lstStyle/>
          <a:p>
            <a:endParaRPr lang="es-ES"/>
          </a:p>
        </p:txBody>
      </p:sp>
      <p:sp>
        <p:nvSpPr>
          <p:cNvPr id="60" name="Shape 58"/>
          <p:cNvSpPr/>
          <p:nvPr/>
        </p:nvSpPr>
        <p:spPr>
          <a:xfrm>
            <a:off x="6035040" y="3118104"/>
            <a:ext cx="1298448" cy="64008"/>
          </a:xfrm>
          <a:prstGeom prst="rect">
            <a:avLst/>
          </a:prstGeom>
          <a:solidFill>
            <a:srgbClr val="E86523"/>
          </a:solidFill>
          <a:ln w="12700">
            <a:solidFill>
              <a:srgbClr val="E86523"/>
            </a:solidFill>
            <a:prstDash val="solid"/>
          </a:ln>
        </p:spPr>
        <p:txBody>
          <a:bodyPr/>
          <a:lstStyle/>
          <a:p>
            <a:endParaRPr lang="es-ES"/>
          </a:p>
        </p:txBody>
      </p:sp>
      <p:sp>
        <p:nvSpPr>
          <p:cNvPr id="61" name="Text 59"/>
          <p:cNvSpPr/>
          <p:nvPr/>
        </p:nvSpPr>
        <p:spPr>
          <a:xfrm>
            <a:off x="6089904" y="3246120"/>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Bullhorn</a:t>
            </a:r>
            <a:endParaRPr lang="en-US" sz="850" dirty="0"/>
          </a:p>
        </p:txBody>
      </p:sp>
      <p:sp>
        <p:nvSpPr>
          <p:cNvPr id="62" name="Shape 60"/>
          <p:cNvSpPr/>
          <p:nvPr/>
        </p:nvSpPr>
        <p:spPr>
          <a:xfrm>
            <a:off x="7424928" y="3118104"/>
            <a:ext cx="1298448" cy="530352"/>
          </a:xfrm>
          <a:prstGeom prst="rect">
            <a:avLst/>
          </a:prstGeom>
          <a:solidFill>
            <a:srgbClr val="F0F0F0"/>
          </a:solidFill>
          <a:ln w="12700">
            <a:solidFill>
              <a:srgbClr val="E0E0E0"/>
            </a:solidFill>
            <a:prstDash val="solid"/>
          </a:ln>
        </p:spPr>
        <p:txBody>
          <a:bodyPr/>
          <a:lstStyle/>
          <a:p>
            <a:endParaRPr lang="es-ES"/>
          </a:p>
        </p:txBody>
      </p:sp>
      <p:sp>
        <p:nvSpPr>
          <p:cNvPr id="63" name="Shape 61"/>
          <p:cNvSpPr/>
          <p:nvPr/>
        </p:nvSpPr>
        <p:spPr>
          <a:xfrm>
            <a:off x="7424928" y="3118104"/>
            <a:ext cx="1298448" cy="64008"/>
          </a:xfrm>
          <a:prstGeom prst="rect">
            <a:avLst/>
          </a:prstGeom>
          <a:solidFill>
            <a:srgbClr val="2FC7F7"/>
          </a:solidFill>
          <a:ln w="12700">
            <a:solidFill>
              <a:srgbClr val="2FC7F7"/>
            </a:solidFill>
            <a:prstDash val="solid"/>
          </a:ln>
        </p:spPr>
        <p:txBody>
          <a:bodyPr/>
          <a:lstStyle/>
          <a:p>
            <a:endParaRPr lang="es-ES"/>
          </a:p>
        </p:txBody>
      </p:sp>
      <p:sp>
        <p:nvSpPr>
          <p:cNvPr id="64" name="Text 62"/>
          <p:cNvSpPr/>
          <p:nvPr/>
        </p:nvSpPr>
        <p:spPr>
          <a:xfrm>
            <a:off x="7479792" y="3246120"/>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Bitrix24</a:t>
            </a:r>
            <a:endParaRPr lang="en-US" sz="850" dirty="0"/>
          </a:p>
        </p:txBody>
      </p:sp>
      <p:sp>
        <p:nvSpPr>
          <p:cNvPr id="65" name="Shape 63"/>
          <p:cNvSpPr/>
          <p:nvPr/>
        </p:nvSpPr>
        <p:spPr>
          <a:xfrm>
            <a:off x="4645152" y="3776472"/>
            <a:ext cx="1298448" cy="530352"/>
          </a:xfrm>
          <a:prstGeom prst="rect">
            <a:avLst/>
          </a:prstGeom>
          <a:solidFill>
            <a:srgbClr val="F0F0F0"/>
          </a:solidFill>
          <a:ln w="12700">
            <a:solidFill>
              <a:srgbClr val="E0E0E0"/>
            </a:solidFill>
            <a:prstDash val="solid"/>
          </a:ln>
        </p:spPr>
        <p:txBody>
          <a:bodyPr/>
          <a:lstStyle/>
          <a:p>
            <a:endParaRPr lang="es-ES"/>
          </a:p>
        </p:txBody>
      </p:sp>
      <p:sp>
        <p:nvSpPr>
          <p:cNvPr id="66" name="Shape 64"/>
          <p:cNvSpPr/>
          <p:nvPr/>
        </p:nvSpPr>
        <p:spPr>
          <a:xfrm>
            <a:off x="4645152" y="3776472"/>
            <a:ext cx="1298448" cy="64008"/>
          </a:xfrm>
          <a:prstGeom prst="rect">
            <a:avLst/>
          </a:prstGeom>
          <a:solidFill>
            <a:srgbClr val="2255AA"/>
          </a:solidFill>
          <a:ln w="12700">
            <a:solidFill>
              <a:srgbClr val="2255AA"/>
            </a:solidFill>
            <a:prstDash val="solid"/>
          </a:ln>
        </p:spPr>
        <p:txBody>
          <a:bodyPr/>
          <a:lstStyle/>
          <a:p>
            <a:endParaRPr lang="es-ES"/>
          </a:p>
        </p:txBody>
      </p:sp>
      <p:sp>
        <p:nvSpPr>
          <p:cNvPr id="67" name="Text 65"/>
          <p:cNvSpPr/>
          <p:nvPr/>
        </p:nvSpPr>
        <p:spPr>
          <a:xfrm>
            <a:off x="4700016" y="3904488"/>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A3ERP / Clave i</a:t>
            </a:r>
            <a:endParaRPr lang="en-US" sz="850" dirty="0"/>
          </a:p>
        </p:txBody>
      </p:sp>
      <p:sp>
        <p:nvSpPr>
          <p:cNvPr id="68" name="Shape 66"/>
          <p:cNvSpPr/>
          <p:nvPr/>
        </p:nvSpPr>
        <p:spPr>
          <a:xfrm>
            <a:off x="6035040" y="3776472"/>
            <a:ext cx="1298448" cy="530352"/>
          </a:xfrm>
          <a:prstGeom prst="rect">
            <a:avLst/>
          </a:prstGeom>
          <a:solidFill>
            <a:srgbClr val="F0F0F0"/>
          </a:solidFill>
          <a:ln w="12700">
            <a:solidFill>
              <a:srgbClr val="E0E0E0"/>
            </a:solidFill>
            <a:prstDash val="solid"/>
          </a:ln>
        </p:spPr>
        <p:txBody>
          <a:bodyPr/>
          <a:lstStyle/>
          <a:p>
            <a:endParaRPr lang="es-ES"/>
          </a:p>
        </p:txBody>
      </p:sp>
      <p:sp>
        <p:nvSpPr>
          <p:cNvPr id="69" name="Shape 67"/>
          <p:cNvSpPr/>
          <p:nvPr/>
        </p:nvSpPr>
        <p:spPr>
          <a:xfrm>
            <a:off x="6035040" y="3776472"/>
            <a:ext cx="1298448" cy="64008"/>
          </a:xfrm>
          <a:prstGeom prst="rect">
            <a:avLst/>
          </a:prstGeom>
          <a:solidFill>
            <a:srgbClr val="333333"/>
          </a:solidFill>
          <a:ln w="12700">
            <a:solidFill>
              <a:srgbClr val="333333"/>
            </a:solidFill>
            <a:prstDash val="solid"/>
          </a:ln>
        </p:spPr>
        <p:txBody>
          <a:bodyPr/>
          <a:lstStyle/>
          <a:p>
            <a:endParaRPr lang="es-ES"/>
          </a:p>
        </p:txBody>
      </p:sp>
      <p:sp>
        <p:nvSpPr>
          <p:cNvPr id="70" name="Text 68"/>
          <p:cNvSpPr/>
          <p:nvPr/>
        </p:nvSpPr>
        <p:spPr>
          <a:xfrm>
            <a:off x="6089904" y="3904488"/>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Gmail / Outlook</a:t>
            </a:r>
            <a:endParaRPr lang="en-US" sz="850" dirty="0"/>
          </a:p>
        </p:txBody>
      </p:sp>
      <p:sp>
        <p:nvSpPr>
          <p:cNvPr id="71" name="Shape 69"/>
          <p:cNvSpPr/>
          <p:nvPr/>
        </p:nvSpPr>
        <p:spPr>
          <a:xfrm>
            <a:off x="7424928" y="3776472"/>
            <a:ext cx="1298448" cy="530352"/>
          </a:xfrm>
          <a:prstGeom prst="rect">
            <a:avLst/>
          </a:prstGeom>
          <a:solidFill>
            <a:srgbClr val="F0F0F0"/>
          </a:solidFill>
          <a:ln w="12700">
            <a:solidFill>
              <a:srgbClr val="E0E0E0"/>
            </a:solidFill>
            <a:prstDash val="solid"/>
          </a:ln>
        </p:spPr>
        <p:txBody>
          <a:bodyPr/>
          <a:lstStyle/>
          <a:p>
            <a:endParaRPr lang="es-ES"/>
          </a:p>
        </p:txBody>
      </p:sp>
      <p:sp>
        <p:nvSpPr>
          <p:cNvPr id="72" name="Shape 70"/>
          <p:cNvSpPr/>
          <p:nvPr/>
        </p:nvSpPr>
        <p:spPr>
          <a:xfrm>
            <a:off x="7424928" y="3776472"/>
            <a:ext cx="1298448" cy="64008"/>
          </a:xfrm>
          <a:prstGeom prst="rect">
            <a:avLst/>
          </a:prstGeom>
          <a:solidFill>
            <a:srgbClr val="555555"/>
          </a:solidFill>
          <a:ln w="12700">
            <a:solidFill>
              <a:srgbClr val="555555"/>
            </a:solidFill>
            <a:prstDash val="solid"/>
          </a:ln>
        </p:spPr>
        <p:txBody>
          <a:bodyPr/>
          <a:lstStyle/>
          <a:p>
            <a:endParaRPr lang="es-ES"/>
          </a:p>
        </p:txBody>
      </p:sp>
      <p:sp>
        <p:nvSpPr>
          <p:cNvPr id="73" name="Text 71"/>
          <p:cNvSpPr/>
          <p:nvPr/>
        </p:nvSpPr>
        <p:spPr>
          <a:xfrm>
            <a:off x="7479792" y="3904488"/>
            <a:ext cx="1188720" cy="320040"/>
          </a:xfrm>
          <a:prstGeom prst="rect">
            <a:avLst/>
          </a:prstGeom>
          <a:noFill/>
          <a:ln/>
        </p:spPr>
        <p:txBody>
          <a:bodyPr wrap="square" lIns="0" tIns="0" rIns="0" bIns="0" rtlCol="0" anchor="ctr"/>
          <a:lstStyle/>
          <a:p>
            <a:pPr marL="0" indent="0" algn="ctr">
              <a:buNone/>
            </a:pPr>
            <a:r>
              <a:rPr lang="en-US" sz="850" b="1" dirty="0">
                <a:solidFill>
                  <a:srgbClr val="1A1A1A"/>
                </a:solidFill>
                <a:latin typeface="Calibri" pitchFamily="34" charset="0"/>
                <a:ea typeface="Calibri" pitchFamily="34" charset="-122"/>
                <a:cs typeface="Calibri" pitchFamily="34" charset="-120"/>
              </a:rPr>
              <a:t>Otros CRM</a:t>
            </a:r>
            <a:endParaRPr lang="en-US" sz="850" dirty="0"/>
          </a:p>
        </p:txBody>
      </p:sp>
      <p:sp>
        <p:nvSpPr>
          <p:cNvPr id="74" name="Shape 72"/>
          <p:cNvSpPr/>
          <p:nvPr/>
        </p:nvSpPr>
        <p:spPr>
          <a:xfrm>
            <a:off x="256032" y="4636008"/>
            <a:ext cx="8686800" cy="155448"/>
          </a:xfrm>
          <a:prstGeom prst="rect">
            <a:avLst/>
          </a:prstGeom>
          <a:solidFill>
            <a:srgbClr val="1E2E1E"/>
          </a:solidFill>
          <a:ln w="12700">
            <a:solidFill>
              <a:srgbClr val="38A834"/>
            </a:solidFill>
            <a:prstDash val="solid"/>
          </a:ln>
        </p:spPr>
        <p:txBody>
          <a:bodyPr/>
          <a:lstStyle/>
          <a:p>
            <a:endParaRPr lang="es-ES"/>
          </a:p>
        </p:txBody>
      </p:sp>
      <p:sp>
        <p:nvSpPr>
          <p:cNvPr id="75" name="Text 73"/>
          <p:cNvSpPr/>
          <p:nvPr/>
        </p:nvSpPr>
        <p:spPr>
          <a:xfrm>
            <a:off x="347472" y="4636008"/>
            <a:ext cx="8503920" cy="155448"/>
          </a:xfrm>
          <a:prstGeom prst="rect">
            <a:avLst/>
          </a:prstGeom>
          <a:noFill/>
          <a:ln/>
        </p:spPr>
        <p:txBody>
          <a:bodyPr wrap="square" lIns="0" tIns="0" rIns="0" bIns="0" rtlCol="0" anchor="ctr"/>
          <a:lstStyle/>
          <a:p>
            <a:pPr marL="0" indent="0">
              <a:buNone/>
            </a:pPr>
            <a:r>
              <a:rPr lang="en-US" sz="850" b="1" dirty="0">
                <a:solidFill>
                  <a:srgbClr val="45C241"/>
                </a:solidFill>
                <a:latin typeface="Calibri" pitchFamily="34" charset="0"/>
                <a:ea typeface="Calibri" pitchFamily="34" charset="-122"/>
                <a:cs typeface="Calibri" pitchFamily="34" charset="-120"/>
              </a:rPr>
              <a:t>✔  Informes BI a medida · Estadísticas IVR/grupos/extensiones · Integración nativa Salesforce OpenCTI</a:t>
            </a:r>
            <a:endParaRPr lang="en-US" sz="850" dirty="0"/>
          </a:p>
        </p:txBody>
      </p:sp>
      <p:sp>
        <p:nvSpPr>
          <p:cNvPr id="76" name="Shape 74"/>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77" name="Text 75"/>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CENTRALITA CLOUD · UC&amp;C</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444444"/>
                </a:solidFill>
                <a:latin typeface="Calibri" pitchFamily="34" charset="0"/>
                <a:ea typeface="Calibri" pitchFamily="34" charset="-122"/>
                <a:cs typeface="Calibri" pitchFamily="34" charset="-120"/>
              </a:rPr>
              <a:t>Comunicaciones Unificadas y Colaboración · Servicio cloud multitenant sin inversión en hardware</a:t>
            </a:r>
            <a:endParaRPr lang="en-US" sz="1000" dirty="0"/>
          </a:p>
        </p:txBody>
      </p:sp>
      <p:sp>
        <p:nvSpPr>
          <p:cNvPr id="6" name="Shape 4"/>
          <p:cNvSpPr/>
          <p:nvPr/>
        </p:nvSpPr>
        <p:spPr>
          <a:xfrm>
            <a:off x="256032" y="1005840"/>
            <a:ext cx="4160520" cy="1234440"/>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05840"/>
            <a:ext cx="64008" cy="1234440"/>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438912" y="1051560"/>
            <a:ext cx="3840480" cy="292608"/>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¿Qué es LynksIP?</a:t>
            </a:r>
            <a:endParaRPr lang="en-US" sz="1200" dirty="0"/>
          </a:p>
        </p:txBody>
      </p:sp>
      <p:sp>
        <p:nvSpPr>
          <p:cNvPr id="9" name="Shape 7"/>
          <p:cNvSpPr/>
          <p:nvPr/>
        </p:nvSpPr>
        <p:spPr>
          <a:xfrm>
            <a:off x="457200" y="1389888"/>
            <a:ext cx="45720" cy="146304"/>
          </a:xfrm>
          <a:prstGeom prst="rect">
            <a:avLst/>
          </a:prstGeom>
          <a:solidFill>
            <a:srgbClr val="45C241"/>
          </a:solidFill>
          <a:ln w="12700">
            <a:solidFill>
              <a:srgbClr val="45C241"/>
            </a:solidFill>
            <a:prstDash val="solid"/>
          </a:ln>
        </p:spPr>
        <p:txBody>
          <a:bodyPr/>
          <a:lstStyle/>
          <a:p>
            <a:endParaRPr lang="es-ES"/>
          </a:p>
        </p:txBody>
      </p:sp>
      <p:sp>
        <p:nvSpPr>
          <p:cNvPr id="10" name="Text 8"/>
          <p:cNvSpPr/>
          <p:nvPr/>
        </p:nvSpPr>
        <p:spPr>
          <a:xfrm>
            <a:off x="594360" y="1389888"/>
            <a:ext cx="3703320" cy="18288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Servicio de comunicaciones cloud y multitenant</a:t>
            </a:r>
            <a:endParaRPr lang="en-US" sz="950" dirty="0"/>
          </a:p>
        </p:txBody>
      </p:sp>
      <p:sp>
        <p:nvSpPr>
          <p:cNvPr id="11" name="Shape 9"/>
          <p:cNvSpPr/>
          <p:nvPr/>
        </p:nvSpPr>
        <p:spPr>
          <a:xfrm>
            <a:off x="457200" y="1591056"/>
            <a:ext cx="45720" cy="146304"/>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594360" y="1591056"/>
            <a:ext cx="3703320" cy="18288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Sin inversión en hardware ni mantenimiento</a:t>
            </a:r>
            <a:endParaRPr lang="en-US" sz="950" dirty="0"/>
          </a:p>
        </p:txBody>
      </p:sp>
      <p:sp>
        <p:nvSpPr>
          <p:cNvPr id="13" name="Shape 11"/>
          <p:cNvSpPr/>
          <p:nvPr/>
        </p:nvSpPr>
        <p:spPr>
          <a:xfrm>
            <a:off x="457200" y="1792224"/>
            <a:ext cx="45720" cy="146304"/>
          </a:xfrm>
          <a:prstGeom prst="rect">
            <a:avLst/>
          </a:prstGeom>
          <a:solidFill>
            <a:srgbClr val="45C241"/>
          </a:solidFill>
          <a:ln w="12700">
            <a:solidFill>
              <a:srgbClr val="45C241"/>
            </a:solidFill>
            <a:prstDash val="solid"/>
          </a:ln>
        </p:spPr>
        <p:txBody>
          <a:bodyPr/>
          <a:lstStyle/>
          <a:p>
            <a:endParaRPr lang="es-ES"/>
          </a:p>
        </p:txBody>
      </p:sp>
      <p:sp>
        <p:nvSpPr>
          <p:cNvPr id="14" name="Text 12"/>
          <p:cNvSpPr/>
          <p:nvPr/>
        </p:nvSpPr>
        <p:spPr>
          <a:xfrm>
            <a:off x="594360" y="1792224"/>
            <a:ext cx="3703320" cy="18288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Flexible y escalable según necesidades reales</a:t>
            </a:r>
            <a:endParaRPr lang="en-US" sz="950" dirty="0"/>
          </a:p>
        </p:txBody>
      </p:sp>
      <p:sp>
        <p:nvSpPr>
          <p:cNvPr id="15" name="Shape 13"/>
          <p:cNvSpPr/>
          <p:nvPr/>
        </p:nvSpPr>
        <p:spPr>
          <a:xfrm>
            <a:off x="457200" y="1993392"/>
            <a:ext cx="45720" cy="146304"/>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594360" y="1993392"/>
            <a:ext cx="3703320" cy="18288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Integración con las herramientas del día a día</a:t>
            </a:r>
            <a:endParaRPr lang="en-US" sz="950" dirty="0"/>
          </a:p>
        </p:txBody>
      </p:sp>
      <p:sp>
        <p:nvSpPr>
          <p:cNvPr id="17" name="Shape 15"/>
          <p:cNvSpPr/>
          <p:nvPr/>
        </p:nvSpPr>
        <p:spPr>
          <a:xfrm>
            <a:off x="4572000" y="1005840"/>
            <a:ext cx="4343400" cy="292608"/>
          </a:xfrm>
          <a:prstGeom prst="rect">
            <a:avLst/>
          </a:prstGeom>
          <a:solidFill>
            <a:srgbClr val="1A1A1A"/>
          </a:solidFill>
          <a:ln w="12700">
            <a:solidFill>
              <a:srgbClr val="1A1A1A"/>
            </a:solidFill>
            <a:prstDash val="solid"/>
          </a:ln>
        </p:spPr>
        <p:txBody>
          <a:bodyPr/>
          <a:lstStyle/>
          <a:p>
            <a:endParaRPr lang="es-ES"/>
          </a:p>
        </p:txBody>
      </p:sp>
      <p:sp>
        <p:nvSpPr>
          <p:cNvPr id="18" name="Text 16"/>
          <p:cNvSpPr/>
          <p:nvPr/>
        </p:nvSpPr>
        <p:spPr>
          <a:xfrm>
            <a:off x="4572000" y="1005840"/>
            <a:ext cx="4343400" cy="292608"/>
          </a:xfrm>
          <a:prstGeom prst="rect">
            <a:avLst/>
          </a:prstGeom>
          <a:noFill/>
          <a:ln/>
        </p:spPr>
        <p:txBody>
          <a:bodyPr wrap="square" lIns="0" tIns="0" rIns="0" bIns="0" rtlCol="0" anchor="ctr"/>
          <a:lstStyle/>
          <a:p>
            <a:pPr marL="0" indent="0" algn="ctr">
              <a:buNone/>
            </a:pPr>
            <a:r>
              <a:rPr lang="en-US" sz="900" b="1" dirty="0">
                <a:solidFill>
                  <a:srgbClr val="45C241"/>
                </a:solidFill>
                <a:latin typeface="Calibri" pitchFamily="34" charset="0"/>
                <a:ea typeface="Calibri" pitchFamily="34" charset="-122"/>
                <a:cs typeface="Calibri" pitchFamily="34" charset="-120"/>
              </a:rPr>
              <a:t>PRESTACIONES — CONFIGURACIÓN DEL SERVICIO</a:t>
            </a:r>
            <a:endParaRPr lang="en-US" sz="900" dirty="0"/>
          </a:p>
        </p:txBody>
      </p:sp>
      <p:sp>
        <p:nvSpPr>
          <p:cNvPr id="19" name="Shape 17"/>
          <p:cNvSpPr/>
          <p:nvPr/>
        </p:nvSpPr>
        <p:spPr>
          <a:xfrm>
            <a:off x="4590288" y="1353312"/>
            <a:ext cx="2103120" cy="292608"/>
          </a:xfrm>
          <a:prstGeom prst="rect">
            <a:avLst/>
          </a:prstGeom>
          <a:solidFill>
            <a:srgbClr val="F5F5F5"/>
          </a:solidFill>
          <a:ln w="12700">
            <a:solidFill>
              <a:srgbClr val="E0E0E0"/>
            </a:solidFill>
            <a:prstDash val="solid"/>
          </a:ln>
        </p:spPr>
        <p:txBody>
          <a:bodyPr/>
          <a:lstStyle/>
          <a:p>
            <a:endParaRPr lang="es-ES"/>
          </a:p>
        </p:txBody>
      </p:sp>
      <p:sp>
        <p:nvSpPr>
          <p:cNvPr id="20" name="Shape 18"/>
          <p:cNvSpPr/>
          <p:nvPr/>
        </p:nvSpPr>
        <p:spPr>
          <a:xfrm>
            <a:off x="4590288" y="1353312"/>
            <a:ext cx="45720" cy="292608"/>
          </a:xfrm>
          <a:prstGeom prst="rect">
            <a:avLst/>
          </a:prstGeom>
          <a:solidFill>
            <a:srgbClr val="45C241"/>
          </a:solidFill>
          <a:ln w="12700">
            <a:solidFill>
              <a:srgbClr val="45C241"/>
            </a:solidFill>
            <a:prstDash val="solid"/>
          </a:ln>
        </p:spPr>
        <p:txBody>
          <a:bodyPr/>
          <a:lstStyle/>
          <a:p>
            <a:endParaRPr lang="es-ES"/>
          </a:p>
        </p:txBody>
      </p:sp>
      <p:sp>
        <p:nvSpPr>
          <p:cNvPr id="21" name="Text 19"/>
          <p:cNvSpPr/>
          <p:nvPr/>
        </p:nvSpPr>
        <p:spPr>
          <a:xfrm>
            <a:off x="4681728" y="1389888"/>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Gestión de llamadas entrantes</a:t>
            </a:r>
            <a:endParaRPr lang="en-US" sz="850" dirty="0"/>
          </a:p>
        </p:txBody>
      </p:sp>
      <p:sp>
        <p:nvSpPr>
          <p:cNvPr id="22" name="Shape 20"/>
          <p:cNvSpPr/>
          <p:nvPr/>
        </p:nvSpPr>
        <p:spPr>
          <a:xfrm>
            <a:off x="4590288" y="1691640"/>
            <a:ext cx="2103120" cy="292608"/>
          </a:xfrm>
          <a:prstGeom prst="rect">
            <a:avLst/>
          </a:prstGeom>
          <a:solidFill>
            <a:srgbClr val="FFFFFF"/>
          </a:solidFill>
          <a:ln w="12700">
            <a:solidFill>
              <a:srgbClr val="E0E0E0"/>
            </a:solidFill>
            <a:prstDash val="solid"/>
          </a:ln>
        </p:spPr>
        <p:txBody>
          <a:bodyPr/>
          <a:lstStyle/>
          <a:p>
            <a:endParaRPr lang="es-ES"/>
          </a:p>
        </p:txBody>
      </p:sp>
      <p:sp>
        <p:nvSpPr>
          <p:cNvPr id="23" name="Shape 21"/>
          <p:cNvSpPr/>
          <p:nvPr/>
        </p:nvSpPr>
        <p:spPr>
          <a:xfrm>
            <a:off x="4590288" y="1691640"/>
            <a:ext cx="45720" cy="292608"/>
          </a:xfrm>
          <a:prstGeom prst="rect">
            <a:avLst/>
          </a:prstGeom>
          <a:solidFill>
            <a:srgbClr val="45C241"/>
          </a:solidFill>
          <a:ln w="12700">
            <a:solidFill>
              <a:srgbClr val="45C241"/>
            </a:solidFill>
            <a:prstDash val="solid"/>
          </a:ln>
        </p:spPr>
        <p:txBody>
          <a:bodyPr/>
          <a:lstStyle/>
          <a:p>
            <a:endParaRPr lang="es-ES"/>
          </a:p>
        </p:txBody>
      </p:sp>
      <p:sp>
        <p:nvSpPr>
          <p:cNvPr id="24" name="Text 22"/>
          <p:cNvSpPr/>
          <p:nvPr/>
        </p:nvSpPr>
        <p:spPr>
          <a:xfrm>
            <a:off x="4681728" y="1728216"/>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IVR multinivel (operadora automática)</a:t>
            </a:r>
            <a:endParaRPr lang="en-US" sz="850" dirty="0"/>
          </a:p>
        </p:txBody>
      </p:sp>
      <p:sp>
        <p:nvSpPr>
          <p:cNvPr id="25" name="Shape 23"/>
          <p:cNvSpPr/>
          <p:nvPr/>
        </p:nvSpPr>
        <p:spPr>
          <a:xfrm>
            <a:off x="4590288" y="2029968"/>
            <a:ext cx="2103120" cy="292608"/>
          </a:xfrm>
          <a:prstGeom prst="rect">
            <a:avLst/>
          </a:prstGeom>
          <a:solidFill>
            <a:srgbClr val="F5F5F5"/>
          </a:solidFill>
          <a:ln w="12700">
            <a:solidFill>
              <a:srgbClr val="E0E0E0"/>
            </a:solidFill>
            <a:prstDash val="solid"/>
          </a:ln>
        </p:spPr>
        <p:txBody>
          <a:bodyPr/>
          <a:lstStyle/>
          <a:p>
            <a:endParaRPr lang="es-ES"/>
          </a:p>
        </p:txBody>
      </p:sp>
      <p:sp>
        <p:nvSpPr>
          <p:cNvPr id="26" name="Shape 24"/>
          <p:cNvSpPr/>
          <p:nvPr/>
        </p:nvSpPr>
        <p:spPr>
          <a:xfrm>
            <a:off x="4590288" y="2029968"/>
            <a:ext cx="45720" cy="292608"/>
          </a:xfrm>
          <a:prstGeom prst="rect">
            <a:avLst/>
          </a:prstGeom>
          <a:solidFill>
            <a:srgbClr val="45C241"/>
          </a:solidFill>
          <a:ln w="12700">
            <a:solidFill>
              <a:srgbClr val="45C241"/>
            </a:solidFill>
            <a:prstDash val="solid"/>
          </a:ln>
        </p:spPr>
        <p:txBody>
          <a:bodyPr/>
          <a:lstStyle/>
          <a:p>
            <a:endParaRPr lang="es-ES"/>
          </a:p>
        </p:txBody>
      </p:sp>
      <p:sp>
        <p:nvSpPr>
          <p:cNvPr id="27" name="Text 25"/>
          <p:cNvSpPr/>
          <p:nvPr/>
        </p:nvSpPr>
        <p:spPr>
          <a:xfrm>
            <a:off x="4681728" y="2066544"/>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Buzón de voz (mail/web/teléfono)</a:t>
            </a:r>
            <a:endParaRPr lang="en-US" sz="850" dirty="0"/>
          </a:p>
        </p:txBody>
      </p:sp>
      <p:sp>
        <p:nvSpPr>
          <p:cNvPr id="28" name="Shape 26"/>
          <p:cNvSpPr/>
          <p:nvPr/>
        </p:nvSpPr>
        <p:spPr>
          <a:xfrm>
            <a:off x="4590288" y="2368296"/>
            <a:ext cx="2103120" cy="292608"/>
          </a:xfrm>
          <a:prstGeom prst="rect">
            <a:avLst/>
          </a:prstGeom>
          <a:solidFill>
            <a:srgbClr val="FFFFFF"/>
          </a:solidFill>
          <a:ln w="12700">
            <a:solidFill>
              <a:srgbClr val="E0E0E0"/>
            </a:solidFill>
            <a:prstDash val="solid"/>
          </a:ln>
        </p:spPr>
        <p:txBody>
          <a:bodyPr/>
          <a:lstStyle/>
          <a:p>
            <a:endParaRPr lang="es-ES"/>
          </a:p>
        </p:txBody>
      </p:sp>
      <p:sp>
        <p:nvSpPr>
          <p:cNvPr id="29" name="Shape 27"/>
          <p:cNvSpPr/>
          <p:nvPr/>
        </p:nvSpPr>
        <p:spPr>
          <a:xfrm>
            <a:off x="4590288" y="2368296"/>
            <a:ext cx="45720" cy="292608"/>
          </a:xfrm>
          <a:prstGeom prst="rect">
            <a:avLst/>
          </a:prstGeom>
          <a:solidFill>
            <a:srgbClr val="45C241"/>
          </a:solidFill>
          <a:ln w="12700">
            <a:solidFill>
              <a:srgbClr val="45C241"/>
            </a:solidFill>
            <a:prstDash val="solid"/>
          </a:ln>
        </p:spPr>
        <p:txBody>
          <a:bodyPr/>
          <a:lstStyle/>
          <a:p>
            <a:endParaRPr lang="es-ES"/>
          </a:p>
        </p:txBody>
      </p:sp>
      <p:sp>
        <p:nvSpPr>
          <p:cNvPr id="30" name="Text 28"/>
          <p:cNvSpPr/>
          <p:nvPr/>
        </p:nvSpPr>
        <p:spPr>
          <a:xfrm>
            <a:off x="4681728" y="2404872"/>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Multi-registro y multidispositivo</a:t>
            </a:r>
            <a:endParaRPr lang="en-US" sz="850" dirty="0"/>
          </a:p>
        </p:txBody>
      </p:sp>
      <p:sp>
        <p:nvSpPr>
          <p:cNvPr id="31" name="Shape 29"/>
          <p:cNvSpPr/>
          <p:nvPr/>
        </p:nvSpPr>
        <p:spPr>
          <a:xfrm>
            <a:off x="4590288" y="2706624"/>
            <a:ext cx="2103120" cy="292608"/>
          </a:xfrm>
          <a:prstGeom prst="rect">
            <a:avLst/>
          </a:prstGeom>
          <a:solidFill>
            <a:srgbClr val="F5F5F5"/>
          </a:solidFill>
          <a:ln w="12700">
            <a:solidFill>
              <a:srgbClr val="E0E0E0"/>
            </a:solidFill>
            <a:prstDash val="solid"/>
          </a:ln>
        </p:spPr>
        <p:txBody>
          <a:bodyPr/>
          <a:lstStyle/>
          <a:p>
            <a:endParaRPr lang="es-ES"/>
          </a:p>
        </p:txBody>
      </p:sp>
      <p:sp>
        <p:nvSpPr>
          <p:cNvPr id="32" name="Shape 30"/>
          <p:cNvSpPr/>
          <p:nvPr/>
        </p:nvSpPr>
        <p:spPr>
          <a:xfrm>
            <a:off x="4590288" y="2706624"/>
            <a:ext cx="45720" cy="292608"/>
          </a:xfrm>
          <a:prstGeom prst="rect">
            <a:avLst/>
          </a:prstGeom>
          <a:solidFill>
            <a:srgbClr val="45C241"/>
          </a:solidFill>
          <a:ln w="12700">
            <a:solidFill>
              <a:srgbClr val="45C241"/>
            </a:solidFill>
            <a:prstDash val="solid"/>
          </a:ln>
        </p:spPr>
        <p:txBody>
          <a:bodyPr/>
          <a:lstStyle/>
          <a:p>
            <a:endParaRPr lang="es-ES"/>
          </a:p>
        </p:txBody>
      </p:sp>
      <p:sp>
        <p:nvSpPr>
          <p:cNvPr id="33" name="Text 31"/>
          <p:cNvSpPr/>
          <p:nvPr/>
        </p:nvSpPr>
        <p:spPr>
          <a:xfrm>
            <a:off x="4681728" y="2743200"/>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Monitor de extensiones en tiempo real</a:t>
            </a:r>
            <a:endParaRPr lang="en-US" sz="850" dirty="0"/>
          </a:p>
        </p:txBody>
      </p:sp>
      <p:sp>
        <p:nvSpPr>
          <p:cNvPr id="34" name="Shape 32"/>
          <p:cNvSpPr/>
          <p:nvPr/>
        </p:nvSpPr>
        <p:spPr>
          <a:xfrm>
            <a:off x="4590288" y="3044952"/>
            <a:ext cx="2103120" cy="292608"/>
          </a:xfrm>
          <a:prstGeom prst="rect">
            <a:avLst/>
          </a:prstGeom>
          <a:solidFill>
            <a:srgbClr val="FFFFFF"/>
          </a:solidFill>
          <a:ln w="12700">
            <a:solidFill>
              <a:srgbClr val="E0E0E0"/>
            </a:solidFill>
            <a:prstDash val="solid"/>
          </a:ln>
        </p:spPr>
        <p:txBody>
          <a:bodyPr/>
          <a:lstStyle/>
          <a:p>
            <a:endParaRPr lang="es-ES"/>
          </a:p>
        </p:txBody>
      </p:sp>
      <p:sp>
        <p:nvSpPr>
          <p:cNvPr id="35" name="Shape 33"/>
          <p:cNvSpPr/>
          <p:nvPr/>
        </p:nvSpPr>
        <p:spPr>
          <a:xfrm>
            <a:off x="4590288" y="3044952"/>
            <a:ext cx="45720" cy="292608"/>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4681728" y="3081528"/>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Grabación de llamadas</a:t>
            </a:r>
            <a:endParaRPr lang="en-US" sz="850" dirty="0"/>
          </a:p>
        </p:txBody>
      </p:sp>
      <p:sp>
        <p:nvSpPr>
          <p:cNvPr id="37" name="Shape 35"/>
          <p:cNvSpPr/>
          <p:nvPr/>
        </p:nvSpPr>
        <p:spPr>
          <a:xfrm>
            <a:off x="4590288" y="3383280"/>
            <a:ext cx="2103120" cy="292608"/>
          </a:xfrm>
          <a:prstGeom prst="rect">
            <a:avLst/>
          </a:prstGeom>
          <a:solidFill>
            <a:srgbClr val="F5F5F5"/>
          </a:solidFill>
          <a:ln w="12700">
            <a:solidFill>
              <a:srgbClr val="E0E0E0"/>
            </a:solidFill>
            <a:prstDash val="solid"/>
          </a:ln>
        </p:spPr>
        <p:txBody>
          <a:bodyPr/>
          <a:lstStyle/>
          <a:p>
            <a:endParaRPr lang="es-ES"/>
          </a:p>
        </p:txBody>
      </p:sp>
      <p:sp>
        <p:nvSpPr>
          <p:cNvPr id="38" name="Shape 36"/>
          <p:cNvSpPr/>
          <p:nvPr/>
        </p:nvSpPr>
        <p:spPr>
          <a:xfrm>
            <a:off x="4590288" y="3383280"/>
            <a:ext cx="45720" cy="292608"/>
          </a:xfrm>
          <a:prstGeom prst="rect">
            <a:avLst/>
          </a:prstGeom>
          <a:solidFill>
            <a:srgbClr val="45C241"/>
          </a:solidFill>
          <a:ln w="12700">
            <a:solidFill>
              <a:srgbClr val="45C241"/>
            </a:solidFill>
            <a:prstDash val="solid"/>
          </a:ln>
        </p:spPr>
        <p:txBody>
          <a:bodyPr/>
          <a:lstStyle/>
          <a:p>
            <a:endParaRPr lang="es-ES"/>
          </a:p>
        </p:txBody>
      </p:sp>
      <p:sp>
        <p:nvSpPr>
          <p:cNvPr id="39" name="Text 37"/>
          <p:cNvSpPr/>
          <p:nvPr/>
        </p:nvSpPr>
        <p:spPr>
          <a:xfrm>
            <a:off x="4681728" y="3419856"/>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Grupos y colas de llamadas</a:t>
            </a:r>
            <a:endParaRPr lang="en-US" sz="850" dirty="0"/>
          </a:p>
        </p:txBody>
      </p:sp>
      <p:sp>
        <p:nvSpPr>
          <p:cNvPr id="40" name="Shape 38"/>
          <p:cNvSpPr/>
          <p:nvPr/>
        </p:nvSpPr>
        <p:spPr>
          <a:xfrm>
            <a:off x="4590288" y="3721608"/>
            <a:ext cx="2103120" cy="292608"/>
          </a:xfrm>
          <a:prstGeom prst="rect">
            <a:avLst/>
          </a:prstGeom>
          <a:solidFill>
            <a:srgbClr val="FFFFFF"/>
          </a:solidFill>
          <a:ln w="12700">
            <a:solidFill>
              <a:srgbClr val="E0E0E0"/>
            </a:solidFill>
            <a:prstDash val="solid"/>
          </a:ln>
        </p:spPr>
        <p:txBody>
          <a:bodyPr/>
          <a:lstStyle/>
          <a:p>
            <a:endParaRPr lang="es-ES"/>
          </a:p>
        </p:txBody>
      </p:sp>
      <p:sp>
        <p:nvSpPr>
          <p:cNvPr id="41" name="Shape 39"/>
          <p:cNvSpPr/>
          <p:nvPr/>
        </p:nvSpPr>
        <p:spPr>
          <a:xfrm>
            <a:off x="4590288" y="3721608"/>
            <a:ext cx="45720" cy="292608"/>
          </a:xfrm>
          <a:prstGeom prst="rect">
            <a:avLst/>
          </a:prstGeom>
          <a:solidFill>
            <a:srgbClr val="45C241"/>
          </a:solidFill>
          <a:ln w="12700">
            <a:solidFill>
              <a:srgbClr val="45C241"/>
            </a:solidFill>
            <a:prstDash val="solid"/>
          </a:ln>
        </p:spPr>
        <p:txBody>
          <a:bodyPr/>
          <a:lstStyle/>
          <a:p>
            <a:endParaRPr lang="es-ES"/>
          </a:p>
        </p:txBody>
      </p:sp>
      <p:sp>
        <p:nvSpPr>
          <p:cNvPr id="42" name="Text 40"/>
          <p:cNvSpPr/>
          <p:nvPr/>
        </p:nvSpPr>
        <p:spPr>
          <a:xfrm>
            <a:off x="4681728" y="3758184"/>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Agenda corporativa</a:t>
            </a:r>
            <a:endParaRPr lang="en-US" sz="850" dirty="0"/>
          </a:p>
        </p:txBody>
      </p:sp>
      <p:sp>
        <p:nvSpPr>
          <p:cNvPr id="43" name="Shape 41"/>
          <p:cNvSpPr/>
          <p:nvPr/>
        </p:nvSpPr>
        <p:spPr>
          <a:xfrm>
            <a:off x="6766560" y="1353312"/>
            <a:ext cx="2103120" cy="292608"/>
          </a:xfrm>
          <a:prstGeom prst="rect">
            <a:avLst/>
          </a:prstGeom>
          <a:solidFill>
            <a:srgbClr val="F5F5F5"/>
          </a:solidFill>
          <a:ln w="12700">
            <a:solidFill>
              <a:srgbClr val="E0E0E0"/>
            </a:solidFill>
            <a:prstDash val="solid"/>
          </a:ln>
        </p:spPr>
        <p:txBody>
          <a:bodyPr/>
          <a:lstStyle/>
          <a:p>
            <a:endParaRPr lang="es-ES"/>
          </a:p>
        </p:txBody>
      </p:sp>
      <p:sp>
        <p:nvSpPr>
          <p:cNvPr id="44" name="Shape 42"/>
          <p:cNvSpPr/>
          <p:nvPr/>
        </p:nvSpPr>
        <p:spPr>
          <a:xfrm>
            <a:off x="6766560" y="1353312"/>
            <a:ext cx="45720" cy="292608"/>
          </a:xfrm>
          <a:prstGeom prst="rect">
            <a:avLst/>
          </a:prstGeom>
          <a:solidFill>
            <a:srgbClr val="45C241"/>
          </a:solidFill>
          <a:ln w="12700">
            <a:solidFill>
              <a:srgbClr val="45C241"/>
            </a:solidFill>
            <a:prstDash val="solid"/>
          </a:ln>
        </p:spPr>
        <p:txBody>
          <a:bodyPr/>
          <a:lstStyle/>
          <a:p>
            <a:endParaRPr lang="es-ES"/>
          </a:p>
        </p:txBody>
      </p:sp>
      <p:sp>
        <p:nvSpPr>
          <p:cNvPr id="45" name="Text 43"/>
          <p:cNvSpPr/>
          <p:nvPr/>
        </p:nvSpPr>
        <p:spPr>
          <a:xfrm>
            <a:off x="6858000" y="1389888"/>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Securización TLS de llamadas</a:t>
            </a:r>
            <a:endParaRPr lang="en-US" sz="850" dirty="0"/>
          </a:p>
        </p:txBody>
      </p:sp>
      <p:sp>
        <p:nvSpPr>
          <p:cNvPr id="46" name="Shape 44"/>
          <p:cNvSpPr/>
          <p:nvPr/>
        </p:nvSpPr>
        <p:spPr>
          <a:xfrm>
            <a:off x="6766560" y="1691640"/>
            <a:ext cx="2103120" cy="292608"/>
          </a:xfrm>
          <a:prstGeom prst="rect">
            <a:avLst/>
          </a:prstGeom>
          <a:solidFill>
            <a:srgbClr val="FFFFFF"/>
          </a:solidFill>
          <a:ln w="12700">
            <a:solidFill>
              <a:srgbClr val="E0E0E0"/>
            </a:solidFill>
            <a:prstDash val="solid"/>
          </a:ln>
        </p:spPr>
        <p:txBody>
          <a:bodyPr/>
          <a:lstStyle/>
          <a:p>
            <a:endParaRPr lang="es-ES"/>
          </a:p>
        </p:txBody>
      </p:sp>
      <p:sp>
        <p:nvSpPr>
          <p:cNvPr id="47" name="Shape 45"/>
          <p:cNvSpPr/>
          <p:nvPr/>
        </p:nvSpPr>
        <p:spPr>
          <a:xfrm>
            <a:off x="6766560" y="1691640"/>
            <a:ext cx="45720" cy="292608"/>
          </a:xfrm>
          <a:prstGeom prst="rect">
            <a:avLst/>
          </a:prstGeom>
          <a:solidFill>
            <a:srgbClr val="45C241"/>
          </a:solidFill>
          <a:ln w="12700">
            <a:solidFill>
              <a:srgbClr val="45C241"/>
            </a:solidFill>
            <a:prstDash val="solid"/>
          </a:ln>
        </p:spPr>
        <p:txBody>
          <a:bodyPr/>
          <a:lstStyle/>
          <a:p>
            <a:endParaRPr lang="es-ES"/>
          </a:p>
        </p:txBody>
      </p:sp>
      <p:sp>
        <p:nvSpPr>
          <p:cNvPr id="48" name="Text 46"/>
          <p:cNvSpPr/>
          <p:nvPr/>
        </p:nvSpPr>
        <p:spPr>
          <a:xfrm>
            <a:off x="6858000" y="1728216"/>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Cliente WebRTC</a:t>
            </a:r>
            <a:endParaRPr lang="en-US" sz="850" dirty="0"/>
          </a:p>
        </p:txBody>
      </p:sp>
      <p:sp>
        <p:nvSpPr>
          <p:cNvPr id="49" name="Shape 47"/>
          <p:cNvSpPr/>
          <p:nvPr/>
        </p:nvSpPr>
        <p:spPr>
          <a:xfrm>
            <a:off x="6766560" y="2029968"/>
            <a:ext cx="2103120" cy="292608"/>
          </a:xfrm>
          <a:prstGeom prst="rect">
            <a:avLst/>
          </a:prstGeom>
          <a:solidFill>
            <a:srgbClr val="F5F5F5"/>
          </a:solidFill>
          <a:ln w="12700">
            <a:solidFill>
              <a:srgbClr val="E0E0E0"/>
            </a:solidFill>
            <a:prstDash val="solid"/>
          </a:ln>
        </p:spPr>
        <p:txBody>
          <a:bodyPr/>
          <a:lstStyle/>
          <a:p>
            <a:endParaRPr lang="es-ES"/>
          </a:p>
        </p:txBody>
      </p:sp>
      <p:sp>
        <p:nvSpPr>
          <p:cNvPr id="50" name="Shape 48"/>
          <p:cNvSpPr/>
          <p:nvPr/>
        </p:nvSpPr>
        <p:spPr>
          <a:xfrm>
            <a:off x="6766560" y="2029968"/>
            <a:ext cx="45720" cy="292608"/>
          </a:xfrm>
          <a:prstGeom prst="rect">
            <a:avLst/>
          </a:prstGeom>
          <a:solidFill>
            <a:srgbClr val="45C241"/>
          </a:solidFill>
          <a:ln w="12700">
            <a:solidFill>
              <a:srgbClr val="45C241"/>
            </a:solidFill>
            <a:prstDash val="solid"/>
          </a:ln>
        </p:spPr>
        <p:txBody>
          <a:bodyPr/>
          <a:lstStyle/>
          <a:p>
            <a:endParaRPr lang="es-ES"/>
          </a:p>
        </p:txBody>
      </p:sp>
      <p:sp>
        <p:nvSpPr>
          <p:cNvPr id="51" name="Text 49"/>
          <p:cNvSpPr/>
          <p:nvPr/>
        </p:nvSpPr>
        <p:spPr>
          <a:xfrm>
            <a:off x="6858000" y="2066544"/>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Horarios y calendario de festivos</a:t>
            </a:r>
            <a:endParaRPr lang="en-US" sz="850" dirty="0"/>
          </a:p>
        </p:txBody>
      </p:sp>
      <p:sp>
        <p:nvSpPr>
          <p:cNvPr id="52" name="Shape 50"/>
          <p:cNvSpPr/>
          <p:nvPr/>
        </p:nvSpPr>
        <p:spPr>
          <a:xfrm>
            <a:off x="6766560" y="2368296"/>
            <a:ext cx="2103120" cy="292608"/>
          </a:xfrm>
          <a:prstGeom prst="rect">
            <a:avLst/>
          </a:prstGeom>
          <a:solidFill>
            <a:srgbClr val="FFFFFF"/>
          </a:solidFill>
          <a:ln w="12700">
            <a:solidFill>
              <a:srgbClr val="E0E0E0"/>
            </a:solidFill>
            <a:prstDash val="solid"/>
          </a:ln>
        </p:spPr>
        <p:txBody>
          <a:bodyPr/>
          <a:lstStyle/>
          <a:p>
            <a:endParaRPr lang="es-ES"/>
          </a:p>
        </p:txBody>
      </p:sp>
      <p:sp>
        <p:nvSpPr>
          <p:cNvPr id="53" name="Shape 51"/>
          <p:cNvSpPr/>
          <p:nvPr/>
        </p:nvSpPr>
        <p:spPr>
          <a:xfrm>
            <a:off x="6766560" y="2368296"/>
            <a:ext cx="45720" cy="292608"/>
          </a:xfrm>
          <a:prstGeom prst="rect">
            <a:avLst/>
          </a:prstGeom>
          <a:solidFill>
            <a:srgbClr val="45C241"/>
          </a:solidFill>
          <a:ln w="12700">
            <a:solidFill>
              <a:srgbClr val="45C241"/>
            </a:solidFill>
            <a:prstDash val="solid"/>
          </a:ln>
        </p:spPr>
        <p:txBody>
          <a:bodyPr/>
          <a:lstStyle/>
          <a:p>
            <a:endParaRPr lang="es-ES"/>
          </a:p>
        </p:txBody>
      </p:sp>
      <p:sp>
        <p:nvSpPr>
          <p:cNvPr id="54" name="Text 52"/>
          <p:cNvSpPr/>
          <p:nvPr/>
        </p:nvSpPr>
        <p:spPr>
          <a:xfrm>
            <a:off x="6858000" y="2404872"/>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Enrutamiento por número llamante</a:t>
            </a:r>
            <a:endParaRPr lang="en-US" sz="850" dirty="0"/>
          </a:p>
        </p:txBody>
      </p:sp>
      <p:sp>
        <p:nvSpPr>
          <p:cNvPr id="55" name="Shape 53"/>
          <p:cNvSpPr/>
          <p:nvPr/>
        </p:nvSpPr>
        <p:spPr>
          <a:xfrm>
            <a:off x="6766560" y="2706624"/>
            <a:ext cx="2103120" cy="292608"/>
          </a:xfrm>
          <a:prstGeom prst="rect">
            <a:avLst/>
          </a:prstGeom>
          <a:solidFill>
            <a:srgbClr val="F5F5F5"/>
          </a:solidFill>
          <a:ln w="12700">
            <a:solidFill>
              <a:srgbClr val="E0E0E0"/>
            </a:solidFill>
            <a:prstDash val="solid"/>
          </a:ln>
        </p:spPr>
        <p:txBody>
          <a:bodyPr/>
          <a:lstStyle/>
          <a:p>
            <a:endParaRPr lang="es-ES"/>
          </a:p>
        </p:txBody>
      </p:sp>
      <p:sp>
        <p:nvSpPr>
          <p:cNvPr id="56" name="Shape 54"/>
          <p:cNvSpPr/>
          <p:nvPr/>
        </p:nvSpPr>
        <p:spPr>
          <a:xfrm>
            <a:off x="6766560" y="2706624"/>
            <a:ext cx="45720" cy="292608"/>
          </a:xfrm>
          <a:prstGeom prst="rect">
            <a:avLst/>
          </a:prstGeom>
          <a:solidFill>
            <a:srgbClr val="45C241"/>
          </a:solidFill>
          <a:ln w="12700">
            <a:solidFill>
              <a:srgbClr val="45C241"/>
            </a:solidFill>
            <a:prstDash val="solid"/>
          </a:ln>
        </p:spPr>
        <p:txBody>
          <a:bodyPr/>
          <a:lstStyle/>
          <a:p>
            <a:endParaRPr lang="es-ES"/>
          </a:p>
        </p:txBody>
      </p:sp>
      <p:sp>
        <p:nvSpPr>
          <p:cNvPr id="57" name="Text 55"/>
          <p:cNvSpPr/>
          <p:nvPr/>
        </p:nvSpPr>
        <p:spPr>
          <a:xfrm>
            <a:off x="6858000" y="2743200"/>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Grupos de captura</a:t>
            </a:r>
            <a:endParaRPr lang="en-US" sz="850" dirty="0"/>
          </a:p>
        </p:txBody>
      </p:sp>
      <p:sp>
        <p:nvSpPr>
          <p:cNvPr id="58" name="Shape 56"/>
          <p:cNvSpPr/>
          <p:nvPr/>
        </p:nvSpPr>
        <p:spPr>
          <a:xfrm>
            <a:off x="6766560" y="3044952"/>
            <a:ext cx="2103120" cy="292608"/>
          </a:xfrm>
          <a:prstGeom prst="rect">
            <a:avLst/>
          </a:prstGeom>
          <a:solidFill>
            <a:srgbClr val="FFFFFF"/>
          </a:solidFill>
          <a:ln w="12700">
            <a:solidFill>
              <a:srgbClr val="E0E0E0"/>
            </a:solidFill>
            <a:prstDash val="solid"/>
          </a:ln>
        </p:spPr>
        <p:txBody>
          <a:bodyPr/>
          <a:lstStyle/>
          <a:p>
            <a:endParaRPr lang="es-ES"/>
          </a:p>
        </p:txBody>
      </p:sp>
      <p:sp>
        <p:nvSpPr>
          <p:cNvPr id="59" name="Shape 57"/>
          <p:cNvSpPr/>
          <p:nvPr/>
        </p:nvSpPr>
        <p:spPr>
          <a:xfrm>
            <a:off x="6766560" y="3044952"/>
            <a:ext cx="45720" cy="292608"/>
          </a:xfrm>
          <a:prstGeom prst="rect">
            <a:avLst/>
          </a:prstGeom>
          <a:solidFill>
            <a:srgbClr val="45C241"/>
          </a:solidFill>
          <a:ln w="12700">
            <a:solidFill>
              <a:srgbClr val="45C241"/>
            </a:solidFill>
            <a:prstDash val="solid"/>
          </a:ln>
        </p:spPr>
        <p:txBody>
          <a:bodyPr/>
          <a:lstStyle/>
          <a:p>
            <a:endParaRPr lang="es-ES"/>
          </a:p>
        </p:txBody>
      </p:sp>
      <p:sp>
        <p:nvSpPr>
          <p:cNvPr id="60" name="Text 58"/>
          <p:cNvSpPr/>
          <p:nvPr/>
        </p:nvSpPr>
        <p:spPr>
          <a:xfrm>
            <a:off x="6858000" y="3081528"/>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Modo no molestar · BLF Presencia</a:t>
            </a:r>
            <a:endParaRPr lang="en-US" sz="850" dirty="0"/>
          </a:p>
        </p:txBody>
      </p:sp>
      <p:sp>
        <p:nvSpPr>
          <p:cNvPr id="61" name="Shape 59"/>
          <p:cNvSpPr/>
          <p:nvPr/>
        </p:nvSpPr>
        <p:spPr>
          <a:xfrm>
            <a:off x="6766560" y="3383280"/>
            <a:ext cx="2103120" cy="292608"/>
          </a:xfrm>
          <a:prstGeom prst="rect">
            <a:avLst/>
          </a:prstGeom>
          <a:solidFill>
            <a:srgbClr val="F5F5F5"/>
          </a:solidFill>
          <a:ln w="12700">
            <a:solidFill>
              <a:srgbClr val="E0E0E0"/>
            </a:solidFill>
            <a:prstDash val="solid"/>
          </a:ln>
        </p:spPr>
        <p:txBody>
          <a:bodyPr/>
          <a:lstStyle/>
          <a:p>
            <a:endParaRPr lang="es-ES"/>
          </a:p>
        </p:txBody>
      </p:sp>
      <p:sp>
        <p:nvSpPr>
          <p:cNvPr id="62" name="Shape 60"/>
          <p:cNvSpPr/>
          <p:nvPr/>
        </p:nvSpPr>
        <p:spPr>
          <a:xfrm>
            <a:off x="6766560" y="3383280"/>
            <a:ext cx="45720" cy="292608"/>
          </a:xfrm>
          <a:prstGeom prst="rect">
            <a:avLst/>
          </a:prstGeom>
          <a:solidFill>
            <a:srgbClr val="45C241"/>
          </a:solidFill>
          <a:ln w="12700">
            <a:solidFill>
              <a:srgbClr val="45C241"/>
            </a:solidFill>
            <a:prstDash val="solid"/>
          </a:ln>
        </p:spPr>
        <p:txBody>
          <a:bodyPr/>
          <a:lstStyle/>
          <a:p>
            <a:endParaRPr lang="es-ES"/>
          </a:p>
        </p:txBody>
      </p:sp>
      <p:sp>
        <p:nvSpPr>
          <p:cNvPr id="63" name="Text 61"/>
          <p:cNvSpPr/>
          <p:nvPr/>
        </p:nvSpPr>
        <p:spPr>
          <a:xfrm>
            <a:off x="6858000" y="3419856"/>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Caller ID seleccionable</a:t>
            </a:r>
            <a:endParaRPr lang="en-US" sz="850" dirty="0"/>
          </a:p>
        </p:txBody>
      </p:sp>
      <p:sp>
        <p:nvSpPr>
          <p:cNvPr id="64" name="Shape 62"/>
          <p:cNvSpPr/>
          <p:nvPr/>
        </p:nvSpPr>
        <p:spPr>
          <a:xfrm>
            <a:off x="6766560" y="3721608"/>
            <a:ext cx="2103120" cy="292608"/>
          </a:xfrm>
          <a:prstGeom prst="rect">
            <a:avLst/>
          </a:prstGeom>
          <a:solidFill>
            <a:srgbClr val="FFFFFF"/>
          </a:solidFill>
          <a:ln w="12700">
            <a:solidFill>
              <a:srgbClr val="E0E0E0"/>
            </a:solidFill>
            <a:prstDash val="solid"/>
          </a:ln>
        </p:spPr>
        <p:txBody>
          <a:bodyPr/>
          <a:lstStyle/>
          <a:p>
            <a:endParaRPr lang="es-ES"/>
          </a:p>
        </p:txBody>
      </p:sp>
      <p:sp>
        <p:nvSpPr>
          <p:cNvPr id="65" name="Shape 63"/>
          <p:cNvSpPr/>
          <p:nvPr/>
        </p:nvSpPr>
        <p:spPr>
          <a:xfrm>
            <a:off x="6766560" y="3721608"/>
            <a:ext cx="45720" cy="292608"/>
          </a:xfrm>
          <a:prstGeom prst="rect">
            <a:avLst/>
          </a:prstGeom>
          <a:solidFill>
            <a:srgbClr val="45C241"/>
          </a:solidFill>
          <a:ln w="12700">
            <a:solidFill>
              <a:srgbClr val="45C241"/>
            </a:solidFill>
            <a:prstDash val="solid"/>
          </a:ln>
        </p:spPr>
        <p:txBody>
          <a:bodyPr/>
          <a:lstStyle/>
          <a:p>
            <a:endParaRPr lang="es-ES"/>
          </a:p>
        </p:txBody>
      </p:sp>
      <p:sp>
        <p:nvSpPr>
          <p:cNvPr id="66" name="Text 64"/>
          <p:cNvSpPr/>
          <p:nvPr/>
        </p:nvSpPr>
        <p:spPr>
          <a:xfrm>
            <a:off x="6858000" y="3758184"/>
            <a:ext cx="1965960" cy="219456"/>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Dial plan personalizable</a:t>
            </a:r>
            <a:endParaRPr lang="en-US" sz="850" dirty="0"/>
          </a:p>
        </p:txBody>
      </p:sp>
      <p:sp>
        <p:nvSpPr>
          <p:cNvPr id="67" name="Shape 65"/>
          <p:cNvSpPr/>
          <p:nvPr/>
        </p:nvSpPr>
        <p:spPr>
          <a:xfrm>
            <a:off x="256032" y="4434840"/>
            <a:ext cx="8686800" cy="292608"/>
          </a:xfrm>
          <a:prstGeom prst="rect">
            <a:avLst/>
          </a:prstGeom>
          <a:solidFill>
            <a:srgbClr val="1A1A1A"/>
          </a:solidFill>
          <a:ln w="12700">
            <a:solidFill>
              <a:srgbClr val="1A1A1A"/>
            </a:solidFill>
            <a:prstDash val="solid"/>
          </a:ln>
        </p:spPr>
        <p:txBody>
          <a:bodyPr/>
          <a:lstStyle/>
          <a:p>
            <a:endParaRPr lang="es-ES"/>
          </a:p>
        </p:txBody>
      </p:sp>
      <p:sp>
        <p:nvSpPr>
          <p:cNvPr id="68" name="Shape 66"/>
          <p:cNvSpPr/>
          <p:nvPr/>
        </p:nvSpPr>
        <p:spPr>
          <a:xfrm>
            <a:off x="256032" y="4434840"/>
            <a:ext cx="64008" cy="292608"/>
          </a:xfrm>
          <a:prstGeom prst="rect">
            <a:avLst/>
          </a:prstGeom>
          <a:solidFill>
            <a:srgbClr val="45C241"/>
          </a:solidFill>
          <a:ln w="12700">
            <a:solidFill>
              <a:srgbClr val="45C241"/>
            </a:solidFill>
            <a:prstDash val="solid"/>
          </a:ln>
        </p:spPr>
        <p:txBody>
          <a:bodyPr/>
          <a:lstStyle/>
          <a:p>
            <a:endParaRPr lang="es-ES"/>
          </a:p>
        </p:txBody>
      </p:sp>
      <p:sp>
        <p:nvSpPr>
          <p:cNvPr id="69" name="Text 67"/>
          <p:cNvSpPr/>
          <p:nvPr/>
        </p:nvSpPr>
        <p:spPr>
          <a:xfrm>
            <a:off x="411480" y="4434840"/>
            <a:ext cx="8412480" cy="292608"/>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LYNKSPHONE  ·  App PC / Web / Móvil  ·  Chat y presencia  ·  Compartición de ficheros  ·  Videoconferencia interna y externa  ·  Control remoto  ·  Modos escucha y susurro</a:t>
            </a:r>
            <a:endParaRPr lang="en-US" sz="850" dirty="0"/>
          </a:p>
        </p:txBody>
      </p:sp>
      <p:sp>
        <p:nvSpPr>
          <p:cNvPr id="70" name="Shape 68"/>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71" name="Text 69"/>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INTEGRACIÓN CON CRM Y ENTORNOS DE GESTIÓN</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Vinculación nativa con los principales CRM del mercado · Telefonía embebida en tu plataforma de gestión</a:t>
            </a:r>
            <a:endParaRPr lang="en-US" sz="1000" dirty="0"/>
          </a:p>
        </p:txBody>
      </p:sp>
      <p:sp>
        <p:nvSpPr>
          <p:cNvPr id="6" name="Shape 4"/>
          <p:cNvSpPr/>
          <p:nvPr/>
        </p:nvSpPr>
        <p:spPr>
          <a:xfrm>
            <a:off x="256032" y="1024128"/>
            <a:ext cx="2807208" cy="192024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24128"/>
            <a:ext cx="2807208" cy="45720"/>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365760" y="1115568"/>
            <a:ext cx="2587752" cy="347472"/>
          </a:xfrm>
          <a:prstGeom prst="rect">
            <a:avLst/>
          </a:prstGeom>
          <a:noFill/>
          <a:ln/>
        </p:spPr>
        <p:txBody>
          <a:bodyPr wrap="square" lIns="0" tIns="0" rIns="0" bIns="0" rtlCol="0" anchor="ctr"/>
          <a:lstStyle/>
          <a:p>
            <a:pPr marL="0" indent="0">
              <a:buNone/>
            </a:pPr>
            <a:r>
              <a:rPr lang="en-US" sz="1100" b="1" dirty="0">
                <a:solidFill>
                  <a:srgbClr val="45C241"/>
                </a:solidFill>
                <a:latin typeface="Calibri" pitchFamily="34" charset="0"/>
                <a:ea typeface="Calibri" pitchFamily="34" charset="-122"/>
                <a:cs typeface="Calibri" pitchFamily="34" charset="-120"/>
              </a:rPr>
              <a:t>📋  Apertura automática de ficha</a:t>
            </a:r>
            <a:endParaRPr lang="en-US" sz="1100" dirty="0"/>
          </a:p>
        </p:txBody>
      </p:sp>
      <p:sp>
        <p:nvSpPr>
          <p:cNvPr id="9" name="Text 7"/>
          <p:cNvSpPr/>
          <p:nvPr/>
        </p:nvSpPr>
        <p:spPr>
          <a:xfrm>
            <a:off x="365760" y="1508760"/>
            <a:ext cx="2587752" cy="1298448"/>
          </a:xfrm>
          <a:prstGeom prst="rect">
            <a:avLst/>
          </a:prstGeom>
          <a:noFill/>
          <a:ln/>
        </p:spPr>
        <p:txBody>
          <a:bodyPr wrap="square" lIns="0" tIns="0" rIns="0" bIns="0" rtlCol="0" anchor="ctr"/>
          <a:lstStyle/>
          <a:p>
            <a:pPr marL="0" indent="0">
              <a:buNone/>
            </a:pPr>
            <a:r>
              <a:rPr lang="en-US" sz="950" dirty="0">
                <a:solidFill>
                  <a:srgbClr val="BBBBBB"/>
                </a:solidFill>
                <a:latin typeface="Calibri" pitchFamily="34" charset="0"/>
                <a:ea typeface="Calibri" pitchFamily="34" charset="-122"/>
                <a:cs typeface="Calibri" pitchFamily="34" charset="-120"/>
              </a:rPr>
              <a:t>Al recibir una llamada se abre automáticamente la ficha del contacto en el CRM, con inserción de actividad telefónica y envío de grabación.</a:t>
            </a:r>
            <a:endParaRPr lang="en-US" sz="950" dirty="0"/>
          </a:p>
        </p:txBody>
      </p:sp>
      <p:sp>
        <p:nvSpPr>
          <p:cNvPr id="10" name="Shape 8"/>
          <p:cNvSpPr/>
          <p:nvPr/>
        </p:nvSpPr>
        <p:spPr>
          <a:xfrm>
            <a:off x="3200400" y="1024128"/>
            <a:ext cx="2807208" cy="192024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11" name="Shape 9"/>
          <p:cNvSpPr/>
          <p:nvPr/>
        </p:nvSpPr>
        <p:spPr>
          <a:xfrm>
            <a:off x="3200400" y="1024128"/>
            <a:ext cx="2807208" cy="45720"/>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3310128" y="1115568"/>
            <a:ext cx="2587752" cy="347472"/>
          </a:xfrm>
          <a:prstGeom prst="rect">
            <a:avLst/>
          </a:prstGeom>
          <a:noFill/>
          <a:ln/>
        </p:spPr>
        <p:txBody>
          <a:bodyPr wrap="square" lIns="0" tIns="0" rIns="0" bIns="0" rtlCol="0" anchor="ctr"/>
          <a:lstStyle/>
          <a:p>
            <a:pPr marL="0" indent="0">
              <a:buNone/>
            </a:pPr>
            <a:r>
              <a:rPr lang="en-US" sz="1100" b="1" dirty="0">
                <a:solidFill>
                  <a:srgbClr val="45C241"/>
                </a:solidFill>
                <a:latin typeface="Calibri" pitchFamily="34" charset="0"/>
                <a:ea typeface="Calibri" pitchFamily="34" charset="-122"/>
                <a:cs typeface="Calibri" pitchFamily="34" charset="-120"/>
              </a:rPr>
              <a:t>📞  Teléfono embebido en CRM</a:t>
            </a:r>
            <a:endParaRPr lang="en-US" sz="1100" dirty="0"/>
          </a:p>
        </p:txBody>
      </p:sp>
      <p:sp>
        <p:nvSpPr>
          <p:cNvPr id="13" name="Text 11"/>
          <p:cNvSpPr/>
          <p:nvPr/>
        </p:nvSpPr>
        <p:spPr>
          <a:xfrm>
            <a:off x="3310128" y="1508760"/>
            <a:ext cx="2587752" cy="1298448"/>
          </a:xfrm>
          <a:prstGeom prst="rect">
            <a:avLst/>
          </a:prstGeom>
          <a:noFill/>
          <a:ln/>
        </p:spPr>
        <p:txBody>
          <a:bodyPr wrap="square" lIns="0" tIns="0" rIns="0" bIns="0" rtlCol="0" anchor="ctr"/>
          <a:lstStyle/>
          <a:p>
            <a:pPr marL="0" indent="0">
              <a:buNone/>
            </a:pPr>
            <a:r>
              <a:rPr lang="en-US" sz="950" dirty="0">
                <a:solidFill>
                  <a:srgbClr val="BBBBBB"/>
                </a:solidFill>
                <a:latin typeface="Calibri" pitchFamily="34" charset="0"/>
                <a:ea typeface="Calibri" pitchFamily="34" charset="-122"/>
                <a:cs typeface="Calibri" pitchFamily="34" charset="-120"/>
              </a:rPr>
              <a:t>Módulo Callpopup integrado directamente en el entorno del CRM. Compatible con soluciones locales como Clave i, A3ERP y plataformas online.</a:t>
            </a:r>
            <a:endParaRPr lang="en-US" sz="950" dirty="0"/>
          </a:p>
        </p:txBody>
      </p:sp>
      <p:sp>
        <p:nvSpPr>
          <p:cNvPr id="14" name="Shape 12"/>
          <p:cNvSpPr/>
          <p:nvPr/>
        </p:nvSpPr>
        <p:spPr>
          <a:xfrm>
            <a:off x="6144768" y="1024128"/>
            <a:ext cx="2807208" cy="192024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15" name="Shape 13"/>
          <p:cNvSpPr/>
          <p:nvPr/>
        </p:nvSpPr>
        <p:spPr>
          <a:xfrm>
            <a:off x="6144768" y="1024128"/>
            <a:ext cx="2807208" cy="45720"/>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6254496" y="1115568"/>
            <a:ext cx="2587752" cy="347472"/>
          </a:xfrm>
          <a:prstGeom prst="rect">
            <a:avLst/>
          </a:prstGeom>
          <a:noFill/>
          <a:ln/>
        </p:spPr>
        <p:txBody>
          <a:bodyPr wrap="square" lIns="0" tIns="0" rIns="0" bIns="0" rtlCol="0" anchor="ctr"/>
          <a:lstStyle/>
          <a:p>
            <a:pPr marL="0" indent="0">
              <a:buNone/>
            </a:pPr>
            <a:r>
              <a:rPr lang="en-US" sz="1100" b="1" dirty="0">
                <a:solidFill>
                  <a:srgbClr val="45C241"/>
                </a:solidFill>
                <a:latin typeface="Calibri" pitchFamily="34" charset="0"/>
                <a:ea typeface="Calibri" pitchFamily="34" charset="-122"/>
                <a:cs typeface="Calibri" pitchFamily="34" charset="-120"/>
              </a:rPr>
              <a:t>🔗  Routing por criterios CRM</a:t>
            </a:r>
            <a:endParaRPr lang="en-US" sz="1100" dirty="0"/>
          </a:p>
        </p:txBody>
      </p:sp>
      <p:sp>
        <p:nvSpPr>
          <p:cNvPr id="17" name="Text 15"/>
          <p:cNvSpPr/>
          <p:nvPr/>
        </p:nvSpPr>
        <p:spPr>
          <a:xfrm>
            <a:off x="6254496" y="1508760"/>
            <a:ext cx="2587752" cy="1298448"/>
          </a:xfrm>
          <a:prstGeom prst="rect">
            <a:avLst/>
          </a:prstGeom>
          <a:noFill/>
          <a:ln/>
        </p:spPr>
        <p:txBody>
          <a:bodyPr wrap="square" lIns="0" tIns="0" rIns="0" bIns="0" rtlCol="0" anchor="ctr"/>
          <a:lstStyle/>
          <a:p>
            <a:pPr marL="0" indent="0">
              <a:buNone/>
            </a:pPr>
            <a:r>
              <a:rPr lang="en-US" sz="950" dirty="0">
                <a:solidFill>
                  <a:srgbClr val="BBBBBB"/>
                </a:solidFill>
                <a:latin typeface="Calibri" pitchFamily="34" charset="0"/>
                <a:ea typeface="Calibri" pitchFamily="34" charset="-122"/>
                <a:cs typeface="Calibri" pitchFamily="34" charset="-120"/>
              </a:rPr>
              <a:t>Enrutamiento de llamadas basado en datos del CRM: agente asignado, estado del cliente, historial de contacto y reglas personalizables.</a:t>
            </a:r>
            <a:endParaRPr lang="en-US" sz="950" dirty="0"/>
          </a:p>
        </p:txBody>
      </p:sp>
      <p:sp>
        <p:nvSpPr>
          <p:cNvPr id="18" name="Text 16"/>
          <p:cNvSpPr/>
          <p:nvPr/>
        </p:nvSpPr>
        <p:spPr>
          <a:xfrm>
            <a:off x="256032" y="3090672"/>
            <a:ext cx="1828800" cy="274320"/>
          </a:xfrm>
          <a:prstGeom prst="rect">
            <a:avLst/>
          </a:prstGeom>
          <a:noFill/>
          <a:ln/>
        </p:spPr>
        <p:txBody>
          <a:bodyPr wrap="square" lIns="0" tIns="0" rIns="0" bIns="0" rtlCol="0" anchor="ctr"/>
          <a:lstStyle/>
          <a:p>
            <a:pPr marL="0" indent="0">
              <a:buNone/>
            </a:pPr>
            <a:r>
              <a:rPr lang="en-US" sz="900" b="1" dirty="0">
                <a:solidFill>
                  <a:srgbClr val="45C241"/>
                </a:solidFill>
                <a:latin typeface="Calibri" pitchFamily="34" charset="0"/>
                <a:ea typeface="Calibri" pitchFamily="34" charset="-122"/>
                <a:cs typeface="Calibri" pitchFamily="34" charset="-120"/>
              </a:rPr>
              <a:t>COMPATIBLE CON:</a:t>
            </a:r>
            <a:endParaRPr lang="en-US" sz="900" dirty="0"/>
          </a:p>
        </p:txBody>
      </p:sp>
      <p:sp>
        <p:nvSpPr>
          <p:cNvPr id="19" name="Shape 17"/>
          <p:cNvSpPr/>
          <p:nvPr/>
        </p:nvSpPr>
        <p:spPr>
          <a:xfrm>
            <a:off x="25603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20" name="Text 18"/>
          <p:cNvSpPr/>
          <p:nvPr/>
        </p:nvSpPr>
        <p:spPr>
          <a:xfrm>
            <a:off x="25603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Salesforce</a:t>
            </a:r>
            <a:endParaRPr lang="en-US" sz="850" dirty="0"/>
          </a:p>
        </p:txBody>
      </p:sp>
      <p:sp>
        <p:nvSpPr>
          <p:cNvPr id="21" name="Shape 19"/>
          <p:cNvSpPr/>
          <p:nvPr/>
        </p:nvSpPr>
        <p:spPr>
          <a:xfrm>
            <a:off x="171907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22" name="Text 20"/>
          <p:cNvSpPr/>
          <p:nvPr/>
        </p:nvSpPr>
        <p:spPr>
          <a:xfrm>
            <a:off x="171907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Zendesk</a:t>
            </a:r>
            <a:endParaRPr lang="en-US" sz="850" dirty="0"/>
          </a:p>
        </p:txBody>
      </p:sp>
      <p:sp>
        <p:nvSpPr>
          <p:cNvPr id="23" name="Shape 21"/>
          <p:cNvSpPr/>
          <p:nvPr/>
        </p:nvSpPr>
        <p:spPr>
          <a:xfrm>
            <a:off x="318211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24" name="Text 22"/>
          <p:cNvSpPr/>
          <p:nvPr/>
        </p:nvSpPr>
        <p:spPr>
          <a:xfrm>
            <a:off x="318211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HubSpot</a:t>
            </a:r>
            <a:endParaRPr lang="en-US" sz="850" dirty="0"/>
          </a:p>
        </p:txBody>
      </p:sp>
      <p:sp>
        <p:nvSpPr>
          <p:cNvPr id="25" name="Shape 23"/>
          <p:cNvSpPr/>
          <p:nvPr/>
        </p:nvSpPr>
        <p:spPr>
          <a:xfrm>
            <a:off x="464515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26" name="Text 24"/>
          <p:cNvSpPr/>
          <p:nvPr/>
        </p:nvSpPr>
        <p:spPr>
          <a:xfrm>
            <a:off x="464515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MS Dynamics</a:t>
            </a:r>
            <a:endParaRPr lang="en-US" sz="850" dirty="0"/>
          </a:p>
        </p:txBody>
      </p:sp>
      <p:sp>
        <p:nvSpPr>
          <p:cNvPr id="27" name="Shape 25"/>
          <p:cNvSpPr/>
          <p:nvPr/>
        </p:nvSpPr>
        <p:spPr>
          <a:xfrm>
            <a:off x="610819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28" name="Text 26"/>
          <p:cNvSpPr/>
          <p:nvPr/>
        </p:nvSpPr>
        <p:spPr>
          <a:xfrm>
            <a:off x="610819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Sugar CRM</a:t>
            </a:r>
            <a:endParaRPr lang="en-US" sz="850" dirty="0"/>
          </a:p>
        </p:txBody>
      </p:sp>
      <p:sp>
        <p:nvSpPr>
          <p:cNvPr id="29" name="Shape 27"/>
          <p:cNvSpPr/>
          <p:nvPr/>
        </p:nvSpPr>
        <p:spPr>
          <a:xfrm>
            <a:off x="7571232" y="3401568"/>
            <a:ext cx="1371600" cy="274320"/>
          </a:xfrm>
          <a:prstGeom prst="rect">
            <a:avLst/>
          </a:prstGeom>
          <a:solidFill>
            <a:srgbClr val="1E1E1E"/>
          </a:solidFill>
          <a:ln w="12700">
            <a:solidFill>
              <a:srgbClr val="45C241"/>
            </a:solidFill>
            <a:prstDash val="solid"/>
          </a:ln>
        </p:spPr>
        <p:txBody>
          <a:bodyPr/>
          <a:lstStyle/>
          <a:p>
            <a:endParaRPr lang="es-ES"/>
          </a:p>
        </p:txBody>
      </p:sp>
      <p:sp>
        <p:nvSpPr>
          <p:cNvPr id="30" name="Text 28"/>
          <p:cNvSpPr/>
          <p:nvPr/>
        </p:nvSpPr>
        <p:spPr>
          <a:xfrm>
            <a:off x="7571232" y="340156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Pipedrive</a:t>
            </a:r>
            <a:endParaRPr lang="en-US" sz="850" dirty="0"/>
          </a:p>
        </p:txBody>
      </p:sp>
      <p:sp>
        <p:nvSpPr>
          <p:cNvPr id="31" name="Shape 29"/>
          <p:cNvSpPr/>
          <p:nvPr/>
        </p:nvSpPr>
        <p:spPr>
          <a:xfrm>
            <a:off x="256032" y="3767328"/>
            <a:ext cx="1371600" cy="274320"/>
          </a:xfrm>
          <a:prstGeom prst="rect">
            <a:avLst/>
          </a:prstGeom>
          <a:solidFill>
            <a:srgbClr val="1E1E1E"/>
          </a:solidFill>
          <a:ln w="12700">
            <a:solidFill>
              <a:srgbClr val="45C241"/>
            </a:solidFill>
            <a:prstDash val="solid"/>
          </a:ln>
        </p:spPr>
        <p:txBody>
          <a:bodyPr/>
          <a:lstStyle/>
          <a:p>
            <a:endParaRPr lang="es-ES"/>
          </a:p>
        </p:txBody>
      </p:sp>
      <p:sp>
        <p:nvSpPr>
          <p:cNvPr id="32" name="Text 30"/>
          <p:cNvSpPr/>
          <p:nvPr/>
        </p:nvSpPr>
        <p:spPr>
          <a:xfrm>
            <a:off x="256032" y="376732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Zoho</a:t>
            </a:r>
            <a:endParaRPr lang="en-US" sz="850" dirty="0"/>
          </a:p>
        </p:txBody>
      </p:sp>
      <p:sp>
        <p:nvSpPr>
          <p:cNvPr id="33" name="Shape 31"/>
          <p:cNvSpPr/>
          <p:nvPr/>
        </p:nvSpPr>
        <p:spPr>
          <a:xfrm>
            <a:off x="1719072" y="3767328"/>
            <a:ext cx="1371600" cy="274320"/>
          </a:xfrm>
          <a:prstGeom prst="rect">
            <a:avLst/>
          </a:prstGeom>
          <a:solidFill>
            <a:srgbClr val="1E1E1E"/>
          </a:solidFill>
          <a:ln w="12700">
            <a:solidFill>
              <a:srgbClr val="45C241"/>
            </a:solidFill>
            <a:prstDash val="solid"/>
          </a:ln>
        </p:spPr>
        <p:txBody>
          <a:bodyPr/>
          <a:lstStyle/>
          <a:p>
            <a:endParaRPr lang="es-ES"/>
          </a:p>
        </p:txBody>
      </p:sp>
      <p:sp>
        <p:nvSpPr>
          <p:cNvPr id="34" name="Text 32"/>
          <p:cNvSpPr/>
          <p:nvPr/>
        </p:nvSpPr>
        <p:spPr>
          <a:xfrm>
            <a:off x="1719072" y="376732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Bullhorn</a:t>
            </a:r>
            <a:endParaRPr lang="en-US" sz="850" dirty="0"/>
          </a:p>
        </p:txBody>
      </p:sp>
      <p:sp>
        <p:nvSpPr>
          <p:cNvPr id="35" name="Shape 33"/>
          <p:cNvSpPr/>
          <p:nvPr/>
        </p:nvSpPr>
        <p:spPr>
          <a:xfrm>
            <a:off x="3182112" y="3767328"/>
            <a:ext cx="1371600" cy="274320"/>
          </a:xfrm>
          <a:prstGeom prst="rect">
            <a:avLst/>
          </a:prstGeom>
          <a:solidFill>
            <a:srgbClr val="1E1E1E"/>
          </a:solidFill>
          <a:ln w="12700">
            <a:solidFill>
              <a:srgbClr val="45C241"/>
            </a:solidFill>
            <a:prstDash val="solid"/>
          </a:ln>
        </p:spPr>
        <p:txBody>
          <a:bodyPr/>
          <a:lstStyle/>
          <a:p>
            <a:endParaRPr lang="es-ES"/>
          </a:p>
        </p:txBody>
      </p:sp>
      <p:sp>
        <p:nvSpPr>
          <p:cNvPr id="36" name="Text 34"/>
          <p:cNvSpPr/>
          <p:nvPr/>
        </p:nvSpPr>
        <p:spPr>
          <a:xfrm>
            <a:off x="3182112" y="376732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Bitrix24</a:t>
            </a:r>
            <a:endParaRPr lang="en-US" sz="850" dirty="0"/>
          </a:p>
        </p:txBody>
      </p:sp>
      <p:sp>
        <p:nvSpPr>
          <p:cNvPr id="37" name="Shape 35"/>
          <p:cNvSpPr/>
          <p:nvPr/>
        </p:nvSpPr>
        <p:spPr>
          <a:xfrm>
            <a:off x="4645152" y="3767328"/>
            <a:ext cx="1371600" cy="274320"/>
          </a:xfrm>
          <a:prstGeom prst="rect">
            <a:avLst/>
          </a:prstGeom>
          <a:solidFill>
            <a:srgbClr val="1E1E1E"/>
          </a:solidFill>
          <a:ln w="12700">
            <a:solidFill>
              <a:srgbClr val="45C241"/>
            </a:solidFill>
            <a:prstDash val="solid"/>
          </a:ln>
        </p:spPr>
        <p:txBody>
          <a:bodyPr/>
          <a:lstStyle/>
          <a:p>
            <a:endParaRPr lang="es-ES"/>
          </a:p>
        </p:txBody>
      </p:sp>
      <p:sp>
        <p:nvSpPr>
          <p:cNvPr id="38" name="Text 36"/>
          <p:cNvSpPr/>
          <p:nvPr/>
        </p:nvSpPr>
        <p:spPr>
          <a:xfrm>
            <a:off x="4645152" y="376732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Vtiger</a:t>
            </a:r>
            <a:endParaRPr lang="en-US" sz="850" dirty="0"/>
          </a:p>
        </p:txBody>
      </p:sp>
      <p:sp>
        <p:nvSpPr>
          <p:cNvPr id="39" name="Shape 37"/>
          <p:cNvSpPr/>
          <p:nvPr/>
        </p:nvSpPr>
        <p:spPr>
          <a:xfrm>
            <a:off x="6108192" y="3767328"/>
            <a:ext cx="1371600" cy="274320"/>
          </a:xfrm>
          <a:prstGeom prst="rect">
            <a:avLst/>
          </a:prstGeom>
          <a:solidFill>
            <a:srgbClr val="1E1E1E"/>
          </a:solidFill>
          <a:ln w="12700">
            <a:solidFill>
              <a:srgbClr val="45C241"/>
            </a:solidFill>
            <a:prstDash val="solid"/>
          </a:ln>
        </p:spPr>
        <p:txBody>
          <a:bodyPr/>
          <a:lstStyle/>
          <a:p>
            <a:endParaRPr lang="es-ES"/>
          </a:p>
        </p:txBody>
      </p:sp>
      <p:sp>
        <p:nvSpPr>
          <p:cNvPr id="40" name="Text 38"/>
          <p:cNvSpPr/>
          <p:nvPr/>
        </p:nvSpPr>
        <p:spPr>
          <a:xfrm>
            <a:off x="6108192" y="3767328"/>
            <a:ext cx="1371600" cy="274320"/>
          </a:xfrm>
          <a:prstGeom prst="rect">
            <a:avLst/>
          </a:prstGeom>
          <a:noFill/>
          <a:ln/>
        </p:spPr>
        <p:txBody>
          <a:bodyPr wrap="square" lIns="0" tIns="0" rIns="0" bIns="0" rtlCol="0" anchor="ctr"/>
          <a:lstStyle/>
          <a:p>
            <a:pPr marL="0" indent="0" algn="ctr">
              <a:buNone/>
            </a:pPr>
            <a:r>
              <a:rPr lang="en-US" sz="850" b="1" dirty="0">
                <a:solidFill>
                  <a:srgbClr val="45C241"/>
                </a:solidFill>
                <a:latin typeface="Calibri" pitchFamily="34" charset="0"/>
                <a:ea typeface="Calibri" pitchFamily="34" charset="-122"/>
                <a:cs typeface="Calibri" pitchFamily="34" charset="-120"/>
              </a:rPr>
              <a:t>Outlook / Gmail</a:t>
            </a:r>
            <a:endParaRPr lang="en-US" sz="850" dirty="0"/>
          </a:p>
        </p:txBody>
      </p:sp>
      <p:sp>
        <p:nvSpPr>
          <p:cNvPr id="41" name="Shape 39"/>
          <p:cNvSpPr/>
          <p:nvPr/>
        </p:nvSpPr>
        <p:spPr>
          <a:xfrm>
            <a:off x="256032" y="4462272"/>
            <a:ext cx="8686800" cy="265176"/>
          </a:xfrm>
          <a:prstGeom prst="rect">
            <a:avLst/>
          </a:prstGeom>
          <a:solidFill>
            <a:srgbClr val="1E2E1E"/>
          </a:solidFill>
          <a:ln w="12700">
            <a:solidFill>
              <a:srgbClr val="38A834"/>
            </a:solidFill>
            <a:prstDash val="solid"/>
          </a:ln>
        </p:spPr>
        <p:txBody>
          <a:bodyPr/>
          <a:lstStyle/>
          <a:p>
            <a:endParaRPr lang="es-ES"/>
          </a:p>
        </p:txBody>
      </p:sp>
      <p:sp>
        <p:nvSpPr>
          <p:cNvPr id="42" name="Text 40"/>
          <p:cNvSpPr/>
          <p:nvPr/>
        </p:nvSpPr>
        <p:spPr>
          <a:xfrm>
            <a:off x="347472" y="4462272"/>
            <a:ext cx="8503920" cy="265176"/>
          </a:xfrm>
          <a:prstGeom prst="rect">
            <a:avLst/>
          </a:prstGeom>
          <a:noFill/>
          <a:ln/>
        </p:spPr>
        <p:txBody>
          <a:bodyPr wrap="square" lIns="0" tIns="0" rIns="0" bIns="0" rtlCol="0" anchor="ctr"/>
          <a:lstStyle/>
          <a:p>
            <a:pPr marL="0" indent="0">
              <a:buNone/>
            </a:pPr>
            <a:r>
              <a:rPr lang="en-US" sz="850" b="1" dirty="0">
                <a:solidFill>
                  <a:srgbClr val="45C241"/>
                </a:solidFill>
                <a:latin typeface="Calibri" pitchFamily="34" charset="0"/>
                <a:ea typeface="Calibri" pitchFamily="34" charset="-122"/>
                <a:cs typeface="Calibri" pitchFamily="34" charset="-120"/>
              </a:rPr>
              <a:t>★  Integración nativa Salesforce OpenCTI · Teléfono embebido · Automatización de tareas por agente · Informes y estadísticas en Salesforce</a:t>
            </a:r>
            <a:endParaRPr lang="en-US" sz="850" dirty="0"/>
          </a:p>
        </p:txBody>
      </p:sp>
      <p:sp>
        <p:nvSpPr>
          <p:cNvPr id="43" name="Shape 41"/>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44" name="Text 42"/>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LYNKSIP — CENTRALITA IP EN LA NUBE · UC&amp;C</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Comunicaciones Unificadas y Colaboración · Sin inversión en hardware · Sin obsolescencia</a:t>
            </a:r>
            <a:endParaRPr lang="en-US" sz="1000" dirty="0"/>
          </a:p>
        </p:txBody>
      </p:sp>
      <p:sp>
        <p:nvSpPr>
          <p:cNvPr id="6" name="Shape 4"/>
          <p:cNvSpPr/>
          <p:nvPr/>
        </p:nvSpPr>
        <p:spPr>
          <a:xfrm>
            <a:off x="256032" y="1024128"/>
            <a:ext cx="4160520" cy="3767328"/>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24128"/>
            <a:ext cx="4160520" cy="54864"/>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411480" y="1133856"/>
            <a:ext cx="3840480" cy="347472"/>
          </a:xfrm>
          <a:prstGeom prst="rect">
            <a:avLst/>
          </a:prstGeom>
          <a:noFill/>
          <a:ln/>
        </p:spPr>
        <p:txBody>
          <a:bodyPr wrap="square" lIns="0" tIns="0" rIns="0" bIns="0" rtlCol="0" anchor="ctr"/>
          <a:lstStyle/>
          <a:p>
            <a:pPr marL="0" indent="0">
              <a:buNone/>
            </a:pPr>
            <a:r>
              <a:rPr lang="en-US" sz="1400" b="1" dirty="0">
                <a:solidFill>
                  <a:srgbClr val="45C241"/>
                </a:solidFill>
                <a:latin typeface="Calibri" pitchFamily="34" charset="0"/>
                <a:ea typeface="Calibri" pitchFamily="34" charset="-122"/>
                <a:cs typeface="Calibri" pitchFamily="34" charset="-120"/>
              </a:rPr>
              <a:t>¿Qué es LynksIP?</a:t>
            </a:r>
            <a:endParaRPr lang="en-US" sz="1400" dirty="0"/>
          </a:p>
        </p:txBody>
      </p:sp>
      <p:sp>
        <p:nvSpPr>
          <p:cNvPr id="9" name="Shape 7"/>
          <p:cNvSpPr/>
          <p:nvPr/>
        </p:nvSpPr>
        <p:spPr>
          <a:xfrm>
            <a:off x="347472" y="1572768"/>
            <a:ext cx="3931920" cy="530352"/>
          </a:xfrm>
          <a:prstGeom prst="rect">
            <a:avLst/>
          </a:prstGeom>
          <a:solidFill>
            <a:srgbClr val="1E1E1E"/>
          </a:solidFill>
          <a:ln w="12700">
            <a:solidFill>
              <a:srgbClr val="333333"/>
            </a:solidFill>
            <a:prstDash val="solid"/>
          </a:ln>
        </p:spPr>
        <p:txBody>
          <a:bodyPr/>
          <a:lstStyle/>
          <a:p>
            <a:endParaRPr lang="es-ES"/>
          </a:p>
        </p:txBody>
      </p:sp>
      <p:sp>
        <p:nvSpPr>
          <p:cNvPr id="10" name="Shape 8"/>
          <p:cNvSpPr/>
          <p:nvPr/>
        </p:nvSpPr>
        <p:spPr>
          <a:xfrm>
            <a:off x="347472" y="1572768"/>
            <a:ext cx="54864" cy="530352"/>
          </a:xfrm>
          <a:prstGeom prst="rect">
            <a:avLst/>
          </a:prstGeom>
          <a:solidFill>
            <a:srgbClr val="45C241"/>
          </a:solidFill>
          <a:ln w="12700">
            <a:solidFill>
              <a:srgbClr val="45C241"/>
            </a:solidFill>
            <a:prstDash val="solid"/>
          </a:ln>
        </p:spPr>
        <p:txBody>
          <a:bodyPr/>
          <a:lstStyle/>
          <a:p>
            <a:endParaRPr lang="es-ES"/>
          </a:p>
        </p:txBody>
      </p:sp>
      <p:sp>
        <p:nvSpPr>
          <p:cNvPr id="11" name="Text 9"/>
          <p:cNvSpPr/>
          <p:nvPr/>
        </p:nvSpPr>
        <p:spPr>
          <a:xfrm>
            <a:off x="438912" y="1645920"/>
            <a:ext cx="36576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2" name="Text 10"/>
          <p:cNvSpPr/>
          <p:nvPr/>
        </p:nvSpPr>
        <p:spPr>
          <a:xfrm>
            <a:off x="868680" y="1627632"/>
            <a:ext cx="3291840" cy="411480"/>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Servicio de comunicaciones cloud y multitenant</a:t>
            </a:r>
            <a:endParaRPr lang="en-US" sz="950" dirty="0"/>
          </a:p>
        </p:txBody>
      </p:sp>
      <p:sp>
        <p:nvSpPr>
          <p:cNvPr id="13" name="Shape 11"/>
          <p:cNvSpPr/>
          <p:nvPr/>
        </p:nvSpPr>
        <p:spPr>
          <a:xfrm>
            <a:off x="347472" y="2194560"/>
            <a:ext cx="3931920" cy="530352"/>
          </a:xfrm>
          <a:prstGeom prst="rect">
            <a:avLst/>
          </a:prstGeom>
          <a:solidFill>
            <a:srgbClr val="222222"/>
          </a:solidFill>
          <a:ln w="12700">
            <a:solidFill>
              <a:srgbClr val="333333"/>
            </a:solidFill>
            <a:prstDash val="solid"/>
          </a:ln>
        </p:spPr>
        <p:txBody>
          <a:bodyPr/>
          <a:lstStyle/>
          <a:p>
            <a:endParaRPr lang="es-ES"/>
          </a:p>
        </p:txBody>
      </p:sp>
      <p:sp>
        <p:nvSpPr>
          <p:cNvPr id="14" name="Shape 12"/>
          <p:cNvSpPr/>
          <p:nvPr/>
        </p:nvSpPr>
        <p:spPr>
          <a:xfrm>
            <a:off x="347472" y="2194560"/>
            <a:ext cx="54864" cy="530352"/>
          </a:xfrm>
          <a:prstGeom prst="rect">
            <a:avLst/>
          </a:prstGeom>
          <a:solidFill>
            <a:srgbClr val="45C241"/>
          </a:solidFill>
          <a:ln w="12700">
            <a:solidFill>
              <a:srgbClr val="45C241"/>
            </a:solidFill>
            <a:prstDash val="solid"/>
          </a:ln>
        </p:spPr>
        <p:txBody>
          <a:bodyPr/>
          <a:lstStyle/>
          <a:p>
            <a:endParaRPr lang="es-ES"/>
          </a:p>
        </p:txBody>
      </p:sp>
      <p:sp>
        <p:nvSpPr>
          <p:cNvPr id="15" name="Text 13"/>
          <p:cNvSpPr/>
          <p:nvPr/>
        </p:nvSpPr>
        <p:spPr>
          <a:xfrm>
            <a:off x="438912" y="2267712"/>
            <a:ext cx="36576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6" name="Text 14"/>
          <p:cNvSpPr/>
          <p:nvPr/>
        </p:nvSpPr>
        <p:spPr>
          <a:xfrm>
            <a:off x="868680" y="2249424"/>
            <a:ext cx="3291840" cy="411480"/>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Distintos modos por usuario con herramientas de comunicación y colaboración</a:t>
            </a:r>
            <a:endParaRPr lang="en-US" sz="950" dirty="0"/>
          </a:p>
        </p:txBody>
      </p:sp>
      <p:sp>
        <p:nvSpPr>
          <p:cNvPr id="17" name="Shape 15"/>
          <p:cNvSpPr/>
          <p:nvPr/>
        </p:nvSpPr>
        <p:spPr>
          <a:xfrm>
            <a:off x="347472" y="2816352"/>
            <a:ext cx="3931920" cy="530352"/>
          </a:xfrm>
          <a:prstGeom prst="rect">
            <a:avLst/>
          </a:prstGeom>
          <a:solidFill>
            <a:srgbClr val="1E1E1E"/>
          </a:solidFill>
          <a:ln w="12700">
            <a:solidFill>
              <a:srgbClr val="333333"/>
            </a:solidFill>
            <a:prstDash val="solid"/>
          </a:ln>
        </p:spPr>
        <p:txBody>
          <a:bodyPr/>
          <a:lstStyle/>
          <a:p>
            <a:endParaRPr lang="es-ES"/>
          </a:p>
        </p:txBody>
      </p:sp>
      <p:sp>
        <p:nvSpPr>
          <p:cNvPr id="18" name="Shape 16"/>
          <p:cNvSpPr/>
          <p:nvPr/>
        </p:nvSpPr>
        <p:spPr>
          <a:xfrm>
            <a:off x="347472" y="2816352"/>
            <a:ext cx="54864" cy="530352"/>
          </a:xfrm>
          <a:prstGeom prst="rect">
            <a:avLst/>
          </a:prstGeom>
          <a:solidFill>
            <a:srgbClr val="45C241"/>
          </a:solidFill>
          <a:ln w="12700">
            <a:solidFill>
              <a:srgbClr val="45C241"/>
            </a:solidFill>
            <a:prstDash val="solid"/>
          </a:ln>
        </p:spPr>
        <p:txBody>
          <a:bodyPr/>
          <a:lstStyle/>
          <a:p>
            <a:endParaRPr lang="es-ES"/>
          </a:p>
        </p:txBody>
      </p:sp>
      <p:sp>
        <p:nvSpPr>
          <p:cNvPr id="19" name="Text 17"/>
          <p:cNvSpPr/>
          <p:nvPr/>
        </p:nvSpPr>
        <p:spPr>
          <a:xfrm>
            <a:off x="438912" y="2889504"/>
            <a:ext cx="36576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0" name="Text 18"/>
          <p:cNvSpPr/>
          <p:nvPr/>
        </p:nvSpPr>
        <p:spPr>
          <a:xfrm>
            <a:off x="868680" y="2871216"/>
            <a:ext cx="3291840" cy="411480"/>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Integración con las herramientas del día a día</a:t>
            </a:r>
            <a:endParaRPr lang="en-US" sz="950" dirty="0"/>
          </a:p>
        </p:txBody>
      </p:sp>
      <p:sp>
        <p:nvSpPr>
          <p:cNvPr id="21" name="Shape 19"/>
          <p:cNvSpPr/>
          <p:nvPr/>
        </p:nvSpPr>
        <p:spPr>
          <a:xfrm>
            <a:off x="347472" y="3438144"/>
            <a:ext cx="3931920" cy="530352"/>
          </a:xfrm>
          <a:prstGeom prst="rect">
            <a:avLst/>
          </a:prstGeom>
          <a:solidFill>
            <a:srgbClr val="222222"/>
          </a:solidFill>
          <a:ln w="12700">
            <a:solidFill>
              <a:srgbClr val="333333"/>
            </a:solidFill>
            <a:prstDash val="solid"/>
          </a:ln>
        </p:spPr>
        <p:txBody>
          <a:bodyPr/>
          <a:lstStyle/>
          <a:p>
            <a:endParaRPr lang="es-ES"/>
          </a:p>
        </p:txBody>
      </p:sp>
      <p:sp>
        <p:nvSpPr>
          <p:cNvPr id="22" name="Shape 20"/>
          <p:cNvSpPr/>
          <p:nvPr/>
        </p:nvSpPr>
        <p:spPr>
          <a:xfrm>
            <a:off x="347472" y="3438144"/>
            <a:ext cx="54864" cy="530352"/>
          </a:xfrm>
          <a:prstGeom prst="rect">
            <a:avLst/>
          </a:prstGeom>
          <a:solidFill>
            <a:srgbClr val="45C241"/>
          </a:solidFill>
          <a:ln w="12700">
            <a:solidFill>
              <a:srgbClr val="45C241"/>
            </a:solidFill>
            <a:prstDash val="solid"/>
          </a:ln>
        </p:spPr>
        <p:txBody>
          <a:bodyPr/>
          <a:lstStyle/>
          <a:p>
            <a:endParaRPr lang="es-ES"/>
          </a:p>
        </p:txBody>
      </p:sp>
      <p:sp>
        <p:nvSpPr>
          <p:cNvPr id="23" name="Text 21"/>
          <p:cNvSpPr/>
          <p:nvPr/>
        </p:nvSpPr>
        <p:spPr>
          <a:xfrm>
            <a:off x="438912" y="3511296"/>
            <a:ext cx="36576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4" name="Text 22"/>
          <p:cNvSpPr/>
          <p:nvPr/>
        </p:nvSpPr>
        <p:spPr>
          <a:xfrm>
            <a:off x="868680" y="3493008"/>
            <a:ext cx="3291840" cy="411480"/>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Sin inversión en equipamiento, consumo eléctrico ni mantenimiento hardware</a:t>
            </a:r>
            <a:endParaRPr lang="en-US" sz="950" dirty="0"/>
          </a:p>
        </p:txBody>
      </p:sp>
      <p:sp>
        <p:nvSpPr>
          <p:cNvPr id="25" name="Shape 23"/>
          <p:cNvSpPr/>
          <p:nvPr/>
        </p:nvSpPr>
        <p:spPr>
          <a:xfrm>
            <a:off x="347472" y="4059936"/>
            <a:ext cx="3931920" cy="530352"/>
          </a:xfrm>
          <a:prstGeom prst="rect">
            <a:avLst/>
          </a:prstGeom>
          <a:solidFill>
            <a:srgbClr val="1E1E1E"/>
          </a:solidFill>
          <a:ln w="12700">
            <a:solidFill>
              <a:srgbClr val="333333"/>
            </a:solidFill>
            <a:prstDash val="solid"/>
          </a:ln>
        </p:spPr>
        <p:txBody>
          <a:bodyPr/>
          <a:lstStyle/>
          <a:p>
            <a:endParaRPr lang="es-ES"/>
          </a:p>
        </p:txBody>
      </p:sp>
      <p:sp>
        <p:nvSpPr>
          <p:cNvPr id="26" name="Shape 24"/>
          <p:cNvSpPr/>
          <p:nvPr/>
        </p:nvSpPr>
        <p:spPr>
          <a:xfrm>
            <a:off x="347472" y="4059936"/>
            <a:ext cx="54864" cy="530352"/>
          </a:xfrm>
          <a:prstGeom prst="rect">
            <a:avLst/>
          </a:prstGeom>
          <a:solidFill>
            <a:srgbClr val="45C241"/>
          </a:solidFill>
          <a:ln w="12700">
            <a:solidFill>
              <a:srgbClr val="45C241"/>
            </a:solidFill>
            <a:prstDash val="solid"/>
          </a:ln>
        </p:spPr>
        <p:txBody>
          <a:bodyPr/>
          <a:lstStyle/>
          <a:p>
            <a:endParaRPr lang="es-ES"/>
          </a:p>
        </p:txBody>
      </p:sp>
      <p:sp>
        <p:nvSpPr>
          <p:cNvPr id="27" name="Text 25"/>
          <p:cNvSpPr/>
          <p:nvPr/>
        </p:nvSpPr>
        <p:spPr>
          <a:xfrm>
            <a:off x="438912" y="4133088"/>
            <a:ext cx="36576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8" name="Text 26"/>
          <p:cNvSpPr/>
          <p:nvPr/>
        </p:nvSpPr>
        <p:spPr>
          <a:xfrm>
            <a:off x="868680" y="4114800"/>
            <a:ext cx="3291840" cy="411480"/>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Flexible y escalable según las necesidades reales del cliente</a:t>
            </a:r>
            <a:endParaRPr lang="en-US" sz="950" dirty="0"/>
          </a:p>
        </p:txBody>
      </p:sp>
      <p:sp>
        <p:nvSpPr>
          <p:cNvPr id="29" name="Shape 27"/>
          <p:cNvSpPr/>
          <p:nvPr/>
        </p:nvSpPr>
        <p:spPr>
          <a:xfrm>
            <a:off x="4617720" y="1024128"/>
            <a:ext cx="2103120" cy="178308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30" name="Shape 28"/>
          <p:cNvSpPr/>
          <p:nvPr/>
        </p:nvSpPr>
        <p:spPr>
          <a:xfrm>
            <a:off x="4617720" y="1024128"/>
            <a:ext cx="2103120" cy="54864"/>
          </a:xfrm>
          <a:prstGeom prst="rect">
            <a:avLst/>
          </a:prstGeom>
          <a:solidFill>
            <a:srgbClr val="45C241"/>
          </a:solidFill>
          <a:ln w="12700">
            <a:solidFill>
              <a:srgbClr val="45C241"/>
            </a:solidFill>
            <a:prstDash val="solid"/>
          </a:ln>
        </p:spPr>
        <p:txBody>
          <a:bodyPr/>
          <a:lstStyle/>
          <a:p>
            <a:endParaRPr lang="es-ES"/>
          </a:p>
        </p:txBody>
      </p:sp>
      <p:sp>
        <p:nvSpPr>
          <p:cNvPr id="31" name="Text 29"/>
          <p:cNvSpPr/>
          <p:nvPr/>
        </p:nvSpPr>
        <p:spPr>
          <a:xfrm>
            <a:off x="4617720" y="1161288"/>
            <a:ext cx="210312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4709160" y="1664208"/>
            <a:ext cx="1920240" cy="292608"/>
          </a:xfrm>
          <a:prstGeom prst="rect">
            <a:avLst/>
          </a:prstGeom>
          <a:noFill/>
          <a:ln/>
        </p:spPr>
        <p:txBody>
          <a:bodyPr wrap="square" lIns="0" tIns="0" rIns="0" bIns="0" rtlCol="0" anchor="ctr"/>
          <a:lstStyle/>
          <a:p>
            <a:pPr marL="0" indent="0" algn="ctr">
              <a:buNone/>
            </a:pPr>
            <a:r>
              <a:rPr lang="en-US" sz="1200" b="1" dirty="0">
                <a:solidFill>
                  <a:srgbClr val="45C241"/>
                </a:solidFill>
                <a:latin typeface="Calibri" pitchFamily="34" charset="0"/>
                <a:ea typeface="Calibri" pitchFamily="34" charset="-122"/>
                <a:cs typeface="Calibri" pitchFamily="34" charset="-120"/>
              </a:rPr>
              <a:t>Voz IP</a:t>
            </a:r>
            <a:endParaRPr lang="en-US" sz="1200" dirty="0"/>
          </a:p>
        </p:txBody>
      </p:sp>
      <p:sp>
        <p:nvSpPr>
          <p:cNvPr id="33" name="Text 31"/>
          <p:cNvSpPr/>
          <p:nvPr/>
        </p:nvSpPr>
        <p:spPr>
          <a:xfrm>
            <a:off x="4709160" y="1956816"/>
            <a:ext cx="1920240" cy="658368"/>
          </a:xfrm>
          <a:prstGeom prst="rect">
            <a:avLst/>
          </a:prstGeom>
          <a:noFill/>
          <a:ln/>
        </p:spPr>
        <p:txBody>
          <a:bodyPr wrap="square" lIns="0" tIns="0" rIns="0" bIns="0"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Extensiones, DDI, IVR multinivel, colas y grupos de llamadas</a:t>
            </a:r>
            <a:endParaRPr lang="en-US" sz="850" dirty="0"/>
          </a:p>
        </p:txBody>
      </p:sp>
      <p:sp>
        <p:nvSpPr>
          <p:cNvPr id="34" name="Shape 32"/>
          <p:cNvSpPr/>
          <p:nvPr/>
        </p:nvSpPr>
        <p:spPr>
          <a:xfrm>
            <a:off x="6858000" y="1024128"/>
            <a:ext cx="2103120" cy="178308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35" name="Shape 33"/>
          <p:cNvSpPr/>
          <p:nvPr/>
        </p:nvSpPr>
        <p:spPr>
          <a:xfrm>
            <a:off x="6858000" y="1024128"/>
            <a:ext cx="2103120" cy="54864"/>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6858000" y="1161288"/>
            <a:ext cx="210312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7" name="Text 35"/>
          <p:cNvSpPr/>
          <p:nvPr/>
        </p:nvSpPr>
        <p:spPr>
          <a:xfrm>
            <a:off x="6949440" y="1664208"/>
            <a:ext cx="1920240" cy="292608"/>
          </a:xfrm>
          <a:prstGeom prst="rect">
            <a:avLst/>
          </a:prstGeom>
          <a:noFill/>
          <a:ln/>
        </p:spPr>
        <p:txBody>
          <a:bodyPr wrap="square" lIns="0" tIns="0" rIns="0" bIns="0" rtlCol="0" anchor="ctr"/>
          <a:lstStyle/>
          <a:p>
            <a:pPr marL="0" indent="0" algn="ctr">
              <a:buNone/>
            </a:pPr>
            <a:r>
              <a:rPr lang="en-US" sz="1200" b="1" dirty="0">
                <a:solidFill>
                  <a:srgbClr val="45C241"/>
                </a:solidFill>
                <a:latin typeface="Calibri" pitchFamily="34" charset="0"/>
                <a:ea typeface="Calibri" pitchFamily="34" charset="-122"/>
                <a:cs typeface="Calibri" pitchFamily="34" charset="-120"/>
              </a:rPr>
              <a:t>Colaboración</a:t>
            </a:r>
            <a:endParaRPr lang="en-US" sz="1200" dirty="0"/>
          </a:p>
        </p:txBody>
      </p:sp>
      <p:sp>
        <p:nvSpPr>
          <p:cNvPr id="38" name="Text 36"/>
          <p:cNvSpPr/>
          <p:nvPr/>
        </p:nvSpPr>
        <p:spPr>
          <a:xfrm>
            <a:off x="6949440" y="1956816"/>
            <a:ext cx="1920240" cy="658368"/>
          </a:xfrm>
          <a:prstGeom prst="rect">
            <a:avLst/>
          </a:prstGeom>
          <a:noFill/>
          <a:ln/>
        </p:spPr>
        <p:txBody>
          <a:bodyPr wrap="square" lIns="0" tIns="0" rIns="0" bIns="0"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Chat, videoconferencia, compartición de ficheros y presencia</a:t>
            </a:r>
            <a:endParaRPr lang="en-US" sz="850" dirty="0"/>
          </a:p>
        </p:txBody>
      </p:sp>
      <p:sp>
        <p:nvSpPr>
          <p:cNvPr id="39" name="Shape 37"/>
          <p:cNvSpPr/>
          <p:nvPr/>
        </p:nvSpPr>
        <p:spPr>
          <a:xfrm>
            <a:off x="4617720" y="2944368"/>
            <a:ext cx="2103120" cy="178308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40" name="Shape 38"/>
          <p:cNvSpPr/>
          <p:nvPr/>
        </p:nvSpPr>
        <p:spPr>
          <a:xfrm>
            <a:off x="4617720" y="2944368"/>
            <a:ext cx="2103120" cy="54864"/>
          </a:xfrm>
          <a:prstGeom prst="rect">
            <a:avLst/>
          </a:prstGeom>
          <a:solidFill>
            <a:srgbClr val="45C241"/>
          </a:solidFill>
          <a:ln w="12700">
            <a:solidFill>
              <a:srgbClr val="45C241"/>
            </a:solidFill>
            <a:prstDash val="solid"/>
          </a:ln>
        </p:spPr>
        <p:txBody>
          <a:bodyPr/>
          <a:lstStyle/>
          <a:p>
            <a:endParaRPr lang="es-ES"/>
          </a:p>
        </p:txBody>
      </p:sp>
      <p:sp>
        <p:nvSpPr>
          <p:cNvPr id="41" name="Text 39"/>
          <p:cNvSpPr/>
          <p:nvPr/>
        </p:nvSpPr>
        <p:spPr>
          <a:xfrm>
            <a:off x="4617720" y="3081528"/>
            <a:ext cx="210312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2" name="Text 40"/>
          <p:cNvSpPr/>
          <p:nvPr/>
        </p:nvSpPr>
        <p:spPr>
          <a:xfrm>
            <a:off x="4709160" y="3584448"/>
            <a:ext cx="1920240" cy="292608"/>
          </a:xfrm>
          <a:prstGeom prst="rect">
            <a:avLst/>
          </a:prstGeom>
          <a:noFill/>
          <a:ln/>
        </p:spPr>
        <p:txBody>
          <a:bodyPr wrap="square" lIns="0" tIns="0" rIns="0" bIns="0" rtlCol="0" anchor="ctr"/>
          <a:lstStyle/>
          <a:p>
            <a:pPr marL="0" indent="0" algn="ctr">
              <a:buNone/>
            </a:pPr>
            <a:r>
              <a:rPr lang="en-US" sz="1200" b="1" dirty="0">
                <a:solidFill>
                  <a:srgbClr val="45C241"/>
                </a:solidFill>
                <a:latin typeface="Calibri" pitchFamily="34" charset="0"/>
                <a:ea typeface="Calibri" pitchFamily="34" charset="-122"/>
                <a:cs typeface="Calibri" pitchFamily="34" charset="-120"/>
              </a:rPr>
              <a:t>Estadísticas</a:t>
            </a:r>
            <a:endParaRPr lang="en-US" sz="1200" dirty="0"/>
          </a:p>
        </p:txBody>
      </p:sp>
      <p:sp>
        <p:nvSpPr>
          <p:cNvPr id="43" name="Text 41"/>
          <p:cNvSpPr/>
          <p:nvPr/>
        </p:nvSpPr>
        <p:spPr>
          <a:xfrm>
            <a:off x="4709160" y="3877056"/>
            <a:ext cx="1920240" cy="658368"/>
          </a:xfrm>
          <a:prstGeom prst="rect">
            <a:avLst/>
          </a:prstGeom>
          <a:noFill/>
          <a:ln/>
        </p:spPr>
        <p:txBody>
          <a:bodyPr wrap="square" lIns="0" tIns="0" rIns="0" bIns="0"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Informes en tiempo real de IVR, grupos, extensiones y DDI</a:t>
            </a:r>
            <a:endParaRPr lang="en-US" sz="850" dirty="0"/>
          </a:p>
        </p:txBody>
      </p:sp>
      <p:sp>
        <p:nvSpPr>
          <p:cNvPr id="44" name="Shape 42"/>
          <p:cNvSpPr/>
          <p:nvPr/>
        </p:nvSpPr>
        <p:spPr>
          <a:xfrm>
            <a:off x="6858000" y="2944368"/>
            <a:ext cx="2103120" cy="178308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45" name="Shape 43"/>
          <p:cNvSpPr/>
          <p:nvPr/>
        </p:nvSpPr>
        <p:spPr>
          <a:xfrm>
            <a:off x="6858000" y="2944368"/>
            <a:ext cx="2103120" cy="54864"/>
          </a:xfrm>
          <a:prstGeom prst="rect">
            <a:avLst/>
          </a:prstGeom>
          <a:solidFill>
            <a:srgbClr val="45C241"/>
          </a:solidFill>
          <a:ln w="12700">
            <a:solidFill>
              <a:srgbClr val="45C241"/>
            </a:solidFill>
            <a:prstDash val="solid"/>
          </a:ln>
        </p:spPr>
        <p:txBody>
          <a:bodyPr/>
          <a:lstStyle/>
          <a:p>
            <a:endParaRPr lang="es-ES"/>
          </a:p>
        </p:txBody>
      </p:sp>
      <p:sp>
        <p:nvSpPr>
          <p:cNvPr id="46" name="Text 44"/>
          <p:cNvSpPr/>
          <p:nvPr/>
        </p:nvSpPr>
        <p:spPr>
          <a:xfrm>
            <a:off x="6858000" y="3081528"/>
            <a:ext cx="210312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7" name="Text 45"/>
          <p:cNvSpPr/>
          <p:nvPr/>
        </p:nvSpPr>
        <p:spPr>
          <a:xfrm>
            <a:off x="6949440" y="3584448"/>
            <a:ext cx="1920240" cy="292608"/>
          </a:xfrm>
          <a:prstGeom prst="rect">
            <a:avLst/>
          </a:prstGeom>
          <a:noFill/>
          <a:ln/>
        </p:spPr>
        <p:txBody>
          <a:bodyPr wrap="square" lIns="0" tIns="0" rIns="0" bIns="0" rtlCol="0" anchor="ctr"/>
          <a:lstStyle/>
          <a:p>
            <a:pPr marL="0" indent="0" algn="ctr">
              <a:buNone/>
            </a:pPr>
            <a:r>
              <a:rPr lang="en-US" sz="1200" b="1" dirty="0">
                <a:solidFill>
                  <a:srgbClr val="45C241"/>
                </a:solidFill>
                <a:latin typeface="Calibri" pitchFamily="34" charset="0"/>
                <a:ea typeface="Calibri" pitchFamily="34" charset="-122"/>
                <a:cs typeface="Calibri" pitchFamily="34" charset="-120"/>
              </a:rPr>
              <a:t>Integraciones</a:t>
            </a:r>
            <a:endParaRPr lang="en-US" sz="1200" dirty="0"/>
          </a:p>
        </p:txBody>
      </p:sp>
      <p:sp>
        <p:nvSpPr>
          <p:cNvPr id="48" name="Text 46"/>
          <p:cNvSpPr/>
          <p:nvPr/>
        </p:nvSpPr>
        <p:spPr>
          <a:xfrm>
            <a:off x="6949440" y="3877056"/>
            <a:ext cx="1920240" cy="658368"/>
          </a:xfrm>
          <a:prstGeom prst="rect">
            <a:avLst/>
          </a:prstGeom>
          <a:noFill/>
          <a:ln/>
        </p:spPr>
        <p:txBody>
          <a:bodyPr wrap="square" lIns="0" tIns="0" rIns="0" bIns="0"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Salesforce, HubSpot, Zendesk, MS Dynamics, Zoho y más</a:t>
            </a:r>
            <a:endParaRPr lang="en-US" sz="850" dirty="0"/>
          </a:p>
        </p:txBody>
      </p:sp>
      <p:sp>
        <p:nvSpPr>
          <p:cNvPr id="49" name="Shape 47"/>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50" name="Text 48"/>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PRESTACIONES LYNKSIP — CONFIGURACIÓN DEL SERVICIO</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444444"/>
                </a:solidFill>
                <a:latin typeface="Calibri" pitchFamily="34" charset="0"/>
                <a:ea typeface="Calibri" pitchFamily="34" charset="-122"/>
                <a:cs typeface="Calibri" pitchFamily="34" charset="-120"/>
              </a:rPr>
              <a:t>Gestión completa de llamadas · Seguridad · Personalización total del comportamiento</a:t>
            </a:r>
            <a:endParaRPr lang="en-US" sz="1000" dirty="0"/>
          </a:p>
        </p:txBody>
      </p:sp>
      <p:sp>
        <p:nvSpPr>
          <p:cNvPr id="6" name="Shape 4"/>
          <p:cNvSpPr/>
          <p:nvPr/>
        </p:nvSpPr>
        <p:spPr>
          <a:xfrm>
            <a:off x="256032" y="1024128"/>
            <a:ext cx="4315968" cy="3749040"/>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24128"/>
            <a:ext cx="4315968" cy="54864"/>
          </a:xfrm>
          <a:prstGeom prst="rect">
            <a:avLst/>
          </a:prstGeom>
          <a:solidFill>
            <a:srgbClr val="45C241"/>
          </a:solidFill>
          <a:ln w="12700">
            <a:solidFill>
              <a:srgbClr val="45C241"/>
            </a:solidFill>
            <a:prstDash val="solid"/>
          </a:ln>
        </p:spPr>
        <p:txBody>
          <a:bodyPr/>
          <a:lstStyle/>
          <a:p>
            <a:endParaRPr lang="es-ES"/>
          </a:p>
        </p:txBody>
      </p:sp>
      <p:sp>
        <p:nvSpPr>
          <p:cNvPr id="8" name="Shape 6"/>
          <p:cNvSpPr/>
          <p:nvPr/>
        </p:nvSpPr>
        <p:spPr>
          <a:xfrm>
            <a:off x="365760" y="1133856"/>
            <a:ext cx="4096512" cy="310896"/>
          </a:xfrm>
          <a:prstGeom prst="rect">
            <a:avLst/>
          </a:prstGeom>
          <a:solidFill>
            <a:srgbClr val="FFFFFF"/>
          </a:solidFill>
          <a:ln w="12700">
            <a:solidFill>
              <a:srgbClr val="EEEEEE"/>
            </a:solidFill>
            <a:prstDash val="solid"/>
          </a:ln>
        </p:spPr>
        <p:txBody>
          <a:bodyPr/>
          <a:lstStyle/>
          <a:p>
            <a:endParaRPr lang="es-ES"/>
          </a:p>
        </p:txBody>
      </p:sp>
      <p:sp>
        <p:nvSpPr>
          <p:cNvPr id="9" name="Shape 7"/>
          <p:cNvSpPr/>
          <p:nvPr/>
        </p:nvSpPr>
        <p:spPr>
          <a:xfrm>
            <a:off x="365760" y="1216152"/>
            <a:ext cx="54864" cy="146304"/>
          </a:xfrm>
          <a:prstGeom prst="rect">
            <a:avLst/>
          </a:prstGeom>
          <a:solidFill>
            <a:srgbClr val="45C241"/>
          </a:solidFill>
          <a:ln w="12700">
            <a:solidFill>
              <a:srgbClr val="45C241"/>
            </a:solidFill>
            <a:prstDash val="solid"/>
          </a:ln>
        </p:spPr>
        <p:txBody>
          <a:bodyPr/>
          <a:lstStyle/>
          <a:p>
            <a:endParaRPr lang="es-ES"/>
          </a:p>
        </p:txBody>
      </p:sp>
      <p:sp>
        <p:nvSpPr>
          <p:cNvPr id="10" name="Text 8"/>
          <p:cNvSpPr/>
          <p:nvPr/>
        </p:nvSpPr>
        <p:spPr>
          <a:xfrm>
            <a:off x="493776" y="1179576"/>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Gestión del comportamiento de llamadas entrantes</a:t>
            </a:r>
            <a:endParaRPr lang="en-US" sz="900" dirty="0"/>
          </a:p>
        </p:txBody>
      </p:sp>
      <p:sp>
        <p:nvSpPr>
          <p:cNvPr id="11" name="Shape 9"/>
          <p:cNvSpPr/>
          <p:nvPr/>
        </p:nvSpPr>
        <p:spPr>
          <a:xfrm>
            <a:off x="365760" y="1490472"/>
            <a:ext cx="4096512" cy="310896"/>
          </a:xfrm>
          <a:prstGeom prst="rect">
            <a:avLst/>
          </a:prstGeom>
          <a:solidFill>
            <a:srgbClr val="F5F5F5"/>
          </a:solidFill>
          <a:ln w="12700">
            <a:solidFill>
              <a:srgbClr val="EEEEEE"/>
            </a:solidFill>
            <a:prstDash val="solid"/>
          </a:ln>
        </p:spPr>
        <p:txBody>
          <a:bodyPr/>
          <a:lstStyle/>
          <a:p>
            <a:endParaRPr lang="es-ES"/>
          </a:p>
        </p:txBody>
      </p:sp>
      <p:sp>
        <p:nvSpPr>
          <p:cNvPr id="12" name="Shape 10"/>
          <p:cNvSpPr/>
          <p:nvPr/>
        </p:nvSpPr>
        <p:spPr>
          <a:xfrm>
            <a:off x="365760" y="1572768"/>
            <a:ext cx="54864" cy="146304"/>
          </a:xfrm>
          <a:prstGeom prst="rect">
            <a:avLst/>
          </a:prstGeom>
          <a:solidFill>
            <a:srgbClr val="45C241"/>
          </a:solidFill>
          <a:ln w="12700">
            <a:solidFill>
              <a:srgbClr val="45C241"/>
            </a:solidFill>
            <a:prstDash val="solid"/>
          </a:ln>
        </p:spPr>
        <p:txBody>
          <a:bodyPr/>
          <a:lstStyle/>
          <a:p>
            <a:endParaRPr lang="es-ES"/>
          </a:p>
        </p:txBody>
      </p:sp>
      <p:sp>
        <p:nvSpPr>
          <p:cNvPr id="13" name="Text 11"/>
          <p:cNvSpPr/>
          <p:nvPr/>
        </p:nvSpPr>
        <p:spPr>
          <a:xfrm>
            <a:off x="493776" y="1536192"/>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Operadoras automáticas multinivel (IVR)</a:t>
            </a:r>
            <a:endParaRPr lang="en-US" sz="900" dirty="0"/>
          </a:p>
        </p:txBody>
      </p:sp>
      <p:sp>
        <p:nvSpPr>
          <p:cNvPr id="14" name="Shape 12"/>
          <p:cNvSpPr/>
          <p:nvPr/>
        </p:nvSpPr>
        <p:spPr>
          <a:xfrm>
            <a:off x="365760" y="1847088"/>
            <a:ext cx="4096512" cy="310896"/>
          </a:xfrm>
          <a:prstGeom prst="rect">
            <a:avLst/>
          </a:prstGeom>
          <a:solidFill>
            <a:srgbClr val="FFFFFF"/>
          </a:solidFill>
          <a:ln w="12700">
            <a:solidFill>
              <a:srgbClr val="EEEEEE"/>
            </a:solidFill>
            <a:prstDash val="solid"/>
          </a:ln>
        </p:spPr>
        <p:txBody>
          <a:bodyPr/>
          <a:lstStyle/>
          <a:p>
            <a:endParaRPr lang="es-ES"/>
          </a:p>
        </p:txBody>
      </p:sp>
      <p:sp>
        <p:nvSpPr>
          <p:cNvPr id="15" name="Shape 13"/>
          <p:cNvSpPr/>
          <p:nvPr/>
        </p:nvSpPr>
        <p:spPr>
          <a:xfrm>
            <a:off x="365760" y="1929384"/>
            <a:ext cx="54864" cy="146304"/>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493776" y="1892808"/>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Buzón de voz (Mail, Web, Teléfono)</a:t>
            </a:r>
            <a:endParaRPr lang="en-US" sz="900" dirty="0"/>
          </a:p>
        </p:txBody>
      </p:sp>
      <p:sp>
        <p:nvSpPr>
          <p:cNvPr id="17" name="Shape 15"/>
          <p:cNvSpPr/>
          <p:nvPr/>
        </p:nvSpPr>
        <p:spPr>
          <a:xfrm>
            <a:off x="365760" y="2203704"/>
            <a:ext cx="4096512" cy="310896"/>
          </a:xfrm>
          <a:prstGeom prst="rect">
            <a:avLst/>
          </a:prstGeom>
          <a:solidFill>
            <a:srgbClr val="F5F5F5"/>
          </a:solidFill>
          <a:ln w="12700">
            <a:solidFill>
              <a:srgbClr val="EEEEEE"/>
            </a:solidFill>
            <a:prstDash val="solid"/>
          </a:ln>
        </p:spPr>
        <p:txBody>
          <a:bodyPr/>
          <a:lstStyle/>
          <a:p>
            <a:endParaRPr lang="es-ES"/>
          </a:p>
        </p:txBody>
      </p:sp>
      <p:sp>
        <p:nvSpPr>
          <p:cNvPr id="18" name="Shape 16"/>
          <p:cNvSpPr/>
          <p:nvPr/>
        </p:nvSpPr>
        <p:spPr>
          <a:xfrm>
            <a:off x="365760" y="2286000"/>
            <a:ext cx="54864" cy="146304"/>
          </a:xfrm>
          <a:prstGeom prst="rect">
            <a:avLst/>
          </a:prstGeom>
          <a:solidFill>
            <a:srgbClr val="45C241"/>
          </a:solidFill>
          <a:ln w="12700">
            <a:solidFill>
              <a:srgbClr val="45C241"/>
            </a:solidFill>
            <a:prstDash val="solid"/>
          </a:ln>
        </p:spPr>
        <p:txBody>
          <a:bodyPr/>
          <a:lstStyle/>
          <a:p>
            <a:endParaRPr lang="es-ES"/>
          </a:p>
        </p:txBody>
      </p:sp>
      <p:sp>
        <p:nvSpPr>
          <p:cNvPr id="19" name="Text 17"/>
          <p:cNvSpPr/>
          <p:nvPr/>
        </p:nvSpPr>
        <p:spPr>
          <a:xfrm>
            <a:off x="493776" y="2249424"/>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Multi-registro y multidispositivo</a:t>
            </a:r>
            <a:endParaRPr lang="en-US" sz="900" dirty="0"/>
          </a:p>
        </p:txBody>
      </p:sp>
      <p:sp>
        <p:nvSpPr>
          <p:cNvPr id="20" name="Shape 18"/>
          <p:cNvSpPr/>
          <p:nvPr/>
        </p:nvSpPr>
        <p:spPr>
          <a:xfrm>
            <a:off x="365760" y="2560320"/>
            <a:ext cx="4096512" cy="310896"/>
          </a:xfrm>
          <a:prstGeom prst="rect">
            <a:avLst/>
          </a:prstGeom>
          <a:solidFill>
            <a:srgbClr val="FFFFFF"/>
          </a:solidFill>
          <a:ln w="12700">
            <a:solidFill>
              <a:srgbClr val="EEEEEE"/>
            </a:solidFill>
            <a:prstDash val="solid"/>
          </a:ln>
        </p:spPr>
        <p:txBody>
          <a:bodyPr/>
          <a:lstStyle/>
          <a:p>
            <a:endParaRPr lang="es-ES"/>
          </a:p>
        </p:txBody>
      </p:sp>
      <p:sp>
        <p:nvSpPr>
          <p:cNvPr id="21" name="Shape 19"/>
          <p:cNvSpPr/>
          <p:nvPr/>
        </p:nvSpPr>
        <p:spPr>
          <a:xfrm>
            <a:off x="365760" y="2642616"/>
            <a:ext cx="54864" cy="146304"/>
          </a:xfrm>
          <a:prstGeom prst="rect">
            <a:avLst/>
          </a:prstGeom>
          <a:solidFill>
            <a:srgbClr val="45C241"/>
          </a:solidFill>
          <a:ln w="12700">
            <a:solidFill>
              <a:srgbClr val="45C241"/>
            </a:solidFill>
            <a:prstDash val="solid"/>
          </a:ln>
        </p:spPr>
        <p:txBody>
          <a:bodyPr/>
          <a:lstStyle/>
          <a:p>
            <a:endParaRPr lang="es-ES"/>
          </a:p>
        </p:txBody>
      </p:sp>
      <p:sp>
        <p:nvSpPr>
          <p:cNvPr id="22" name="Text 20"/>
          <p:cNvSpPr/>
          <p:nvPr/>
        </p:nvSpPr>
        <p:spPr>
          <a:xfrm>
            <a:off x="493776" y="2606040"/>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Monitor de extensiones en tiempo real</a:t>
            </a:r>
            <a:endParaRPr lang="en-US" sz="900" dirty="0"/>
          </a:p>
        </p:txBody>
      </p:sp>
      <p:sp>
        <p:nvSpPr>
          <p:cNvPr id="23" name="Shape 21"/>
          <p:cNvSpPr/>
          <p:nvPr/>
        </p:nvSpPr>
        <p:spPr>
          <a:xfrm>
            <a:off x="365760" y="2916936"/>
            <a:ext cx="4096512" cy="310896"/>
          </a:xfrm>
          <a:prstGeom prst="rect">
            <a:avLst/>
          </a:prstGeom>
          <a:solidFill>
            <a:srgbClr val="F5F5F5"/>
          </a:solidFill>
          <a:ln w="12700">
            <a:solidFill>
              <a:srgbClr val="EEEEEE"/>
            </a:solidFill>
            <a:prstDash val="solid"/>
          </a:ln>
        </p:spPr>
        <p:txBody>
          <a:bodyPr/>
          <a:lstStyle/>
          <a:p>
            <a:endParaRPr lang="es-ES"/>
          </a:p>
        </p:txBody>
      </p:sp>
      <p:sp>
        <p:nvSpPr>
          <p:cNvPr id="24" name="Shape 22"/>
          <p:cNvSpPr/>
          <p:nvPr/>
        </p:nvSpPr>
        <p:spPr>
          <a:xfrm>
            <a:off x="365760" y="2999232"/>
            <a:ext cx="54864" cy="146304"/>
          </a:xfrm>
          <a:prstGeom prst="rect">
            <a:avLst/>
          </a:prstGeom>
          <a:solidFill>
            <a:srgbClr val="45C241"/>
          </a:solidFill>
          <a:ln w="12700">
            <a:solidFill>
              <a:srgbClr val="45C241"/>
            </a:solidFill>
            <a:prstDash val="solid"/>
          </a:ln>
        </p:spPr>
        <p:txBody>
          <a:bodyPr/>
          <a:lstStyle/>
          <a:p>
            <a:endParaRPr lang="es-ES"/>
          </a:p>
        </p:txBody>
      </p:sp>
      <p:sp>
        <p:nvSpPr>
          <p:cNvPr id="25" name="Text 23"/>
          <p:cNvSpPr/>
          <p:nvPr/>
        </p:nvSpPr>
        <p:spPr>
          <a:xfrm>
            <a:off x="493776" y="2962656"/>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Escucha y monitorización de llamadas</a:t>
            </a:r>
            <a:endParaRPr lang="en-US" sz="900" dirty="0"/>
          </a:p>
        </p:txBody>
      </p:sp>
      <p:sp>
        <p:nvSpPr>
          <p:cNvPr id="26" name="Shape 24"/>
          <p:cNvSpPr/>
          <p:nvPr/>
        </p:nvSpPr>
        <p:spPr>
          <a:xfrm>
            <a:off x="365760" y="3273552"/>
            <a:ext cx="4096512" cy="310896"/>
          </a:xfrm>
          <a:prstGeom prst="rect">
            <a:avLst/>
          </a:prstGeom>
          <a:solidFill>
            <a:srgbClr val="FFFFFF"/>
          </a:solidFill>
          <a:ln w="12700">
            <a:solidFill>
              <a:srgbClr val="EEEEEE"/>
            </a:solidFill>
            <a:prstDash val="solid"/>
          </a:ln>
        </p:spPr>
        <p:txBody>
          <a:bodyPr/>
          <a:lstStyle/>
          <a:p>
            <a:endParaRPr lang="es-ES"/>
          </a:p>
        </p:txBody>
      </p:sp>
      <p:sp>
        <p:nvSpPr>
          <p:cNvPr id="27" name="Shape 25"/>
          <p:cNvSpPr/>
          <p:nvPr/>
        </p:nvSpPr>
        <p:spPr>
          <a:xfrm>
            <a:off x="365760" y="3355848"/>
            <a:ext cx="54864" cy="146304"/>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493776" y="3319272"/>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Grabación de llamadas (total o a demanda)</a:t>
            </a:r>
            <a:endParaRPr lang="en-US" sz="900" dirty="0"/>
          </a:p>
        </p:txBody>
      </p:sp>
      <p:sp>
        <p:nvSpPr>
          <p:cNvPr id="29" name="Shape 27"/>
          <p:cNvSpPr/>
          <p:nvPr/>
        </p:nvSpPr>
        <p:spPr>
          <a:xfrm>
            <a:off x="365760" y="3630168"/>
            <a:ext cx="4096512" cy="310896"/>
          </a:xfrm>
          <a:prstGeom prst="rect">
            <a:avLst/>
          </a:prstGeom>
          <a:solidFill>
            <a:srgbClr val="F5F5F5"/>
          </a:solidFill>
          <a:ln w="12700">
            <a:solidFill>
              <a:srgbClr val="EEEEEE"/>
            </a:solidFill>
            <a:prstDash val="solid"/>
          </a:ln>
        </p:spPr>
        <p:txBody>
          <a:bodyPr/>
          <a:lstStyle/>
          <a:p>
            <a:endParaRPr lang="es-ES"/>
          </a:p>
        </p:txBody>
      </p:sp>
      <p:sp>
        <p:nvSpPr>
          <p:cNvPr id="30" name="Shape 28"/>
          <p:cNvSpPr/>
          <p:nvPr/>
        </p:nvSpPr>
        <p:spPr>
          <a:xfrm>
            <a:off x="365760" y="3712464"/>
            <a:ext cx="54864" cy="146304"/>
          </a:xfrm>
          <a:prstGeom prst="rect">
            <a:avLst/>
          </a:prstGeom>
          <a:solidFill>
            <a:srgbClr val="45C241"/>
          </a:solidFill>
          <a:ln w="12700">
            <a:solidFill>
              <a:srgbClr val="45C241"/>
            </a:solidFill>
            <a:prstDash val="solid"/>
          </a:ln>
        </p:spPr>
        <p:txBody>
          <a:bodyPr/>
          <a:lstStyle/>
          <a:p>
            <a:endParaRPr lang="es-ES"/>
          </a:p>
        </p:txBody>
      </p:sp>
      <p:sp>
        <p:nvSpPr>
          <p:cNvPr id="31" name="Text 29"/>
          <p:cNvSpPr/>
          <p:nvPr/>
        </p:nvSpPr>
        <p:spPr>
          <a:xfrm>
            <a:off x="493776" y="3675888"/>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Locuciones y música de espera personalizables</a:t>
            </a:r>
            <a:endParaRPr lang="en-US" sz="900" dirty="0"/>
          </a:p>
        </p:txBody>
      </p:sp>
      <p:sp>
        <p:nvSpPr>
          <p:cNvPr id="32" name="Shape 30"/>
          <p:cNvSpPr/>
          <p:nvPr/>
        </p:nvSpPr>
        <p:spPr>
          <a:xfrm>
            <a:off x="365760" y="3986784"/>
            <a:ext cx="4096512" cy="310896"/>
          </a:xfrm>
          <a:prstGeom prst="rect">
            <a:avLst/>
          </a:prstGeom>
          <a:solidFill>
            <a:srgbClr val="FFFFFF"/>
          </a:solidFill>
          <a:ln w="12700">
            <a:solidFill>
              <a:srgbClr val="EEEEEE"/>
            </a:solidFill>
            <a:prstDash val="solid"/>
          </a:ln>
        </p:spPr>
        <p:txBody>
          <a:bodyPr/>
          <a:lstStyle/>
          <a:p>
            <a:endParaRPr lang="es-ES"/>
          </a:p>
        </p:txBody>
      </p:sp>
      <p:sp>
        <p:nvSpPr>
          <p:cNvPr id="33" name="Shape 31"/>
          <p:cNvSpPr/>
          <p:nvPr/>
        </p:nvSpPr>
        <p:spPr>
          <a:xfrm>
            <a:off x="365760" y="4069080"/>
            <a:ext cx="54864" cy="146304"/>
          </a:xfrm>
          <a:prstGeom prst="rect">
            <a:avLst/>
          </a:prstGeom>
          <a:solidFill>
            <a:srgbClr val="45C241"/>
          </a:solidFill>
          <a:ln w="12700">
            <a:solidFill>
              <a:srgbClr val="45C241"/>
            </a:solidFill>
            <a:prstDash val="solid"/>
          </a:ln>
        </p:spPr>
        <p:txBody>
          <a:bodyPr/>
          <a:lstStyle/>
          <a:p>
            <a:endParaRPr lang="es-ES"/>
          </a:p>
        </p:txBody>
      </p:sp>
      <p:sp>
        <p:nvSpPr>
          <p:cNvPr id="34" name="Text 32"/>
          <p:cNvSpPr/>
          <p:nvPr/>
        </p:nvSpPr>
        <p:spPr>
          <a:xfrm>
            <a:off x="493776" y="4032504"/>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Grupos y colas de llamadas</a:t>
            </a:r>
            <a:endParaRPr lang="en-US" sz="900" dirty="0"/>
          </a:p>
        </p:txBody>
      </p:sp>
      <p:sp>
        <p:nvSpPr>
          <p:cNvPr id="35" name="Shape 33"/>
          <p:cNvSpPr/>
          <p:nvPr/>
        </p:nvSpPr>
        <p:spPr>
          <a:xfrm>
            <a:off x="365760" y="4343400"/>
            <a:ext cx="4096512" cy="310896"/>
          </a:xfrm>
          <a:prstGeom prst="rect">
            <a:avLst/>
          </a:prstGeom>
          <a:solidFill>
            <a:srgbClr val="F5F5F5"/>
          </a:solidFill>
          <a:ln w="12700">
            <a:solidFill>
              <a:srgbClr val="EEEEEE"/>
            </a:solidFill>
            <a:prstDash val="solid"/>
          </a:ln>
        </p:spPr>
        <p:txBody>
          <a:bodyPr/>
          <a:lstStyle/>
          <a:p>
            <a:endParaRPr lang="es-ES"/>
          </a:p>
        </p:txBody>
      </p:sp>
      <p:sp>
        <p:nvSpPr>
          <p:cNvPr id="36" name="Shape 34"/>
          <p:cNvSpPr/>
          <p:nvPr/>
        </p:nvSpPr>
        <p:spPr>
          <a:xfrm>
            <a:off x="365760" y="4425696"/>
            <a:ext cx="54864" cy="146304"/>
          </a:xfrm>
          <a:prstGeom prst="rect">
            <a:avLst/>
          </a:prstGeom>
          <a:solidFill>
            <a:srgbClr val="45C241"/>
          </a:solidFill>
          <a:ln w="12700">
            <a:solidFill>
              <a:srgbClr val="45C241"/>
            </a:solidFill>
            <a:prstDash val="solid"/>
          </a:ln>
        </p:spPr>
        <p:txBody>
          <a:bodyPr/>
          <a:lstStyle/>
          <a:p>
            <a:endParaRPr lang="es-ES"/>
          </a:p>
        </p:txBody>
      </p:sp>
      <p:sp>
        <p:nvSpPr>
          <p:cNvPr id="37" name="Text 35"/>
          <p:cNvSpPr/>
          <p:nvPr/>
        </p:nvSpPr>
        <p:spPr>
          <a:xfrm>
            <a:off x="493776" y="4389120"/>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Agenda corporativa</a:t>
            </a:r>
            <a:endParaRPr lang="en-US" sz="900" dirty="0"/>
          </a:p>
        </p:txBody>
      </p:sp>
      <p:sp>
        <p:nvSpPr>
          <p:cNvPr id="38" name="Shape 36"/>
          <p:cNvSpPr/>
          <p:nvPr/>
        </p:nvSpPr>
        <p:spPr>
          <a:xfrm>
            <a:off x="4681728" y="1024128"/>
            <a:ext cx="4315968" cy="3749040"/>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9" name="Shape 37"/>
          <p:cNvSpPr/>
          <p:nvPr/>
        </p:nvSpPr>
        <p:spPr>
          <a:xfrm>
            <a:off x="4681728" y="1024128"/>
            <a:ext cx="4315968" cy="54864"/>
          </a:xfrm>
          <a:prstGeom prst="rect">
            <a:avLst/>
          </a:prstGeom>
          <a:solidFill>
            <a:srgbClr val="45C241"/>
          </a:solidFill>
          <a:ln w="12700">
            <a:solidFill>
              <a:srgbClr val="45C241"/>
            </a:solidFill>
            <a:prstDash val="solid"/>
          </a:ln>
        </p:spPr>
        <p:txBody>
          <a:bodyPr/>
          <a:lstStyle/>
          <a:p>
            <a:endParaRPr lang="es-ES"/>
          </a:p>
        </p:txBody>
      </p:sp>
      <p:sp>
        <p:nvSpPr>
          <p:cNvPr id="40" name="Shape 38"/>
          <p:cNvSpPr/>
          <p:nvPr/>
        </p:nvSpPr>
        <p:spPr>
          <a:xfrm>
            <a:off x="4791456" y="1133856"/>
            <a:ext cx="4096512" cy="310896"/>
          </a:xfrm>
          <a:prstGeom prst="rect">
            <a:avLst/>
          </a:prstGeom>
          <a:solidFill>
            <a:srgbClr val="FFFFFF"/>
          </a:solidFill>
          <a:ln w="12700">
            <a:solidFill>
              <a:srgbClr val="EEEEEE"/>
            </a:solidFill>
            <a:prstDash val="solid"/>
          </a:ln>
        </p:spPr>
        <p:txBody>
          <a:bodyPr/>
          <a:lstStyle/>
          <a:p>
            <a:endParaRPr lang="es-ES"/>
          </a:p>
        </p:txBody>
      </p:sp>
      <p:sp>
        <p:nvSpPr>
          <p:cNvPr id="41" name="Shape 39"/>
          <p:cNvSpPr/>
          <p:nvPr/>
        </p:nvSpPr>
        <p:spPr>
          <a:xfrm>
            <a:off x="4791456" y="1216152"/>
            <a:ext cx="54864" cy="146304"/>
          </a:xfrm>
          <a:prstGeom prst="rect">
            <a:avLst/>
          </a:prstGeom>
          <a:solidFill>
            <a:srgbClr val="45C241"/>
          </a:solidFill>
          <a:ln w="12700">
            <a:solidFill>
              <a:srgbClr val="45C241"/>
            </a:solidFill>
            <a:prstDash val="solid"/>
          </a:ln>
        </p:spPr>
        <p:txBody>
          <a:bodyPr/>
          <a:lstStyle/>
          <a:p>
            <a:endParaRPr lang="es-ES"/>
          </a:p>
        </p:txBody>
      </p:sp>
      <p:sp>
        <p:nvSpPr>
          <p:cNvPr id="42" name="Text 40"/>
          <p:cNvSpPr/>
          <p:nvPr/>
        </p:nvSpPr>
        <p:spPr>
          <a:xfrm>
            <a:off x="4919472" y="1179576"/>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Securización de llamadas (TLS)</a:t>
            </a:r>
            <a:endParaRPr lang="en-US" sz="900" dirty="0"/>
          </a:p>
        </p:txBody>
      </p:sp>
      <p:sp>
        <p:nvSpPr>
          <p:cNvPr id="43" name="Shape 41"/>
          <p:cNvSpPr/>
          <p:nvPr/>
        </p:nvSpPr>
        <p:spPr>
          <a:xfrm>
            <a:off x="4791456" y="1490472"/>
            <a:ext cx="4096512" cy="310896"/>
          </a:xfrm>
          <a:prstGeom prst="rect">
            <a:avLst/>
          </a:prstGeom>
          <a:solidFill>
            <a:srgbClr val="F5F5F5"/>
          </a:solidFill>
          <a:ln w="12700">
            <a:solidFill>
              <a:srgbClr val="EEEEEE"/>
            </a:solidFill>
            <a:prstDash val="solid"/>
          </a:ln>
        </p:spPr>
        <p:txBody>
          <a:bodyPr/>
          <a:lstStyle/>
          <a:p>
            <a:endParaRPr lang="es-ES"/>
          </a:p>
        </p:txBody>
      </p:sp>
      <p:sp>
        <p:nvSpPr>
          <p:cNvPr id="44" name="Shape 42"/>
          <p:cNvSpPr/>
          <p:nvPr/>
        </p:nvSpPr>
        <p:spPr>
          <a:xfrm>
            <a:off x="4791456" y="1572768"/>
            <a:ext cx="54864" cy="146304"/>
          </a:xfrm>
          <a:prstGeom prst="rect">
            <a:avLst/>
          </a:prstGeom>
          <a:solidFill>
            <a:srgbClr val="45C241"/>
          </a:solidFill>
          <a:ln w="12700">
            <a:solidFill>
              <a:srgbClr val="45C241"/>
            </a:solidFill>
            <a:prstDash val="solid"/>
          </a:ln>
        </p:spPr>
        <p:txBody>
          <a:bodyPr/>
          <a:lstStyle/>
          <a:p>
            <a:endParaRPr lang="es-ES"/>
          </a:p>
        </p:txBody>
      </p:sp>
      <p:sp>
        <p:nvSpPr>
          <p:cNvPr id="45" name="Text 43"/>
          <p:cNvSpPr/>
          <p:nvPr/>
        </p:nvSpPr>
        <p:spPr>
          <a:xfrm>
            <a:off x="4919472" y="1536192"/>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Cliente WebRTC</a:t>
            </a:r>
            <a:endParaRPr lang="en-US" sz="900" dirty="0"/>
          </a:p>
        </p:txBody>
      </p:sp>
      <p:sp>
        <p:nvSpPr>
          <p:cNvPr id="46" name="Shape 44"/>
          <p:cNvSpPr/>
          <p:nvPr/>
        </p:nvSpPr>
        <p:spPr>
          <a:xfrm>
            <a:off x="4791456" y="1847088"/>
            <a:ext cx="4096512" cy="310896"/>
          </a:xfrm>
          <a:prstGeom prst="rect">
            <a:avLst/>
          </a:prstGeom>
          <a:solidFill>
            <a:srgbClr val="FFFFFF"/>
          </a:solidFill>
          <a:ln w="12700">
            <a:solidFill>
              <a:srgbClr val="EEEEEE"/>
            </a:solidFill>
            <a:prstDash val="solid"/>
          </a:ln>
        </p:spPr>
        <p:txBody>
          <a:bodyPr/>
          <a:lstStyle/>
          <a:p>
            <a:endParaRPr lang="es-ES"/>
          </a:p>
        </p:txBody>
      </p:sp>
      <p:sp>
        <p:nvSpPr>
          <p:cNvPr id="47" name="Shape 45"/>
          <p:cNvSpPr/>
          <p:nvPr/>
        </p:nvSpPr>
        <p:spPr>
          <a:xfrm>
            <a:off x="4791456" y="1929384"/>
            <a:ext cx="54864" cy="146304"/>
          </a:xfrm>
          <a:prstGeom prst="rect">
            <a:avLst/>
          </a:prstGeom>
          <a:solidFill>
            <a:srgbClr val="45C241"/>
          </a:solidFill>
          <a:ln w="12700">
            <a:solidFill>
              <a:srgbClr val="45C241"/>
            </a:solidFill>
            <a:prstDash val="solid"/>
          </a:ln>
        </p:spPr>
        <p:txBody>
          <a:bodyPr/>
          <a:lstStyle/>
          <a:p>
            <a:endParaRPr lang="es-ES"/>
          </a:p>
        </p:txBody>
      </p:sp>
      <p:sp>
        <p:nvSpPr>
          <p:cNvPr id="48" name="Text 46"/>
          <p:cNvSpPr/>
          <p:nvPr/>
        </p:nvSpPr>
        <p:spPr>
          <a:xfrm>
            <a:off x="4919472" y="1892808"/>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Panel de gestión cliente</a:t>
            </a:r>
            <a:endParaRPr lang="en-US" sz="900" dirty="0"/>
          </a:p>
        </p:txBody>
      </p:sp>
      <p:sp>
        <p:nvSpPr>
          <p:cNvPr id="49" name="Shape 47"/>
          <p:cNvSpPr/>
          <p:nvPr/>
        </p:nvSpPr>
        <p:spPr>
          <a:xfrm>
            <a:off x="4791456" y="2203704"/>
            <a:ext cx="4096512" cy="310896"/>
          </a:xfrm>
          <a:prstGeom prst="rect">
            <a:avLst/>
          </a:prstGeom>
          <a:solidFill>
            <a:srgbClr val="F5F5F5"/>
          </a:solidFill>
          <a:ln w="12700">
            <a:solidFill>
              <a:srgbClr val="EEEEEE"/>
            </a:solidFill>
            <a:prstDash val="solid"/>
          </a:ln>
        </p:spPr>
        <p:txBody>
          <a:bodyPr/>
          <a:lstStyle/>
          <a:p>
            <a:endParaRPr lang="es-ES"/>
          </a:p>
        </p:txBody>
      </p:sp>
      <p:sp>
        <p:nvSpPr>
          <p:cNvPr id="50" name="Shape 48"/>
          <p:cNvSpPr/>
          <p:nvPr/>
        </p:nvSpPr>
        <p:spPr>
          <a:xfrm>
            <a:off x="4791456" y="2286000"/>
            <a:ext cx="54864" cy="146304"/>
          </a:xfrm>
          <a:prstGeom prst="rect">
            <a:avLst/>
          </a:prstGeom>
          <a:solidFill>
            <a:srgbClr val="45C241"/>
          </a:solidFill>
          <a:ln w="12700">
            <a:solidFill>
              <a:srgbClr val="45C241"/>
            </a:solidFill>
            <a:prstDash val="solid"/>
          </a:ln>
        </p:spPr>
        <p:txBody>
          <a:bodyPr/>
          <a:lstStyle/>
          <a:p>
            <a:endParaRPr lang="es-ES"/>
          </a:p>
        </p:txBody>
      </p:sp>
      <p:sp>
        <p:nvSpPr>
          <p:cNvPr id="51" name="Text 49"/>
          <p:cNvSpPr/>
          <p:nvPr/>
        </p:nvSpPr>
        <p:spPr>
          <a:xfrm>
            <a:off x="4919472" y="2249424"/>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Horarios y calendario de festivos</a:t>
            </a:r>
            <a:endParaRPr lang="en-US" sz="900" dirty="0"/>
          </a:p>
        </p:txBody>
      </p:sp>
      <p:sp>
        <p:nvSpPr>
          <p:cNvPr id="52" name="Shape 50"/>
          <p:cNvSpPr/>
          <p:nvPr/>
        </p:nvSpPr>
        <p:spPr>
          <a:xfrm>
            <a:off x="4791456" y="2560320"/>
            <a:ext cx="4096512" cy="310896"/>
          </a:xfrm>
          <a:prstGeom prst="rect">
            <a:avLst/>
          </a:prstGeom>
          <a:solidFill>
            <a:srgbClr val="FFFFFF"/>
          </a:solidFill>
          <a:ln w="12700">
            <a:solidFill>
              <a:srgbClr val="EEEEEE"/>
            </a:solidFill>
            <a:prstDash val="solid"/>
          </a:ln>
        </p:spPr>
        <p:txBody>
          <a:bodyPr/>
          <a:lstStyle/>
          <a:p>
            <a:endParaRPr lang="es-ES"/>
          </a:p>
        </p:txBody>
      </p:sp>
      <p:sp>
        <p:nvSpPr>
          <p:cNvPr id="53" name="Shape 51"/>
          <p:cNvSpPr/>
          <p:nvPr/>
        </p:nvSpPr>
        <p:spPr>
          <a:xfrm>
            <a:off x="4791456" y="2642616"/>
            <a:ext cx="54864" cy="146304"/>
          </a:xfrm>
          <a:prstGeom prst="rect">
            <a:avLst/>
          </a:prstGeom>
          <a:solidFill>
            <a:srgbClr val="45C241"/>
          </a:solidFill>
          <a:ln w="12700">
            <a:solidFill>
              <a:srgbClr val="45C241"/>
            </a:solidFill>
            <a:prstDash val="solid"/>
          </a:ln>
        </p:spPr>
        <p:txBody>
          <a:bodyPr/>
          <a:lstStyle/>
          <a:p>
            <a:endParaRPr lang="es-ES"/>
          </a:p>
        </p:txBody>
      </p:sp>
      <p:sp>
        <p:nvSpPr>
          <p:cNvPr id="54" name="Text 52"/>
          <p:cNvSpPr/>
          <p:nvPr/>
        </p:nvSpPr>
        <p:spPr>
          <a:xfrm>
            <a:off x="4919472" y="2606040"/>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Enrutamiento por número llamante</a:t>
            </a:r>
            <a:endParaRPr lang="en-US" sz="900" dirty="0"/>
          </a:p>
        </p:txBody>
      </p:sp>
      <p:sp>
        <p:nvSpPr>
          <p:cNvPr id="55" name="Shape 53"/>
          <p:cNvSpPr/>
          <p:nvPr/>
        </p:nvSpPr>
        <p:spPr>
          <a:xfrm>
            <a:off x="4791456" y="2916936"/>
            <a:ext cx="4096512" cy="310896"/>
          </a:xfrm>
          <a:prstGeom prst="rect">
            <a:avLst/>
          </a:prstGeom>
          <a:solidFill>
            <a:srgbClr val="F5F5F5"/>
          </a:solidFill>
          <a:ln w="12700">
            <a:solidFill>
              <a:srgbClr val="EEEEEE"/>
            </a:solidFill>
            <a:prstDash val="solid"/>
          </a:ln>
        </p:spPr>
        <p:txBody>
          <a:bodyPr/>
          <a:lstStyle/>
          <a:p>
            <a:endParaRPr lang="es-ES"/>
          </a:p>
        </p:txBody>
      </p:sp>
      <p:sp>
        <p:nvSpPr>
          <p:cNvPr id="56" name="Shape 54"/>
          <p:cNvSpPr/>
          <p:nvPr/>
        </p:nvSpPr>
        <p:spPr>
          <a:xfrm>
            <a:off x="4791456" y="2999232"/>
            <a:ext cx="54864" cy="146304"/>
          </a:xfrm>
          <a:prstGeom prst="rect">
            <a:avLst/>
          </a:prstGeom>
          <a:solidFill>
            <a:srgbClr val="45C241"/>
          </a:solidFill>
          <a:ln w="12700">
            <a:solidFill>
              <a:srgbClr val="45C241"/>
            </a:solidFill>
            <a:prstDash val="solid"/>
          </a:ln>
        </p:spPr>
        <p:txBody>
          <a:bodyPr/>
          <a:lstStyle/>
          <a:p>
            <a:endParaRPr lang="es-ES"/>
          </a:p>
        </p:txBody>
      </p:sp>
      <p:sp>
        <p:nvSpPr>
          <p:cNvPr id="57" name="Text 55"/>
          <p:cNvSpPr/>
          <p:nvPr/>
        </p:nvSpPr>
        <p:spPr>
          <a:xfrm>
            <a:off x="4919472" y="2962656"/>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Grupos de captura</a:t>
            </a:r>
            <a:endParaRPr lang="en-US" sz="900" dirty="0"/>
          </a:p>
        </p:txBody>
      </p:sp>
      <p:sp>
        <p:nvSpPr>
          <p:cNvPr id="58" name="Shape 56"/>
          <p:cNvSpPr/>
          <p:nvPr/>
        </p:nvSpPr>
        <p:spPr>
          <a:xfrm>
            <a:off x="4791456" y="3273552"/>
            <a:ext cx="4096512" cy="310896"/>
          </a:xfrm>
          <a:prstGeom prst="rect">
            <a:avLst/>
          </a:prstGeom>
          <a:solidFill>
            <a:srgbClr val="FFFFFF"/>
          </a:solidFill>
          <a:ln w="12700">
            <a:solidFill>
              <a:srgbClr val="EEEEEE"/>
            </a:solidFill>
            <a:prstDash val="solid"/>
          </a:ln>
        </p:spPr>
        <p:txBody>
          <a:bodyPr/>
          <a:lstStyle/>
          <a:p>
            <a:endParaRPr lang="es-ES"/>
          </a:p>
        </p:txBody>
      </p:sp>
      <p:sp>
        <p:nvSpPr>
          <p:cNvPr id="59" name="Shape 57"/>
          <p:cNvSpPr/>
          <p:nvPr/>
        </p:nvSpPr>
        <p:spPr>
          <a:xfrm>
            <a:off x="4791456" y="3355848"/>
            <a:ext cx="54864" cy="146304"/>
          </a:xfrm>
          <a:prstGeom prst="rect">
            <a:avLst/>
          </a:prstGeom>
          <a:solidFill>
            <a:srgbClr val="45C241"/>
          </a:solidFill>
          <a:ln w="12700">
            <a:solidFill>
              <a:srgbClr val="45C241"/>
            </a:solidFill>
            <a:prstDash val="solid"/>
          </a:ln>
        </p:spPr>
        <p:txBody>
          <a:bodyPr/>
          <a:lstStyle/>
          <a:p>
            <a:endParaRPr lang="es-ES"/>
          </a:p>
        </p:txBody>
      </p:sp>
      <p:sp>
        <p:nvSpPr>
          <p:cNvPr id="60" name="Text 58"/>
          <p:cNvSpPr/>
          <p:nvPr/>
        </p:nvSpPr>
        <p:spPr>
          <a:xfrm>
            <a:off x="4919472" y="3319272"/>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Modo no molestar</a:t>
            </a:r>
            <a:endParaRPr lang="en-US" sz="900" dirty="0"/>
          </a:p>
        </p:txBody>
      </p:sp>
      <p:sp>
        <p:nvSpPr>
          <p:cNvPr id="61" name="Shape 59"/>
          <p:cNvSpPr/>
          <p:nvPr/>
        </p:nvSpPr>
        <p:spPr>
          <a:xfrm>
            <a:off x="4791456" y="3630168"/>
            <a:ext cx="4096512" cy="310896"/>
          </a:xfrm>
          <a:prstGeom prst="rect">
            <a:avLst/>
          </a:prstGeom>
          <a:solidFill>
            <a:srgbClr val="F5F5F5"/>
          </a:solidFill>
          <a:ln w="12700">
            <a:solidFill>
              <a:srgbClr val="EEEEEE"/>
            </a:solidFill>
            <a:prstDash val="solid"/>
          </a:ln>
        </p:spPr>
        <p:txBody>
          <a:bodyPr/>
          <a:lstStyle/>
          <a:p>
            <a:endParaRPr lang="es-ES"/>
          </a:p>
        </p:txBody>
      </p:sp>
      <p:sp>
        <p:nvSpPr>
          <p:cNvPr id="62" name="Shape 60"/>
          <p:cNvSpPr/>
          <p:nvPr/>
        </p:nvSpPr>
        <p:spPr>
          <a:xfrm>
            <a:off x="4791456" y="3712464"/>
            <a:ext cx="54864" cy="146304"/>
          </a:xfrm>
          <a:prstGeom prst="rect">
            <a:avLst/>
          </a:prstGeom>
          <a:solidFill>
            <a:srgbClr val="45C241"/>
          </a:solidFill>
          <a:ln w="12700">
            <a:solidFill>
              <a:srgbClr val="45C241"/>
            </a:solidFill>
            <a:prstDash val="solid"/>
          </a:ln>
        </p:spPr>
        <p:txBody>
          <a:bodyPr/>
          <a:lstStyle/>
          <a:p>
            <a:endParaRPr lang="es-ES"/>
          </a:p>
        </p:txBody>
      </p:sp>
      <p:sp>
        <p:nvSpPr>
          <p:cNvPr id="63" name="Text 61"/>
          <p:cNvSpPr/>
          <p:nvPr/>
        </p:nvSpPr>
        <p:spPr>
          <a:xfrm>
            <a:off x="4919472" y="3675888"/>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BLF (Presencia)</a:t>
            </a:r>
            <a:endParaRPr lang="en-US" sz="900" dirty="0"/>
          </a:p>
        </p:txBody>
      </p:sp>
      <p:sp>
        <p:nvSpPr>
          <p:cNvPr id="64" name="Shape 62"/>
          <p:cNvSpPr/>
          <p:nvPr/>
        </p:nvSpPr>
        <p:spPr>
          <a:xfrm>
            <a:off x="4791456" y="3986784"/>
            <a:ext cx="4096512" cy="310896"/>
          </a:xfrm>
          <a:prstGeom prst="rect">
            <a:avLst/>
          </a:prstGeom>
          <a:solidFill>
            <a:srgbClr val="FFFFFF"/>
          </a:solidFill>
          <a:ln w="12700">
            <a:solidFill>
              <a:srgbClr val="EEEEEE"/>
            </a:solidFill>
            <a:prstDash val="solid"/>
          </a:ln>
        </p:spPr>
        <p:txBody>
          <a:bodyPr/>
          <a:lstStyle/>
          <a:p>
            <a:endParaRPr lang="es-ES"/>
          </a:p>
        </p:txBody>
      </p:sp>
      <p:sp>
        <p:nvSpPr>
          <p:cNvPr id="65" name="Shape 63"/>
          <p:cNvSpPr/>
          <p:nvPr/>
        </p:nvSpPr>
        <p:spPr>
          <a:xfrm>
            <a:off x="4791456" y="4069080"/>
            <a:ext cx="54864" cy="146304"/>
          </a:xfrm>
          <a:prstGeom prst="rect">
            <a:avLst/>
          </a:prstGeom>
          <a:solidFill>
            <a:srgbClr val="45C241"/>
          </a:solidFill>
          <a:ln w="12700">
            <a:solidFill>
              <a:srgbClr val="45C241"/>
            </a:solidFill>
            <a:prstDash val="solid"/>
          </a:ln>
        </p:spPr>
        <p:txBody>
          <a:bodyPr/>
          <a:lstStyle/>
          <a:p>
            <a:endParaRPr lang="es-ES"/>
          </a:p>
        </p:txBody>
      </p:sp>
      <p:sp>
        <p:nvSpPr>
          <p:cNvPr id="66" name="Text 64"/>
          <p:cNvSpPr/>
          <p:nvPr/>
        </p:nvSpPr>
        <p:spPr>
          <a:xfrm>
            <a:off x="4919472" y="4032504"/>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Caller ID seleccionable</a:t>
            </a:r>
            <a:endParaRPr lang="en-US" sz="900" dirty="0"/>
          </a:p>
        </p:txBody>
      </p:sp>
      <p:sp>
        <p:nvSpPr>
          <p:cNvPr id="67" name="Shape 65"/>
          <p:cNvSpPr/>
          <p:nvPr/>
        </p:nvSpPr>
        <p:spPr>
          <a:xfrm>
            <a:off x="4791456" y="4343400"/>
            <a:ext cx="4096512" cy="310896"/>
          </a:xfrm>
          <a:prstGeom prst="rect">
            <a:avLst/>
          </a:prstGeom>
          <a:solidFill>
            <a:srgbClr val="F5F5F5"/>
          </a:solidFill>
          <a:ln w="12700">
            <a:solidFill>
              <a:srgbClr val="EEEEEE"/>
            </a:solidFill>
            <a:prstDash val="solid"/>
          </a:ln>
        </p:spPr>
        <p:txBody>
          <a:bodyPr/>
          <a:lstStyle/>
          <a:p>
            <a:endParaRPr lang="es-ES"/>
          </a:p>
        </p:txBody>
      </p:sp>
      <p:sp>
        <p:nvSpPr>
          <p:cNvPr id="68" name="Shape 66"/>
          <p:cNvSpPr/>
          <p:nvPr/>
        </p:nvSpPr>
        <p:spPr>
          <a:xfrm>
            <a:off x="4791456" y="4425696"/>
            <a:ext cx="54864" cy="146304"/>
          </a:xfrm>
          <a:prstGeom prst="rect">
            <a:avLst/>
          </a:prstGeom>
          <a:solidFill>
            <a:srgbClr val="45C241"/>
          </a:solidFill>
          <a:ln w="12700">
            <a:solidFill>
              <a:srgbClr val="45C241"/>
            </a:solidFill>
            <a:prstDash val="solid"/>
          </a:ln>
        </p:spPr>
        <p:txBody>
          <a:bodyPr/>
          <a:lstStyle/>
          <a:p>
            <a:endParaRPr lang="es-ES"/>
          </a:p>
        </p:txBody>
      </p:sp>
      <p:sp>
        <p:nvSpPr>
          <p:cNvPr id="69" name="Text 67"/>
          <p:cNvSpPr/>
          <p:nvPr/>
        </p:nvSpPr>
        <p:spPr>
          <a:xfrm>
            <a:off x="4919472" y="4389120"/>
            <a:ext cx="3840480" cy="256032"/>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Dial plan personalizable</a:t>
            </a:r>
            <a:endParaRPr lang="en-US" sz="900" dirty="0"/>
          </a:p>
        </p:txBody>
      </p:sp>
      <p:sp>
        <p:nvSpPr>
          <p:cNvPr id="70" name="Shape 68"/>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71" name="Text 69"/>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LYNKSPHONE · TELEFONÍA Y COLABORACIÓN + INTEGRACIONES CRM</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App disponible en PC, Web y Móvil · Integración nativa con los principales CRM del mercado</a:t>
            </a:r>
            <a:endParaRPr lang="en-US" sz="1000" dirty="0"/>
          </a:p>
        </p:txBody>
      </p:sp>
      <p:sp>
        <p:nvSpPr>
          <p:cNvPr id="6" name="Shape 4"/>
          <p:cNvSpPr/>
          <p:nvPr/>
        </p:nvSpPr>
        <p:spPr>
          <a:xfrm>
            <a:off x="256032" y="1024128"/>
            <a:ext cx="4160520" cy="306324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24128"/>
            <a:ext cx="4160520" cy="54864"/>
          </a:xfrm>
          <a:prstGeom prst="rect">
            <a:avLst/>
          </a:prstGeom>
          <a:solidFill>
            <a:srgbClr val="45C241"/>
          </a:solidFill>
          <a:ln w="12700">
            <a:solidFill>
              <a:srgbClr val="45C241"/>
            </a:solidFill>
            <a:prstDash val="solid"/>
          </a:ln>
        </p:spPr>
        <p:txBody>
          <a:bodyPr/>
          <a:lstStyle/>
          <a:p>
            <a:endParaRPr lang="es-ES"/>
          </a:p>
        </p:txBody>
      </p:sp>
      <p:sp>
        <p:nvSpPr>
          <p:cNvPr id="8" name="Text 6"/>
          <p:cNvSpPr/>
          <p:nvPr/>
        </p:nvSpPr>
        <p:spPr>
          <a:xfrm>
            <a:off x="411480" y="1115568"/>
            <a:ext cx="1828800" cy="320040"/>
          </a:xfrm>
          <a:prstGeom prst="rect">
            <a:avLst/>
          </a:prstGeom>
          <a:noFill/>
          <a:ln/>
        </p:spPr>
        <p:txBody>
          <a:bodyPr wrap="square" lIns="0" tIns="0" rIns="0" bIns="0" rtlCol="0" anchor="ctr"/>
          <a:lstStyle/>
          <a:p>
            <a:pPr marL="0" indent="0">
              <a:buNone/>
            </a:pPr>
            <a:r>
              <a:rPr lang="en-US" sz="1400" b="1" dirty="0">
                <a:solidFill>
                  <a:srgbClr val="45C241"/>
                </a:solidFill>
                <a:latin typeface="Calibri" pitchFamily="34" charset="0"/>
                <a:ea typeface="Calibri" pitchFamily="34" charset="-122"/>
                <a:cs typeface="Calibri" pitchFamily="34" charset="-120"/>
              </a:rPr>
              <a:t>LynksPhone</a:t>
            </a:r>
            <a:endParaRPr lang="en-US" sz="1400" dirty="0"/>
          </a:p>
        </p:txBody>
      </p:sp>
      <p:sp>
        <p:nvSpPr>
          <p:cNvPr id="9" name="Text 7"/>
          <p:cNvSpPr/>
          <p:nvPr/>
        </p:nvSpPr>
        <p:spPr>
          <a:xfrm>
            <a:off x="411480" y="1417320"/>
            <a:ext cx="3840480" cy="22860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PC · Web · Móvil</a:t>
            </a:r>
            <a:endParaRPr lang="en-US" sz="900" dirty="0"/>
          </a:p>
        </p:txBody>
      </p:sp>
      <p:sp>
        <p:nvSpPr>
          <p:cNvPr id="10" name="Shape 8"/>
          <p:cNvSpPr/>
          <p:nvPr/>
        </p:nvSpPr>
        <p:spPr>
          <a:xfrm>
            <a:off x="347472" y="1719072"/>
            <a:ext cx="3931920" cy="292608"/>
          </a:xfrm>
          <a:prstGeom prst="rect">
            <a:avLst/>
          </a:prstGeom>
          <a:solidFill>
            <a:srgbClr val="1E1E1E"/>
          </a:solidFill>
          <a:ln w="12700">
            <a:solidFill>
              <a:srgbClr val="333333"/>
            </a:solidFill>
            <a:prstDash val="solid"/>
          </a:ln>
        </p:spPr>
        <p:txBody>
          <a:bodyPr/>
          <a:lstStyle/>
          <a:p>
            <a:endParaRPr lang="es-ES"/>
          </a:p>
        </p:txBody>
      </p:sp>
      <p:sp>
        <p:nvSpPr>
          <p:cNvPr id="11" name="Shape 9"/>
          <p:cNvSpPr/>
          <p:nvPr/>
        </p:nvSpPr>
        <p:spPr>
          <a:xfrm>
            <a:off x="347472" y="1783080"/>
            <a:ext cx="54864" cy="164592"/>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475488" y="1755648"/>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Presencia de extensiones y departamentos en tiempo real</a:t>
            </a:r>
            <a:endParaRPr lang="en-US" sz="900" dirty="0"/>
          </a:p>
        </p:txBody>
      </p:sp>
      <p:sp>
        <p:nvSpPr>
          <p:cNvPr id="13" name="Shape 11"/>
          <p:cNvSpPr/>
          <p:nvPr/>
        </p:nvSpPr>
        <p:spPr>
          <a:xfrm>
            <a:off x="347472" y="2066544"/>
            <a:ext cx="3931920" cy="292608"/>
          </a:xfrm>
          <a:prstGeom prst="rect">
            <a:avLst/>
          </a:prstGeom>
          <a:solidFill>
            <a:srgbClr val="222222"/>
          </a:solidFill>
          <a:ln w="12700">
            <a:solidFill>
              <a:srgbClr val="333333"/>
            </a:solidFill>
            <a:prstDash val="solid"/>
          </a:ln>
        </p:spPr>
        <p:txBody>
          <a:bodyPr/>
          <a:lstStyle/>
          <a:p>
            <a:endParaRPr lang="es-ES"/>
          </a:p>
        </p:txBody>
      </p:sp>
      <p:sp>
        <p:nvSpPr>
          <p:cNvPr id="14" name="Shape 12"/>
          <p:cNvSpPr/>
          <p:nvPr/>
        </p:nvSpPr>
        <p:spPr>
          <a:xfrm>
            <a:off x="347472" y="2130552"/>
            <a:ext cx="54864" cy="164592"/>
          </a:xfrm>
          <a:prstGeom prst="rect">
            <a:avLst/>
          </a:prstGeom>
          <a:solidFill>
            <a:srgbClr val="45C241"/>
          </a:solidFill>
          <a:ln w="12700">
            <a:solidFill>
              <a:srgbClr val="45C241"/>
            </a:solidFill>
            <a:prstDash val="solid"/>
          </a:ln>
        </p:spPr>
        <p:txBody>
          <a:bodyPr/>
          <a:lstStyle/>
          <a:p>
            <a:endParaRPr lang="es-ES"/>
          </a:p>
        </p:txBody>
      </p:sp>
      <p:sp>
        <p:nvSpPr>
          <p:cNvPr id="15" name="Text 13"/>
          <p:cNvSpPr/>
          <p:nvPr/>
        </p:nvSpPr>
        <p:spPr>
          <a:xfrm>
            <a:off x="475488" y="2103120"/>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Elección de número saliente a mostrar</a:t>
            </a:r>
            <a:endParaRPr lang="en-US" sz="900" dirty="0"/>
          </a:p>
        </p:txBody>
      </p:sp>
      <p:sp>
        <p:nvSpPr>
          <p:cNvPr id="16" name="Shape 14"/>
          <p:cNvSpPr/>
          <p:nvPr/>
        </p:nvSpPr>
        <p:spPr>
          <a:xfrm>
            <a:off x="347472" y="2414016"/>
            <a:ext cx="3931920" cy="292608"/>
          </a:xfrm>
          <a:prstGeom prst="rect">
            <a:avLst/>
          </a:prstGeom>
          <a:solidFill>
            <a:srgbClr val="1E1E1E"/>
          </a:solidFill>
          <a:ln w="12700">
            <a:solidFill>
              <a:srgbClr val="333333"/>
            </a:solidFill>
            <a:prstDash val="solid"/>
          </a:ln>
        </p:spPr>
        <p:txBody>
          <a:bodyPr/>
          <a:lstStyle/>
          <a:p>
            <a:endParaRPr lang="es-ES"/>
          </a:p>
        </p:txBody>
      </p:sp>
      <p:sp>
        <p:nvSpPr>
          <p:cNvPr id="17" name="Shape 15"/>
          <p:cNvSpPr/>
          <p:nvPr/>
        </p:nvSpPr>
        <p:spPr>
          <a:xfrm>
            <a:off x="347472" y="2478024"/>
            <a:ext cx="54864" cy="164592"/>
          </a:xfrm>
          <a:prstGeom prst="rect">
            <a:avLst/>
          </a:prstGeom>
          <a:solidFill>
            <a:srgbClr val="45C241"/>
          </a:solidFill>
          <a:ln w="12700">
            <a:solidFill>
              <a:srgbClr val="45C241"/>
            </a:solidFill>
            <a:prstDash val="solid"/>
          </a:ln>
        </p:spPr>
        <p:txBody>
          <a:bodyPr/>
          <a:lstStyle/>
          <a:p>
            <a:endParaRPr lang="es-ES"/>
          </a:p>
        </p:txBody>
      </p:sp>
      <p:sp>
        <p:nvSpPr>
          <p:cNvPr id="18" name="Text 16"/>
          <p:cNvSpPr/>
          <p:nvPr/>
        </p:nvSpPr>
        <p:spPr>
          <a:xfrm>
            <a:off x="475488" y="2450592"/>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Chat y mención de usuarios</a:t>
            </a:r>
            <a:endParaRPr lang="en-US" sz="900" dirty="0"/>
          </a:p>
        </p:txBody>
      </p:sp>
      <p:sp>
        <p:nvSpPr>
          <p:cNvPr id="19" name="Shape 17"/>
          <p:cNvSpPr/>
          <p:nvPr/>
        </p:nvSpPr>
        <p:spPr>
          <a:xfrm>
            <a:off x="347472" y="2761488"/>
            <a:ext cx="3931920" cy="292608"/>
          </a:xfrm>
          <a:prstGeom prst="rect">
            <a:avLst/>
          </a:prstGeom>
          <a:solidFill>
            <a:srgbClr val="222222"/>
          </a:solidFill>
          <a:ln w="12700">
            <a:solidFill>
              <a:srgbClr val="333333"/>
            </a:solidFill>
            <a:prstDash val="solid"/>
          </a:ln>
        </p:spPr>
        <p:txBody>
          <a:bodyPr/>
          <a:lstStyle/>
          <a:p>
            <a:endParaRPr lang="es-ES"/>
          </a:p>
        </p:txBody>
      </p:sp>
      <p:sp>
        <p:nvSpPr>
          <p:cNvPr id="20" name="Shape 18"/>
          <p:cNvSpPr/>
          <p:nvPr/>
        </p:nvSpPr>
        <p:spPr>
          <a:xfrm>
            <a:off x="347472" y="2825496"/>
            <a:ext cx="54864" cy="164592"/>
          </a:xfrm>
          <a:prstGeom prst="rect">
            <a:avLst/>
          </a:prstGeom>
          <a:solidFill>
            <a:srgbClr val="45C241"/>
          </a:solidFill>
          <a:ln w="12700">
            <a:solidFill>
              <a:srgbClr val="45C241"/>
            </a:solidFill>
            <a:prstDash val="solid"/>
          </a:ln>
        </p:spPr>
        <p:txBody>
          <a:bodyPr/>
          <a:lstStyle/>
          <a:p>
            <a:endParaRPr lang="es-ES"/>
          </a:p>
        </p:txBody>
      </p:sp>
      <p:sp>
        <p:nvSpPr>
          <p:cNvPr id="21" name="Text 19"/>
          <p:cNvSpPr/>
          <p:nvPr/>
        </p:nvSpPr>
        <p:spPr>
          <a:xfrm>
            <a:off x="475488" y="2798064"/>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Compartición de ficheros · Audio · Video</a:t>
            </a:r>
            <a:endParaRPr lang="en-US" sz="900" dirty="0"/>
          </a:p>
        </p:txBody>
      </p:sp>
      <p:sp>
        <p:nvSpPr>
          <p:cNvPr id="22" name="Shape 20"/>
          <p:cNvSpPr/>
          <p:nvPr/>
        </p:nvSpPr>
        <p:spPr>
          <a:xfrm>
            <a:off x="347472" y="3108960"/>
            <a:ext cx="3931920" cy="292608"/>
          </a:xfrm>
          <a:prstGeom prst="rect">
            <a:avLst/>
          </a:prstGeom>
          <a:solidFill>
            <a:srgbClr val="1E1E1E"/>
          </a:solidFill>
          <a:ln w="12700">
            <a:solidFill>
              <a:srgbClr val="333333"/>
            </a:solidFill>
            <a:prstDash val="solid"/>
          </a:ln>
        </p:spPr>
        <p:txBody>
          <a:bodyPr/>
          <a:lstStyle/>
          <a:p>
            <a:endParaRPr lang="es-ES"/>
          </a:p>
        </p:txBody>
      </p:sp>
      <p:sp>
        <p:nvSpPr>
          <p:cNvPr id="23" name="Shape 21"/>
          <p:cNvSpPr/>
          <p:nvPr/>
        </p:nvSpPr>
        <p:spPr>
          <a:xfrm>
            <a:off x="347472" y="3172968"/>
            <a:ext cx="54864" cy="164592"/>
          </a:xfrm>
          <a:prstGeom prst="rect">
            <a:avLst/>
          </a:prstGeom>
          <a:solidFill>
            <a:srgbClr val="45C241"/>
          </a:solidFill>
          <a:ln w="12700">
            <a:solidFill>
              <a:srgbClr val="45C241"/>
            </a:solidFill>
            <a:prstDash val="solid"/>
          </a:ln>
        </p:spPr>
        <p:txBody>
          <a:bodyPr/>
          <a:lstStyle/>
          <a:p>
            <a:endParaRPr lang="es-ES"/>
          </a:p>
        </p:txBody>
      </p:sp>
      <p:sp>
        <p:nvSpPr>
          <p:cNvPr id="24" name="Text 22"/>
          <p:cNvSpPr/>
          <p:nvPr/>
        </p:nvSpPr>
        <p:spPr>
          <a:xfrm>
            <a:off x="475488" y="3145536"/>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Videoconferencia interna y externa</a:t>
            </a:r>
            <a:endParaRPr lang="en-US" sz="900" dirty="0"/>
          </a:p>
        </p:txBody>
      </p:sp>
      <p:sp>
        <p:nvSpPr>
          <p:cNvPr id="25" name="Shape 23"/>
          <p:cNvSpPr/>
          <p:nvPr/>
        </p:nvSpPr>
        <p:spPr>
          <a:xfrm>
            <a:off x="347472" y="3456432"/>
            <a:ext cx="3931920" cy="292608"/>
          </a:xfrm>
          <a:prstGeom prst="rect">
            <a:avLst/>
          </a:prstGeom>
          <a:solidFill>
            <a:srgbClr val="222222"/>
          </a:solidFill>
          <a:ln w="12700">
            <a:solidFill>
              <a:srgbClr val="333333"/>
            </a:solidFill>
            <a:prstDash val="solid"/>
          </a:ln>
        </p:spPr>
        <p:txBody>
          <a:bodyPr/>
          <a:lstStyle/>
          <a:p>
            <a:endParaRPr lang="es-ES"/>
          </a:p>
        </p:txBody>
      </p:sp>
      <p:sp>
        <p:nvSpPr>
          <p:cNvPr id="26" name="Shape 24"/>
          <p:cNvSpPr/>
          <p:nvPr/>
        </p:nvSpPr>
        <p:spPr>
          <a:xfrm>
            <a:off x="347472" y="3520440"/>
            <a:ext cx="54864" cy="164592"/>
          </a:xfrm>
          <a:prstGeom prst="rect">
            <a:avLst/>
          </a:prstGeom>
          <a:solidFill>
            <a:srgbClr val="45C241"/>
          </a:solidFill>
          <a:ln w="12700">
            <a:solidFill>
              <a:srgbClr val="45C241"/>
            </a:solidFill>
            <a:prstDash val="solid"/>
          </a:ln>
        </p:spPr>
        <p:txBody>
          <a:bodyPr/>
          <a:lstStyle/>
          <a:p>
            <a:endParaRPr lang="es-ES"/>
          </a:p>
        </p:txBody>
      </p:sp>
      <p:sp>
        <p:nvSpPr>
          <p:cNvPr id="27" name="Text 25"/>
          <p:cNvSpPr/>
          <p:nvPr/>
        </p:nvSpPr>
        <p:spPr>
          <a:xfrm>
            <a:off x="475488" y="3493008"/>
            <a:ext cx="3749040" cy="237744"/>
          </a:xfrm>
          <a:prstGeom prst="rect">
            <a:avLst/>
          </a:prstGeom>
          <a:noFill/>
          <a:ln/>
        </p:spPr>
        <p:txBody>
          <a:bodyPr wrap="square" lIns="0" tIns="0" rIns="0" bIns="0" rtlCol="0" anchor="ctr"/>
          <a:lstStyle/>
          <a:p>
            <a:pPr marL="0" indent="0">
              <a:buNone/>
            </a:pPr>
            <a:r>
              <a:rPr lang="en-US" sz="900" dirty="0">
                <a:solidFill>
                  <a:srgbClr val="CCCCCC"/>
                </a:solidFill>
                <a:latin typeface="Calibri" pitchFamily="34" charset="0"/>
                <a:ea typeface="Calibri" pitchFamily="34" charset="-122"/>
                <a:cs typeface="Calibri" pitchFamily="34" charset="-120"/>
              </a:rPr>
              <a:t>Control remoto · Modos escucha y susurro</a:t>
            </a:r>
            <a:endParaRPr lang="en-US" sz="900" dirty="0"/>
          </a:p>
        </p:txBody>
      </p:sp>
      <p:sp>
        <p:nvSpPr>
          <p:cNvPr id="28" name="Shape 26"/>
          <p:cNvSpPr/>
          <p:nvPr/>
        </p:nvSpPr>
        <p:spPr>
          <a:xfrm>
            <a:off x="256032" y="4160520"/>
            <a:ext cx="4160520" cy="594360"/>
          </a:xfrm>
          <a:prstGeom prst="rect">
            <a:avLst/>
          </a:prstGeom>
          <a:solidFill>
            <a:srgbClr val="111111"/>
          </a:solidFill>
          <a:ln w="12700">
            <a:solidFill>
              <a:srgbClr val="45C241"/>
            </a:solidFill>
            <a:prstDash val="solid"/>
          </a:ln>
          <a:effectLst>
            <a:outerShdw blurRad="50800" dist="25400" dir="8100000" algn="bl" rotWithShape="0">
              <a:srgbClr val="000000">
                <a:alpha val="10000"/>
              </a:srgbClr>
            </a:outerShdw>
          </a:effectLst>
        </p:spPr>
        <p:txBody>
          <a:bodyPr/>
          <a:lstStyle/>
          <a:p>
            <a:endParaRPr lang="es-ES"/>
          </a:p>
        </p:txBody>
      </p:sp>
      <p:sp>
        <p:nvSpPr>
          <p:cNvPr id="29" name="Shape 27"/>
          <p:cNvSpPr/>
          <p:nvPr/>
        </p:nvSpPr>
        <p:spPr>
          <a:xfrm>
            <a:off x="256032" y="4160520"/>
            <a:ext cx="54864" cy="594360"/>
          </a:xfrm>
          <a:prstGeom prst="rect">
            <a:avLst/>
          </a:prstGeom>
          <a:solidFill>
            <a:srgbClr val="45C241"/>
          </a:solidFill>
          <a:ln w="12700">
            <a:solidFill>
              <a:srgbClr val="45C241"/>
            </a:solidFill>
            <a:prstDash val="solid"/>
          </a:ln>
        </p:spPr>
        <p:txBody>
          <a:bodyPr/>
          <a:lstStyle/>
          <a:p>
            <a:endParaRPr lang="es-ES"/>
          </a:p>
        </p:txBody>
      </p:sp>
      <p:sp>
        <p:nvSpPr>
          <p:cNvPr id="30" name="Text 28"/>
          <p:cNvSpPr/>
          <p:nvPr/>
        </p:nvSpPr>
        <p:spPr>
          <a:xfrm>
            <a:off x="384048" y="4187952"/>
            <a:ext cx="3913632" cy="53035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  Módulo Informes BI — Estadísticas de IVR, colas, extensiones y tiempos de llamada a medida</a:t>
            </a:r>
            <a:endParaRPr lang="en-US" sz="900" dirty="0"/>
          </a:p>
        </p:txBody>
      </p:sp>
      <p:sp>
        <p:nvSpPr>
          <p:cNvPr id="31" name="Shape 29"/>
          <p:cNvSpPr/>
          <p:nvPr/>
        </p:nvSpPr>
        <p:spPr>
          <a:xfrm>
            <a:off x="4617720" y="1024128"/>
            <a:ext cx="4270248" cy="2011680"/>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32" name="Shape 30"/>
          <p:cNvSpPr/>
          <p:nvPr/>
        </p:nvSpPr>
        <p:spPr>
          <a:xfrm>
            <a:off x="4617720" y="1024128"/>
            <a:ext cx="4270248" cy="54864"/>
          </a:xfrm>
          <a:prstGeom prst="rect">
            <a:avLst/>
          </a:prstGeom>
          <a:solidFill>
            <a:srgbClr val="45C241"/>
          </a:solidFill>
          <a:ln w="12700">
            <a:solidFill>
              <a:srgbClr val="45C241"/>
            </a:solidFill>
            <a:prstDash val="solid"/>
          </a:ln>
        </p:spPr>
        <p:txBody>
          <a:bodyPr/>
          <a:lstStyle/>
          <a:p>
            <a:endParaRPr lang="es-ES"/>
          </a:p>
        </p:txBody>
      </p:sp>
      <p:sp>
        <p:nvSpPr>
          <p:cNvPr id="33" name="Text 31"/>
          <p:cNvSpPr/>
          <p:nvPr/>
        </p:nvSpPr>
        <p:spPr>
          <a:xfrm>
            <a:off x="4754880" y="1115568"/>
            <a:ext cx="3931920" cy="320040"/>
          </a:xfrm>
          <a:prstGeom prst="rect">
            <a:avLst/>
          </a:prstGeom>
          <a:noFill/>
          <a:ln/>
        </p:spPr>
        <p:txBody>
          <a:bodyPr wrap="square" lIns="0" tIns="0" rIns="0" bIns="0" rtlCol="0" anchor="ctr"/>
          <a:lstStyle/>
          <a:p>
            <a:pPr marL="0" indent="0">
              <a:buNone/>
            </a:pPr>
            <a:r>
              <a:rPr lang="en-US" sz="1400" b="1" dirty="0">
                <a:solidFill>
                  <a:srgbClr val="45C241"/>
                </a:solidFill>
                <a:latin typeface="Calibri" pitchFamily="34" charset="0"/>
                <a:ea typeface="Calibri" pitchFamily="34" charset="-122"/>
                <a:cs typeface="Calibri" pitchFamily="34" charset="-120"/>
              </a:rPr>
              <a:t>Integraciones CRM</a:t>
            </a:r>
            <a:endParaRPr lang="en-US" sz="1400" dirty="0"/>
          </a:p>
        </p:txBody>
      </p:sp>
      <p:sp>
        <p:nvSpPr>
          <p:cNvPr id="34" name="Text 32"/>
          <p:cNvSpPr/>
          <p:nvPr/>
        </p:nvSpPr>
        <p:spPr>
          <a:xfrm>
            <a:off x="4754880" y="1444752"/>
            <a:ext cx="3931920" cy="292608"/>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Apertura de ficha · Inserción de actividad · Grabación · Routing por criterios CRM</a:t>
            </a:r>
            <a:endParaRPr lang="en-US" sz="900" dirty="0"/>
          </a:p>
        </p:txBody>
      </p:sp>
      <p:sp>
        <p:nvSpPr>
          <p:cNvPr id="35" name="Shape 33"/>
          <p:cNvSpPr/>
          <p:nvPr/>
        </p:nvSpPr>
        <p:spPr>
          <a:xfrm>
            <a:off x="4681728" y="1828800"/>
            <a:ext cx="109728" cy="109728"/>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4846320" y="1810512"/>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Salesforce</a:t>
            </a:r>
            <a:endParaRPr lang="en-US" sz="900" dirty="0"/>
          </a:p>
        </p:txBody>
      </p:sp>
      <p:sp>
        <p:nvSpPr>
          <p:cNvPr id="37" name="Shape 35"/>
          <p:cNvSpPr/>
          <p:nvPr/>
        </p:nvSpPr>
        <p:spPr>
          <a:xfrm>
            <a:off x="6784848" y="1828800"/>
            <a:ext cx="109728" cy="109728"/>
          </a:xfrm>
          <a:prstGeom prst="rect">
            <a:avLst/>
          </a:prstGeom>
          <a:solidFill>
            <a:srgbClr val="45C241"/>
          </a:solidFill>
          <a:ln w="12700">
            <a:solidFill>
              <a:srgbClr val="45C241"/>
            </a:solidFill>
            <a:prstDash val="solid"/>
          </a:ln>
        </p:spPr>
        <p:txBody>
          <a:bodyPr/>
          <a:lstStyle/>
          <a:p>
            <a:endParaRPr lang="es-ES"/>
          </a:p>
        </p:txBody>
      </p:sp>
      <p:sp>
        <p:nvSpPr>
          <p:cNvPr id="38" name="Text 36"/>
          <p:cNvSpPr/>
          <p:nvPr/>
        </p:nvSpPr>
        <p:spPr>
          <a:xfrm>
            <a:off x="6949440" y="1810512"/>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HubSpot</a:t>
            </a:r>
            <a:endParaRPr lang="en-US" sz="900" dirty="0"/>
          </a:p>
        </p:txBody>
      </p:sp>
      <p:sp>
        <p:nvSpPr>
          <p:cNvPr id="39" name="Shape 37"/>
          <p:cNvSpPr/>
          <p:nvPr/>
        </p:nvSpPr>
        <p:spPr>
          <a:xfrm>
            <a:off x="4681728" y="2084832"/>
            <a:ext cx="109728" cy="109728"/>
          </a:xfrm>
          <a:prstGeom prst="rect">
            <a:avLst/>
          </a:prstGeom>
          <a:solidFill>
            <a:srgbClr val="45C241"/>
          </a:solidFill>
          <a:ln w="12700">
            <a:solidFill>
              <a:srgbClr val="45C241"/>
            </a:solidFill>
            <a:prstDash val="solid"/>
          </a:ln>
        </p:spPr>
        <p:txBody>
          <a:bodyPr/>
          <a:lstStyle/>
          <a:p>
            <a:endParaRPr lang="es-ES"/>
          </a:p>
        </p:txBody>
      </p:sp>
      <p:sp>
        <p:nvSpPr>
          <p:cNvPr id="40" name="Text 38"/>
          <p:cNvSpPr/>
          <p:nvPr/>
        </p:nvSpPr>
        <p:spPr>
          <a:xfrm>
            <a:off x="4846320" y="2066544"/>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Zendesk</a:t>
            </a:r>
            <a:endParaRPr lang="en-US" sz="900" dirty="0"/>
          </a:p>
        </p:txBody>
      </p:sp>
      <p:sp>
        <p:nvSpPr>
          <p:cNvPr id="41" name="Shape 39"/>
          <p:cNvSpPr/>
          <p:nvPr/>
        </p:nvSpPr>
        <p:spPr>
          <a:xfrm>
            <a:off x="6784848" y="2084832"/>
            <a:ext cx="109728" cy="109728"/>
          </a:xfrm>
          <a:prstGeom prst="rect">
            <a:avLst/>
          </a:prstGeom>
          <a:solidFill>
            <a:srgbClr val="45C241"/>
          </a:solidFill>
          <a:ln w="12700">
            <a:solidFill>
              <a:srgbClr val="45C241"/>
            </a:solidFill>
            <a:prstDash val="solid"/>
          </a:ln>
        </p:spPr>
        <p:txBody>
          <a:bodyPr/>
          <a:lstStyle/>
          <a:p>
            <a:endParaRPr lang="es-ES"/>
          </a:p>
        </p:txBody>
      </p:sp>
      <p:sp>
        <p:nvSpPr>
          <p:cNvPr id="42" name="Text 40"/>
          <p:cNvSpPr/>
          <p:nvPr/>
        </p:nvSpPr>
        <p:spPr>
          <a:xfrm>
            <a:off x="6949440" y="2066544"/>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MS Dynamics</a:t>
            </a:r>
            <a:endParaRPr lang="en-US" sz="900" dirty="0"/>
          </a:p>
        </p:txBody>
      </p:sp>
      <p:sp>
        <p:nvSpPr>
          <p:cNvPr id="43" name="Shape 41"/>
          <p:cNvSpPr/>
          <p:nvPr/>
        </p:nvSpPr>
        <p:spPr>
          <a:xfrm>
            <a:off x="4681728" y="2340864"/>
            <a:ext cx="109728" cy="109728"/>
          </a:xfrm>
          <a:prstGeom prst="rect">
            <a:avLst/>
          </a:prstGeom>
          <a:solidFill>
            <a:srgbClr val="45C241"/>
          </a:solidFill>
          <a:ln w="12700">
            <a:solidFill>
              <a:srgbClr val="45C241"/>
            </a:solidFill>
            <a:prstDash val="solid"/>
          </a:ln>
        </p:spPr>
        <p:txBody>
          <a:bodyPr/>
          <a:lstStyle/>
          <a:p>
            <a:endParaRPr lang="es-ES"/>
          </a:p>
        </p:txBody>
      </p:sp>
      <p:sp>
        <p:nvSpPr>
          <p:cNvPr id="44" name="Text 42"/>
          <p:cNvSpPr/>
          <p:nvPr/>
        </p:nvSpPr>
        <p:spPr>
          <a:xfrm>
            <a:off x="4846320" y="2322576"/>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Zoho</a:t>
            </a:r>
            <a:endParaRPr lang="en-US" sz="900" dirty="0"/>
          </a:p>
        </p:txBody>
      </p:sp>
      <p:sp>
        <p:nvSpPr>
          <p:cNvPr id="45" name="Shape 43"/>
          <p:cNvSpPr/>
          <p:nvPr/>
        </p:nvSpPr>
        <p:spPr>
          <a:xfrm>
            <a:off x="6784848" y="2340864"/>
            <a:ext cx="109728" cy="109728"/>
          </a:xfrm>
          <a:prstGeom prst="rect">
            <a:avLst/>
          </a:prstGeom>
          <a:solidFill>
            <a:srgbClr val="45C241"/>
          </a:solidFill>
          <a:ln w="12700">
            <a:solidFill>
              <a:srgbClr val="45C241"/>
            </a:solidFill>
            <a:prstDash val="solid"/>
          </a:ln>
        </p:spPr>
        <p:txBody>
          <a:bodyPr/>
          <a:lstStyle/>
          <a:p>
            <a:endParaRPr lang="es-ES"/>
          </a:p>
        </p:txBody>
      </p:sp>
      <p:sp>
        <p:nvSpPr>
          <p:cNvPr id="46" name="Text 44"/>
          <p:cNvSpPr/>
          <p:nvPr/>
        </p:nvSpPr>
        <p:spPr>
          <a:xfrm>
            <a:off x="6949440" y="2322576"/>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Pipedrive</a:t>
            </a:r>
            <a:endParaRPr lang="en-US" sz="900" dirty="0"/>
          </a:p>
        </p:txBody>
      </p:sp>
      <p:sp>
        <p:nvSpPr>
          <p:cNvPr id="47" name="Shape 45"/>
          <p:cNvSpPr/>
          <p:nvPr/>
        </p:nvSpPr>
        <p:spPr>
          <a:xfrm>
            <a:off x="4681728" y="2596896"/>
            <a:ext cx="109728" cy="109728"/>
          </a:xfrm>
          <a:prstGeom prst="rect">
            <a:avLst/>
          </a:prstGeom>
          <a:solidFill>
            <a:srgbClr val="45C241"/>
          </a:solidFill>
          <a:ln w="12700">
            <a:solidFill>
              <a:srgbClr val="45C241"/>
            </a:solidFill>
            <a:prstDash val="solid"/>
          </a:ln>
        </p:spPr>
        <p:txBody>
          <a:bodyPr/>
          <a:lstStyle/>
          <a:p>
            <a:endParaRPr lang="es-ES"/>
          </a:p>
        </p:txBody>
      </p:sp>
      <p:sp>
        <p:nvSpPr>
          <p:cNvPr id="48" name="Text 46"/>
          <p:cNvSpPr/>
          <p:nvPr/>
        </p:nvSpPr>
        <p:spPr>
          <a:xfrm>
            <a:off x="4846320" y="2578608"/>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Bullhorn</a:t>
            </a:r>
            <a:endParaRPr lang="en-US" sz="900" dirty="0"/>
          </a:p>
        </p:txBody>
      </p:sp>
      <p:sp>
        <p:nvSpPr>
          <p:cNvPr id="49" name="Shape 47"/>
          <p:cNvSpPr/>
          <p:nvPr/>
        </p:nvSpPr>
        <p:spPr>
          <a:xfrm>
            <a:off x="6784848" y="2596896"/>
            <a:ext cx="109728" cy="109728"/>
          </a:xfrm>
          <a:prstGeom prst="rect">
            <a:avLst/>
          </a:prstGeom>
          <a:solidFill>
            <a:srgbClr val="45C241"/>
          </a:solidFill>
          <a:ln w="12700">
            <a:solidFill>
              <a:srgbClr val="45C241"/>
            </a:solidFill>
            <a:prstDash val="solid"/>
          </a:ln>
        </p:spPr>
        <p:txBody>
          <a:bodyPr/>
          <a:lstStyle/>
          <a:p>
            <a:endParaRPr lang="es-ES"/>
          </a:p>
        </p:txBody>
      </p:sp>
      <p:sp>
        <p:nvSpPr>
          <p:cNvPr id="50" name="Text 48"/>
          <p:cNvSpPr/>
          <p:nvPr/>
        </p:nvSpPr>
        <p:spPr>
          <a:xfrm>
            <a:off x="6949440" y="2578608"/>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SuiteCRM</a:t>
            </a:r>
            <a:endParaRPr lang="en-US" sz="900" dirty="0"/>
          </a:p>
        </p:txBody>
      </p:sp>
      <p:sp>
        <p:nvSpPr>
          <p:cNvPr id="51" name="Shape 49"/>
          <p:cNvSpPr/>
          <p:nvPr/>
        </p:nvSpPr>
        <p:spPr>
          <a:xfrm>
            <a:off x="4681728" y="2852928"/>
            <a:ext cx="109728" cy="109728"/>
          </a:xfrm>
          <a:prstGeom prst="rect">
            <a:avLst/>
          </a:prstGeom>
          <a:solidFill>
            <a:srgbClr val="45C241"/>
          </a:solidFill>
          <a:ln w="12700">
            <a:solidFill>
              <a:srgbClr val="45C241"/>
            </a:solidFill>
            <a:prstDash val="solid"/>
          </a:ln>
        </p:spPr>
        <p:txBody>
          <a:bodyPr/>
          <a:lstStyle/>
          <a:p>
            <a:endParaRPr lang="es-ES"/>
          </a:p>
        </p:txBody>
      </p:sp>
      <p:sp>
        <p:nvSpPr>
          <p:cNvPr id="52" name="Text 50"/>
          <p:cNvSpPr/>
          <p:nvPr/>
        </p:nvSpPr>
        <p:spPr>
          <a:xfrm>
            <a:off x="4846320" y="2834640"/>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Bitrix24</a:t>
            </a:r>
            <a:endParaRPr lang="en-US" sz="900" dirty="0"/>
          </a:p>
        </p:txBody>
      </p:sp>
      <p:sp>
        <p:nvSpPr>
          <p:cNvPr id="53" name="Shape 51"/>
          <p:cNvSpPr/>
          <p:nvPr/>
        </p:nvSpPr>
        <p:spPr>
          <a:xfrm>
            <a:off x="6784848" y="2852928"/>
            <a:ext cx="109728" cy="109728"/>
          </a:xfrm>
          <a:prstGeom prst="rect">
            <a:avLst/>
          </a:prstGeom>
          <a:solidFill>
            <a:srgbClr val="45C241"/>
          </a:solidFill>
          <a:ln w="12700">
            <a:solidFill>
              <a:srgbClr val="45C241"/>
            </a:solidFill>
            <a:prstDash val="solid"/>
          </a:ln>
        </p:spPr>
        <p:txBody>
          <a:bodyPr/>
          <a:lstStyle/>
          <a:p>
            <a:endParaRPr lang="es-ES"/>
          </a:p>
        </p:txBody>
      </p:sp>
      <p:sp>
        <p:nvSpPr>
          <p:cNvPr id="54" name="Text 52"/>
          <p:cNvSpPr/>
          <p:nvPr/>
        </p:nvSpPr>
        <p:spPr>
          <a:xfrm>
            <a:off x="6949440" y="2834640"/>
            <a:ext cx="1783080" cy="201168"/>
          </a:xfrm>
          <a:prstGeom prst="rect">
            <a:avLst/>
          </a:prstGeom>
          <a:noFill/>
          <a:ln/>
        </p:spPr>
        <p:txBody>
          <a:bodyPr wrap="square" lIns="0" tIns="0" rIns="0" bIns="0" rtlCol="0" anchor="ctr"/>
          <a:lstStyle/>
          <a:p>
            <a:pPr marL="0" indent="0">
              <a:buNone/>
            </a:pPr>
            <a:r>
              <a:rPr lang="en-US" sz="900" dirty="0">
                <a:solidFill>
                  <a:srgbClr val="BBBBBB"/>
                </a:solidFill>
                <a:latin typeface="Calibri" pitchFamily="34" charset="0"/>
                <a:ea typeface="Calibri" pitchFamily="34" charset="-122"/>
                <a:cs typeface="Calibri" pitchFamily="34" charset="-120"/>
              </a:rPr>
              <a:t>Outlook</a:t>
            </a:r>
            <a:endParaRPr lang="en-US" sz="900" dirty="0"/>
          </a:p>
        </p:txBody>
      </p:sp>
      <p:sp>
        <p:nvSpPr>
          <p:cNvPr id="55" name="Shape 53"/>
          <p:cNvSpPr/>
          <p:nvPr/>
        </p:nvSpPr>
        <p:spPr>
          <a:xfrm>
            <a:off x="4617720" y="3127248"/>
            <a:ext cx="4270248" cy="1627632"/>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56" name="Shape 54"/>
          <p:cNvSpPr/>
          <p:nvPr/>
        </p:nvSpPr>
        <p:spPr>
          <a:xfrm>
            <a:off x="4617720" y="3127248"/>
            <a:ext cx="4270248" cy="54864"/>
          </a:xfrm>
          <a:prstGeom prst="rect">
            <a:avLst/>
          </a:prstGeom>
          <a:solidFill>
            <a:srgbClr val="45C241"/>
          </a:solidFill>
          <a:ln w="12700">
            <a:solidFill>
              <a:srgbClr val="45C241"/>
            </a:solidFill>
            <a:prstDash val="solid"/>
          </a:ln>
        </p:spPr>
        <p:txBody>
          <a:bodyPr/>
          <a:lstStyle/>
          <a:p>
            <a:endParaRPr lang="es-ES"/>
          </a:p>
        </p:txBody>
      </p:sp>
      <p:sp>
        <p:nvSpPr>
          <p:cNvPr id="57" name="Text 55"/>
          <p:cNvSpPr/>
          <p:nvPr/>
        </p:nvSpPr>
        <p:spPr>
          <a:xfrm>
            <a:off x="4754880" y="3218688"/>
            <a:ext cx="3977640" cy="292608"/>
          </a:xfrm>
          <a:prstGeom prst="rect">
            <a:avLst/>
          </a:prstGeom>
          <a:noFill/>
          <a:ln/>
        </p:spPr>
        <p:txBody>
          <a:bodyPr wrap="square" lIns="0" tIns="0" rIns="0" bIns="0" rtlCol="0" anchor="ctr"/>
          <a:lstStyle/>
          <a:p>
            <a:pPr marL="0" indent="0">
              <a:buNone/>
            </a:pPr>
            <a:r>
              <a:rPr lang="en-US" sz="1100" b="1" dirty="0">
                <a:solidFill>
                  <a:srgbClr val="45C241"/>
                </a:solidFill>
                <a:latin typeface="Calibri" pitchFamily="34" charset="0"/>
                <a:ea typeface="Calibri" pitchFamily="34" charset="-122"/>
                <a:cs typeface="Calibri" pitchFamily="34" charset="-120"/>
              </a:rPr>
              <a:t>Integración nativa Salesforce (OpenCTI)</a:t>
            </a:r>
            <a:endParaRPr lang="en-US" sz="1100" dirty="0"/>
          </a:p>
        </p:txBody>
      </p:sp>
      <p:sp>
        <p:nvSpPr>
          <p:cNvPr id="58" name="Shape 56"/>
          <p:cNvSpPr/>
          <p:nvPr/>
        </p:nvSpPr>
        <p:spPr>
          <a:xfrm>
            <a:off x="4681728" y="3639312"/>
            <a:ext cx="54864" cy="146304"/>
          </a:xfrm>
          <a:prstGeom prst="rect">
            <a:avLst/>
          </a:prstGeom>
          <a:solidFill>
            <a:srgbClr val="45C241"/>
          </a:solidFill>
          <a:ln w="12700">
            <a:solidFill>
              <a:srgbClr val="45C241"/>
            </a:solidFill>
            <a:prstDash val="solid"/>
          </a:ln>
        </p:spPr>
        <p:txBody>
          <a:bodyPr/>
          <a:lstStyle/>
          <a:p>
            <a:endParaRPr lang="es-ES"/>
          </a:p>
        </p:txBody>
      </p:sp>
      <p:sp>
        <p:nvSpPr>
          <p:cNvPr id="59" name="Text 57"/>
          <p:cNvSpPr/>
          <p:nvPr/>
        </p:nvSpPr>
        <p:spPr>
          <a:xfrm>
            <a:off x="4809744" y="3602736"/>
            <a:ext cx="3931920" cy="25603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Teléfono embebido dentro del propio entorno Salesforce</a:t>
            </a:r>
            <a:endParaRPr lang="en-US" sz="900" dirty="0"/>
          </a:p>
        </p:txBody>
      </p:sp>
      <p:sp>
        <p:nvSpPr>
          <p:cNvPr id="60" name="Shape 58"/>
          <p:cNvSpPr/>
          <p:nvPr/>
        </p:nvSpPr>
        <p:spPr>
          <a:xfrm>
            <a:off x="4681728" y="3986784"/>
            <a:ext cx="54864" cy="146304"/>
          </a:xfrm>
          <a:prstGeom prst="rect">
            <a:avLst/>
          </a:prstGeom>
          <a:solidFill>
            <a:srgbClr val="45C241"/>
          </a:solidFill>
          <a:ln w="12700">
            <a:solidFill>
              <a:srgbClr val="45C241"/>
            </a:solidFill>
            <a:prstDash val="solid"/>
          </a:ln>
        </p:spPr>
        <p:txBody>
          <a:bodyPr/>
          <a:lstStyle/>
          <a:p>
            <a:endParaRPr lang="es-ES"/>
          </a:p>
        </p:txBody>
      </p:sp>
      <p:sp>
        <p:nvSpPr>
          <p:cNvPr id="61" name="Text 59"/>
          <p:cNvSpPr/>
          <p:nvPr/>
        </p:nvSpPr>
        <p:spPr>
          <a:xfrm>
            <a:off x="4809744" y="3950208"/>
            <a:ext cx="3931920" cy="25603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Personalización de tareas automatizadas por agente</a:t>
            </a:r>
            <a:endParaRPr lang="en-US" sz="900" dirty="0"/>
          </a:p>
        </p:txBody>
      </p:sp>
      <p:sp>
        <p:nvSpPr>
          <p:cNvPr id="62" name="Shape 60"/>
          <p:cNvSpPr/>
          <p:nvPr/>
        </p:nvSpPr>
        <p:spPr>
          <a:xfrm>
            <a:off x="4681728" y="4334256"/>
            <a:ext cx="54864" cy="146304"/>
          </a:xfrm>
          <a:prstGeom prst="rect">
            <a:avLst/>
          </a:prstGeom>
          <a:solidFill>
            <a:srgbClr val="45C241"/>
          </a:solidFill>
          <a:ln w="12700">
            <a:solidFill>
              <a:srgbClr val="45C241"/>
            </a:solidFill>
            <a:prstDash val="solid"/>
          </a:ln>
        </p:spPr>
        <p:txBody>
          <a:bodyPr/>
          <a:lstStyle/>
          <a:p>
            <a:endParaRPr lang="es-ES"/>
          </a:p>
        </p:txBody>
      </p:sp>
      <p:sp>
        <p:nvSpPr>
          <p:cNvPr id="63" name="Text 61"/>
          <p:cNvSpPr/>
          <p:nvPr/>
        </p:nvSpPr>
        <p:spPr>
          <a:xfrm>
            <a:off x="4809744" y="4297680"/>
            <a:ext cx="3931920" cy="25603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Envío de datos de actividad para informes y estadísticas</a:t>
            </a:r>
            <a:endParaRPr lang="en-US" sz="900" dirty="0"/>
          </a:p>
        </p:txBody>
      </p:sp>
      <p:sp>
        <p:nvSpPr>
          <p:cNvPr id="64" name="Shape 62"/>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65" name="Text 63"/>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45C241"/>
          </a:solidFill>
          <a:ln w="12700">
            <a:solidFill>
              <a:srgbClr val="45C241"/>
            </a:solidFill>
            <a:prstDash val="solid"/>
          </a:ln>
        </p:spPr>
        <p:txBody>
          <a:bodyPr/>
          <a:lstStyle/>
          <a:p>
            <a:endParaRPr lang="es-ES"/>
          </a:p>
        </p:txBody>
      </p:sp>
      <p:sp>
        <p:nvSpPr>
          <p:cNvPr id="3" name="Text 1"/>
          <p:cNvSpPr/>
          <p:nvPr/>
        </p:nvSpPr>
        <p:spPr>
          <a:xfrm>
            <a:off x="137160" y="274320"/>
            <a:ext cx="2926080" cy="1280160"/>
          </a:xfrm>
          <a:prstGeom prst="rect">
            <a:avLst/>
          </a:prstGeom>
          <a:noFill/>
          <a:ln/>
        </p:spPr>
        <p:txBody>
          <a:bodyPr wrap="square"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FIBER TO THE</a:t>
            </a:r>
            <a:endParaRPr lang="en-US" sz="2600" dirty="0"/>
          </a:p>
          <a:p>
            <a:pPr marL="0" indent="0" algn="ctr">
              <a:buNone/>
            </a:pPr>
            <a:r>
              <a:rPr lang="en-US" sz="2600" b="1" dirty="0">
                <a:solidFill>
                  <a:srgbClr val="1A1A1A"/>
                </a:solidFill>
                <a:latin typeface="Calibri" pitchFamily="34" charset="0"/>
                <a:ea typeface="Calibri" pitchFamily="34" charset="-122"/>
                <a:cs typeface="Calibri" pitchFamily="34" charset="-120"/>
              </a:rPr>
              <a:t>OFFICE</a:t>
            </a:r>
            <a:endParaRPr lang="en-US" sz="2600" dirty="0"/>
          </a:p>
        </p:txBody>
      </p:sp>
      <p:sp>
        <p:nvSpPr>
          <p:cNvPr id="4" name="Text 2"/>
          <p:cNvSpPr/>
          <p:nvPr/>
        </p:nvSpPr>
        <p:spPr>
          <a:xfrm>
            <a:off x="137160" y="1508760"/>
            <a:ext cx="2926080" cy="685800"/>
          </a:xfrm>
          <a:prstGeom prst="rect">
            <a:avLst/>
          </a:prstGeom>
          <a:noFill/>
          <a:ln/>
        </p:spPr>
        <p:txBody>
          <a:bodyPr wrap="square" rtlCol="0" anchor="ctr"/>
          <a:lstStyle/>
          <a:p>
            <a:pPr marL="0" indent="0" algn="ctr">
              <a:buNone/>
            </a:pPr>
            <a:r>
              <a:rPr lang="en-US" sz="5200" b="1" dirty="0">
                <a:solidFill>
                  <a:srgbClr val="111111"/>
                </a:solidFill>
                <a:latin typeface="Calibri" pitchFamily="34" charset="0"/>
                <a:ea typeface="Calibri" pitchFamily="34" charset="-122"/>
                <a:cs typeface="Calibri" pitchFamily="34" charset="-120"/>
              </a:rPr>
              <a:t>FTTO</a:t>
            </a:r>
            <a:endParaRPr lang="en-US" sz="5200" dirty="0"/>
          </a:p>
        </p:txBody>
      </p:sp>
      <p:sp>
        <p:nvSpPr>
          <p:cNvPr id="5" name="Shape 3"/>
          <p:cNvSpPr/>
          <p:nvPr/>
        </p:nvSpPr>
        <p:spPr>
          <a:xfrm>
            <a:off x="365760" y="2240280"/>
            <a:ext cx="2468880" cy="36576"/>
          </a:xfrm>
          <a:prstGeom prst="rect">
            <a:avLst/>
          </a:prstGeom>
          <a:solidFill>
            <a:srgbClr val="1A1A1A"/>
          </a:solidFill>
          <a:ln w="12700">
            <a:solidFill>
              <a:srgbClr val="1A1A1A"/>
            </a:solidFill>
            <a:prstDash val="solid"/>
          </a:ln>
        </p:spPr>
        <p:txBody>
          <a:bodyPr/>
          <a:lstStyle/>
          <a:p>
            <a:endParaRPr lang="es-ES"/>
          </a:p>
        </p:txBody>
      </p:sp>
      <p:sp>
        <p:nvSpPr>
          <p:cNvPr id="6" name="Shape 4"/>
          <p:cNvSpPr/>
          <p:nvPr/>
        </p:nvSpPr>
        <p:spPr>
          <a:xfrm>
            <a:off x="256032" y="2377440"/>
            <a:ext cx="2688336" cy="594360"/>
          </a:xfrm>
          <a:prstGeom prst="rect">
            <a:avLst/>
          </a:prstGeom>
          <a:solidFill>
            <a:srgbClr val="1A1A1A"/>
          </a:solidFill>
          <a:ln w="12700">
            <a:solidFill>
              <a:srgbClr val="1A1A1A"/>
            </a:solidFill>
            <a:prstDash val="solid"/>
          </a:ln>
        </p:spPr>
        <p:txBody>
          <a:bodyPr/>
          <a:lstStyle/>
          <a:p>
            <a:endParaRPr lang="es-ES"/>
          </a:p>
        </p:txBody>
      </p:sp>
      <p:sp>
        <p:nvSpPr>
          <p:cNvPr id="7" name="Text 5"/>
          <p:cNvSpPr/>
          <p:nvPr/>
        </p:nvSpPr>
        <p:spPr>
          <a:xfrm>
            <a:off x="256032" y="2423160"/>
            <a:ext cx="2688336" cy="256032"/>
          </a:xfrm>
          <a:prstGeom prst="rect">
            <a:avLst/>
          </a:prstGeom>
          <a:noFill/>
          <a:ln/>
        </p:spPr>
        <p:txBody>
          <a:bodyPr wrap="square" lIns="0" tIns="0" rIns="0" bIns="0" rtlCol="0" anchor="ctr"/>
          <a:lstStyle/>
          <a:p>
            <a:pPr marL="0" indent="0" algn="ctr">
              <a:buNone/>
            </a:pPr>
            <a:r>
              <a:rPr lang="en-US" sz="1300" b="1" dirty="0">
                <a:solidFill>
                  <a:srgbClr val="45C241"/>
                </a:solidFill>
                <a:latin typeface="Calibri" pitchFamily="34" charset="0"/>
                <a:ea typeface="Calibri" pitchFamily="34" charset="-122"/>
                <a:cs typeface="Calibri" pitchFamily="34" charset="-120"/>
              </a:rPr>
              <a:t>PLATA</a:t>
            </a:r>
            <a:endParaRPr lang="en-US" sz="1300" dirty="0"/>
          </a:p>
        </p:txBody>
      </p:sp>
      <p:sp>
        <p:nvSpPr>
          <p:cNvPr id="8" name="Text 6"/>
          <p:cNvSpPr/>
          <p:nvPr/>
        </p:nvSpPr>
        <p:spPr>
          <a:xfrm>
            <a:off x="256032" y="2679192"/>
            <a:ext cx="2688336" cy="2011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Servicio empresarial</a:t>
            </a:r>
            <a:endParaRPr lang="en-US" sz="900" dirty="0"/>
          </a:p>
        </p:txBody>
      </p:sp>
      <p:sp>
        <p:nvSpPr>
          <p:cNvPr id="9" name="Shape 7"/>
          <p:cNvSpPr/>
          <p:nvPr/>
        </p:nvSpPr>
        <p:spPr>
          <a:xfrm>
            <a:off x="256032" y="3090672"/>
            <a:ext cx="2688336" cy="594360"/>
          </a:xfrm>
          <a:prstGeom prst="rect">
            <a:avLst/>
          </a:prstGeom>
          <a:solidFill>
            <a:srgbClr val="1A1A1A"/>
          </a:solidFill>
          <a:ln w="12700">
            <a:solidFill>
              <a:srgbClr val="1A1A1A"/>
            </a:solidFill>
            <a:prstDash val="solid"/>
          </a:ln>
        </p:spPr>
        <p:txBody>
          <a:bodyPr/>
          <a:lstStyle/>
          <a:p>
            <a:endParaRPr lang="es-ES"/>
          </a:p>
        </p:txBody>
      </p:sp>
      <p:sp>
        <p:nvSpPr>
          <p:cNvPr id="10" name="Text 8"/>
          <p:cNvSpPr/>
          <p:nvPr/>
        </p:nvSpPr>
        <p:spPr>
          <a:xfrm>
            <a:off x="256032" y="3136392"/>
            <a:ext cx="2688336" cy="256032"/>
          </a:xfrm>
          <a:prstGeom prst="rect">
            <a:avLst/>
          </a:prstGeom>
          <a:noFill/>
          <a:ln/>
        </p:spPr>
        <p:txBody>
          <a:bodyPr wrap="square" lIns="0" tIns="0" rIns="0" bIns="0" rtlCol="0" anchor="ctr"/>
          <a:lstStyle/>
          <a:p>
            <a:pPr marL="0" indent="0" algn="ctr">
              <a:buNone/>
            </a:pPr>
            <a:r>
              <a:rPr lang="en-US" sz="1300" b="1" dirty="0">
                <a:solidFill>
                  <a:srgbClr val="45C241"/>
                </a:solidFill>
                <a:latin typeface="Calibri" pitchFamily="34" charset="0"/>
                <a:ea typeface="Calibri" pitchFamily="34" charset="-122"/>
                <a:cs typeface="Calibri" pitchFamily="34" charset="-120"/>
              </a:rPr>
              <a:t>SIMÉTRICO</a:t>
            </a:r>
            <a:endParaRPr lang="en-US" sz="1300" dirty="0"/>
          </a:p>
        </p:txBody>
      </p:sp>
      <p:sp>
        <p:nvSpPr>
          <p:cNvPr id="11" name="Text 9"/>
          <p:cNvSpPr/>
          <p:nvPr/>
        </p:nvSpPr>
        <p:spPr>
          <a:xfrm>
            <a:off x="256032" y="3392424"/>
            <a:ext cx="2688336" cy="2011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 = ↓ misma velocidad</a:t>
            </a:r>
            <a:endParaRPr lang="en-US" sz="900" dirty="0"/>
          </a:p>
        </p:txBody>
      </p:sp>
      <p:sp>
        <p:nvSpPr>
          <p:cNvPr id="12" name="Shape 10"/>
          <p:cNvSpPr/>
          <p:nvPr/>
        </p:nvSpPr>
        <p:spPr>
          <a:xfrm>
            <a:off x="256032" y="3803904"/>
            <a:ext cx="2688336" cy="594360"/>
          </a:xfrm>
          <a:prstGeom prst="rect">
            <a:avLst/>
          </a:prstGeom>
          <a:solidFill>
            <a:srgbClr val="1A1A1A"/>
          </a:solidFill>
          <a:ln w="12700">
            <a:solidFill>
              <a:srgbClr val="1A1A1A"/>
            </a:solidFill>
            <a:prstDash val="solid"/>
          </a:ln>
        </p:spPr>
        <p:txBody>
          <a:bodyPr/>
          <a:lstStyle/>
          <a:p>
            <a:endParaRPr lang="es-ES"/>
          </a:p>
        </p:txBody>
      </p:sp>
      <p:sp>
        <p:nvSpPr>
          <p:cNvPr id="13" name="Text 11"/>
          <p:cNvSpPr/>
          <p:nvPr/>
        </p:nvSpPr>
        <p:spPr>
          <a:xfrm>
            <a:off x="256032" y="3849624"/>
            <a:ext cx="2688336" cy="256032"/>
          </a:xfrm>
          <a:prstGeom prst="rect">
            <a:avLst/>
          </a:prstGeom>
          <a:noFill/>
          <a:ln/>
        </p:spPr>
        <p:txBody>
          <a:bodyPr wrap="square" lIns="0" tIns="0" rIns="0" bIns="0" rtlCol="0" anchor="ctr"/>
          <a:lstStyle/>
          <a:p>
            <a:pPr marL="0" indent="0" algn="ctr">
              <a:buNone/>
            </a:pPr>
            <a:r>
              <a:rPr lang="en-US" sz="1300" b="1" dirty="0">
                <a:solidFill>
                  <a:srgbClr val="45C241"/>
                </a:solidFill>
                <a:latin typeface="Calibri" pitchFamily="34" charset="0"/>
                <a:ea typeface="Calibri" pitchFamily="34" charset="-122"/>
                <a:cs typeface="Calibri" pitchFamily="34" charset="-120"/>
              </a:rPr>
              <a:t>DEDICADO</a:t>
            </a:r>
            <a:endParaRPr lang="en-US" sz="1300" dirty="0"/>
          </a:p>
        </p:txBody>
      </p:sp>
      <p:sp>
        <p:nvSpPr>
          <p:cNvPr id="14" name="Text 12"/>
          <p:cNvSpPr/>
          <p:nvPr/>
        </p:nvSpPr>
        <p:spPr>
          <a:xfrm>
            <a:off x="256032" y="4105656"/>
            <a:ext cx="2688336" cy="2011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Sin compartir con otros</a:t>
            </a:r>
            <a:endParaRPr lang="en-US" sz="900" dirty="0"/>
          </a:p>
        </p:txBody>
      </p:sp>
      <p:sp>
        <p:nvSpPr>
          <p:cNvPr id="15" name="Text 13"/>
          <p:cNvSpPr/>
          <p:nvPr/>
        </p:nvSpPr>
        <p:spPr>
          <a:xfrm>
            <a:off x="3429000" y="228600"/>
            <a:ext cx="5486400" cy="384048"/>
          </a:xfrm>
          <a:prstGeom prst="rect">
            <a:avLst/>
          </a:prstGeom>
          <a:noFill/>
          <a:ln/>
        </p:spPr>
        <p:txBody>
          <a:bodyPr wrap="square" lIns="0" tIns="0" rIns="0" bIns="0" rtlCol="0" anchor="ctr"/>
          <a:lstStyle/>
          <a:p>
            <a:pPr marL="0" indent="0">
              <a:buNone/>
            </a:pPr>
            <a:r>
              <a:rPr lang="en-US" sz="1600" b="1" dirty="0">
                <a:solidFill>
                  <a:srgbClr val="45C241"/>
                </a:solidFill>
                <a:latin typeface="Calibri" pitchFamily="34" charset="0"/>
                <a:ea typeface="Calibri" pitchFamily="34" charset="-122"/>
                <a:cs typeface="Calibri" pitchFamily="34" charset="-120"/>
              </a:rPr>
              <a:t>¿Qué es FTTO Plata?</a:t>
            </a:r>
            <a:endParaRPr lang="en-US" sz="1600" dirty="0"/>
          </a:p>
        </p:txBody>
      </p:sp>
      <p:sp>
        <p:nvSpPr>
          <p:cNvPr id="16" name="Text 14"/>
          <p:cNvSpPr/>
          <p:nvPr/>
        </p:nvSpPr>
        <p:spPr>
          <a:xfrm>
            <a:off x="3429000" y="658368"/>
            <a:ext cx="5486400" cy="777240"/>
          </a:xfrm>
          <a:prstGeom prst="rect">
            <a:avLst/>
          </a:prstGeom>
          <a:noFill/>
          <a:ln/>
        </p:spPr>
        <p:txBody>
          <a:bodyPr wrap="square" lIns="0" tIns="0" rIns="0" bIns="0" rtlCol="0" anchor="ctr"/>
          <a:lstStyle/>
          <a:p>
            <a:pPr marL="0" indent="0">
              <a:buNone/>
            </a:pPr>
            <a:r>
              <a:rPr lang="en-US" sz="950" dirty="0">
                <a:solidFill>
                  <a:srgbClr val="BBBBBB"/>
                </a:solidFill>
                <a:latin typeface="Calibri" pitchFamily="34" charset="0"/>
                <a:ea typeface="Calibri" pitchFamily="34" charset="-122"/>
                <a:cs typeface="Calibri" pitchFamily="34" charset="-120"/>
              </a:rPr>
              <a:t>La transformación digital exige una conectividad robusta, estable y rápida. FTTO (Fiber to the Office) es una red basada completamente en fibra óptica que llega directamente hasta cada puesto de trabajo, eliminando los cuellos de botella del cableado de cobre tradicional.</a:t>
            </a:r>
            <a:endParaRPr lang="en-US" sz="950" dirty="0"/>
          </a:p>
        </p:txBody>
      </p:sp>
      <p:sp>
        <p:nvSpPr>
          <p:cNvPr id="17" name="Shape 15"/>
          <p:cNvSpPr/>
          <p:nvPr/>
        </p:nvSpPr>
        <p:spPr>
          <a:xfrm>
            <a:off x="3429000" y="1508760"/>
            <a:ext cx="5486400" cy="329184"/>
          </a:xfrm>
          <a:prstGeom prst="rect">
            <a:avLst/>
          </a:prstGeom>
          <a:solidFill>
            <a:srgbClr val="222222"/>
          </a:solidFill>
          <a:ln w="12700">
            <a:solidFill>
              <a:srgbClr val="333333"/>
            </a:solidFill>
            <a:prstDash val="solid"/>
          </a:ln>
        </p:spPr>
        <p:txBody>
          <a:bodyPr/>
          <a:lstStyle/>
          <a:p>
            <a:endParaRPr lang="es-ES"/>
          </a:p>
        </p:txBody>
      </p:sp>
      <p:sp>
        <p:nvSpPr>
          <p:cNvPr id="18" name="Shape 16"/>
          <p:cNvSpPr/>
          <p:nvPr/>
        </p:nvSpPr>
        <p:spPr>
          <a:xfrm>
            <a:off x="3429000" y="1508760"/>
            <a:ext cx="54864" cy="329184"/>
          </a:xfrm>
          <a:prstGeom prst="rect">
            <a:avLst/>
          </a:prstGeom>
          <a:solidFill>
            <a:srgbClr val="45C241"/>
          </a:solidFill>
          <a:ln w="12700">
            <a:solidFill>
              <a:srgbClr val="45C241"/>
            </a:solidFill>
            <a:prstDash val="solid"/>
          </a:ln>
        </p:spPr>
        <p:txBody>
          <a:bodyPr/>
          <a:lstStyle/>
          <a:p>
            <a:endParaRPr lang="es-ES"/>
          </a:p>
        </p:txBody>
      </p:sp>
      <p:sp>
        <p:nvSpPr>
          <p:cNvPr id="19" name="Text 17"/>
          <p:cNvSpPr/>
          <p:nvPr/>
        </p:nvSpPr>
        <p:spPr>
          <a:xfrm>
            <a:off x="3566160" y="1508760"/>
            <a:ext cx="5257800" cy="32918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 La fibra óptica sustituye al cable de cobre en todo el backbone</a:t>
            </a:r>
            <a:endParaRPr lang="en-US" sz="950" dirty="0"/>
          </a:p>
        </p:txBody>
      </p:sp>
      <p:sp>
        <p:nvSpPr>
          <p:cNvPr id="20" name="Shape 18"/>
          <p:cNvSpPr/>
          <p:nvPr/>
        </p:nvSpPr>
        <p:spPr>
          <a:xfrm>
            <a:off x="3429000" y="1892808"/>
            <a:ext cx="5486400" cy="329184"/>
          </a:xfrm>
          <a:prstGeom prst="rect">
            <a:avLst/>
          </a:prstGeom>
          <a:solidFill>
            <a:srgbClr val="1E1E1E"/>
          </a:solidFill>
          <a:ln w="12700">
            <a:solidFill>
              <a:srgbClr val="333333"/>
            </a:solidFill>
            <a:prstDash val="solid"/>
          </a:ln>
        </p:spPr>
        <p:txBody>
          <a:bodyPr/>
          <a:lstStyle/>
          <a:p>
            <a:endParaRPr lang="es-ES"/>
          </a:p>
        </p:txBody>
      </p:sp>
      <p:sp>
        <p:nvSpPr>
          <p:cNvPr id="21" name="Shape 19"/>
          <p:cNvSpPr/>
          <p:nvPr/>
        </p:nvSpPr>
        <p:spPr>
          <a:xfrm>
            <a:off x="3429000" y="1892808"/>
            <a:ext cx="54864" cy="329184"/>
          </a:xfrm>
          <a:prstGeom prst="rect">
            <a:avLst/>
          </a:prstGeom>
          <a:solidFill>
            <a:srgbClr val="45C241"/>
          </a:solidFill>
          <a:ln w="12700">
            <a:solidFill>
              <a:srgbClr val="45C241"/>
            </a:solidFill>
            <a:prstDash val="solid"/>
          </a:ln>
        </p:spPr>
        <p:txBody>
          <a:bodyPr/>
          <a:lstStyle/>
          <a:p>
            <a:endParaRPr lang="es-ES"/>
          </a:p>
        </p:txBody>
      </p:sp>
      <p:sp>
        <p:nvSpPr>
          <p:cNvPr id="22" name="Text 20"/>
          <p:cNvSpPr/>
          <p:nvPr/>
        </p:nvSpPr>
        <p:spPr>
          <a:xfrm>
            <a:off x="3566160" y="1892808"/>
            <a:ext cx="5257800" cy="32918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 No se necesitan armarios de comunicaciones intermedios por planta</a:t>
            </a:r>
            <a:endParaRPr lang="en-US" sz="950" dirty="0"/>
          </a:p>
        </p:txBody>
      </p:sp>
      <p:sp>
        <p:nvSpPr>
          <p:cNvPr id="23" name="Shape 21"/>
          <p:cNvSpPr/>
          <p:nvPr/>
        </p:nvSpPr>
        <p:spPr>
          <a:xfrm>
            <a:off x="3429000" y="2276856"/>
            <a:ext cx="5486400" cy="329184"/>
          </a:xfrm>
          <a:prstGeom prst="rect">
            <a:avLst/>
          </a:prstGeom>
          <a:solidFill>
            <a:srgbClr val="222222"/>
          </a:solidFill>
          <a:ln w="12700">
            <a:solidFill>
              <a:srgbClr val="333333"/>
            </a:solidFill>
            <a:prstDash val="solid"/>
          </a:ln>
        </p:spPr>
        <p:txBody>
          <a:bodyPr/>
          <a:lstStyle/>
          <a:p>
            <a:endParaRPr lang="es-ES"/>
          </a:p>
        </p:txBody>
      </p:sp>
      <p:sp>
        <p:nvSpPr>
          <p:cNvPr id="24" name="Shape 22"/>
          <p:cNvSpPr/>
          <p:nvPr/>
        </p:nvSpPr>
        <p:spPr>
          <a:xfrm>
            <a:off x="3429000" y="2276856"/>
            <a:ext cx="54864" cy="329184"/>
          </a:xfrm>
          <a:prstGeom prst="rect">
            <a:avLst/>
          </a:prstGeom>
          <a:solidFill>
            <a:srgbClr val="45C241"/>
          </a:solidFill>
          <a:ln w="12700">
            <a:solidFill>
              <a:srgbClr val="45C241"/>
            </a:solidFill>
            <a:prstDash val="solid"/>
          </a:ln>
        </p:spPr>
        <p:txBody>
          <a:bodyPr/>
          <a:lstStyle/>
          <a:p>
            <a:endParaRPr lang="es-ES"/>
          </a:p>
        </p:txBody>
      </p:sp>
      <p:sp>
        <p:nvSpPr>
          <p:cNvPr id="25" name="Text 23"/>
          <p:cNvSpPr/>
          <p:nvPr/>
        </p:nvSpPr>
        <p:spPr>
          <a:xfrm>
            <a:off x="3566160" y="2276856"/>
            <a:ext cx="5257800" cy="32918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 Se eliminan switches secundarios: mini switches ópticos en cada puesto</a:t>
            </a:r>
            <a:endParaRPr lang="en-US" sz="950" dirty="0"/>
          </a:p>
        </p:txBody>
      </p:sp>
      <p:sp>
        <p:nvSpPr>
          <p:cNvPr id="26" name="Shape 24"/>
          <p:cNvSpPr/>
          <p:nvPr/>
        </p:nvSpPr>
        <p:spPr>
          <a:xfrm>
            <a:off x="3429000" y="2660904"/>
            <a:ext cx="5486400" cy="329184"/>
          </a:xfrm>
          <a:prstGeom prst="rect">
            <a:avLst/>
          </a:prstGeom>
          <a:solidFill>
            <a:srgbClr val="1E1E1E"/>
          </a:solidFill>
          <a:ln w="12700">
            <a:solidFill>
              <a:srgbClr val="333333"/>
            </a:solidFill>
            <a:prstDash val="solid"/>
          </a:ln>
        </p:spPr>
        <p:txBody>
          <a:bodyPr/>
          <a:lstStyle/>
          <a:p>
            <a:endParaRPr lang="es-ES"/>
          </a:p>
        </p:txBody>
      </p:sp>
      <p:sp>
        <p:nvSpPr>
          <p:cNvPr id="27" name="Shape 25"/>
          <p:cNvSpPr/>
          <p:nvPr/>
        </p:nvSpPr>
        <p:spPr>
          <a:xfrm>
            <a:off x="3429000" y="2660904"/>
            <a:ext cx="54864" cy="329184"/>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3566160" y="2660904"/>
            <a:ext cx="5257800" cy="32918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 Red más limpia, escalable y con mejor rendimiento garantizado</a:t>
            </a:r>
            <a:endParaRPr lang="en-US" sz="950" dirty="0"/>
          </a:p>
        </p:txBody>
      </p:sp>
      <p:sp>
        <p:nvSpPr>
          <p:cNvPr id="29" name="Text 27"/>
          <p:cNvSpPr/>
          <p:nvPr/>
        </p:nvSpPr>
        <p:spPr>
          <a:xfrm>
            <a:off x="3429000" y="3127248"/>
            <a:ext cx="5486400" cy="292608"/>
          </a:xfrm>
          <a:prstGeom prst="rect">
            <a:avLst/>
          </a:prstGeom>
          <a:noFill/>
          <a:ln/>
        </p:spPr>
        <p:txBody>
          <a:bodyPr wrap="square" lIns="0" tIns="0" rIns="0" bIns="0" rtlCol="0" anchor="ctr"/>
          <a:lstStyle/>
          <a:p>
            <a:pPr marL="0" indent="0">
              <a:buNone/>
            </a:pPr>
            <a:r>
              <a:rPr lang="en-US" sz="1200" b="1" dirty="0">
                <a:solidFill>
                  <a:srgbClr val="45C241"/>
                </a:solidFill>
                <a:latin typeface="Calibri" pitchFamily="34" charset="0"/>
                <a:ea typeface="Calibri" pitchFamily="34" charset="-122"/>
                <a:cs typeface="Calibri" pitchFamily="34" charset="-120"/>
              </a:rPr>
              <a:t>Router incluido: MikroTik hAP ax²</a:t>
            </a:r>
            <a:endParaRPr lang="en-US" sz="1200" dirty="0"/>
          </a:p>
        </p:txBody>
      </p:sp>
      <p:sp>
        <p:nvSpPr>
          <p:cNvPr id="30" name="Shape 28"/>
          <p:cNvSpPr/>
          <p:nvPr/>
        </p:nvSpPr>
        <p:spPr>
          <a:xfrm>
            <a:off x="3429000" y="3493008"/>
            <a:ext cx="2697480" cy="310896"/>
          </a:xfrm>
          <a:prstGeom prst="rect">
            <a:avLst/>
          </a:prstGeom>
          <a:solidFill>
            <a:srgbClr val="222222"/>
          </a:solidFill>
          <a:ln w="12700">
            <a:solidFill>
              <a:srgbClr val="333333"/>
            </a:solidFill>
            <a:prstDash val="solid"/>
          </a:ln>
        </p:spPr>
        <p:txBody>
          <a:bodyPr/>
          <a:lstStyle/>
          <a:p>
            <a:endParaRPr lang="es-ES"/>
          </a:p>
        </p:txBody>
      </p:sp>
      <p:sp>
        <p:nvSpPr>
          <p:cNvPr id="31" name="Text 29"/>
          <p:cNvSpPr/>
          <p:nvPr/>
        </p:nvSpPr>
        <p:spPr>
          <a:xfrm>
            <a:off x="3502152" y="3529584"/>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CPU</a:t>
            </a:r>
            <a:endParaRPr lang="en-US" sz="800" dirty="0"/>
          </a:p>
        </p:txBody>
      </p:sp>
      <p:sp>
        <p:nvSpPr>
          <p:cNvPr id="32" name="Text 30"/>
          <p:cNvSpPr/>
          <p:nvPr/>
        </p:nvSpPr>
        <p:spPr>
          <a:xfrm>
            <a:off x="4306824" y="3529584"/>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IPQ-6010 · 4 núcleos · 864 MHz</a:t>
            </a:r>
            <a:endParaRPr lang="en-US" sz="800" dirty="0"/>
          </a:p>
        </p:txBody>
      </p:sp>
      <p:sp>
        <p:nvSpPr>
          <p:cNvPr id="33" name="Shape 31"/>
          <p:cNvSpPr/>
          <p:nvPr/>
        </p:nvSpPr>
        <p:spPr>
          <a:xfrm>
            <a:off x="6217920" y="3493008"/>
            <a:ext cx="2697480" cy="310896"/>
          </a:xfrm>
          <a:prstGeom prst="rect">
            <a:avLst/>
          </a:prstGeom>
          <a:solidFill>
            <a:srgbClr val="1E1E1E"/>
          </a:solidFill>
          <a:ln w="12700">
            <a:solidFill>
              <a:srgbClr val="333333"/>
            </a:solidFill>
            <a:prstDash val="solid"/>
          </a:ln>
        </p:spPr>
        <p:txBody>
          <a:bodyPr/>
          <a:lstStyle/>
          <a:p>
            <a:endParaRPr lang="es-ES"/>
          </a:p>
        </p:txBody>
      </p:sp>
      <p:sp>
        <p:nvSpPr>
          <p:cNvPr id="34" name="Text 32"/>
          <p:cNvSpPr/>
          <p:nvPr/>
        </p:nvSpPr>
        <p:spPr>
          <a:xfrm>
            <a:off x="6291072" y="3529584"/>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RAM / Storage</a:t>
            </a:r>
            <a:endParaRPr lang="en-US" sz="800" dirty="0"/>
          </a:p>
        </p:txBody>
      </p:sp>
      <p:sp>
        <p:nvSpPr>
          <p:cNvPr id="35" name="Text 33"/>
          <p:cNvSpPr/>
          <p:nvPr/>
        </p:nvSpPr>
        <p:spPr>
          <a:xfrm>
            <a:off x="7095744" y="3529584"/>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1 GB RAM · 128 MB NAND</a:t>
            </a:r>
            <a:endParaRPr lang="en-US" sz="800" dirty="0"/>
          </a:p>
        </p:txBody>
      </p:sp>
      <p:sp>
        <p:nvSpPr>
          <p:cNvPr id="36" name="Shape 34"/>
          <p:cNvSpPr/>
          <p:nvPr/>
        </p:nvSpPr>
        <p:spPr>
          <a:xfrm>
            <a:off x="3429000" y="3840480"/>
            <a:ext cx="2697480" cy="310896"/>
          </a:xfrm>
          <a:prstGeom prst="rect">
            <a:avLst/>
          </a:prstGeom>
          <a:solidFill>
            <a:srgbClr val="222222"/>
          </a:solidFill>
          <a:ln w="12700">
            <a:solidFill>
              <a:srgbClr val="333333"/>
            </a:solidFill>
            <a:prstDash val="solid"/>
          </a:ln>
        </p:spPr>
        <p:txBody>
          <a:bodyPr/>
          <a:lstStyle/>
          <a:p>
            <a:endParaRPr lang="es-ES"/>
          </a:p>
        </p:txBody>
      </p:sp>
      <p:sp>
        <p:nvSpPr>
          <p:cNvPr id="37" name="Text 35"/>
          <p:cNvSpPr/>
          <p:nvPr/>
        </p:nvSpPr>
        <p:spPr>
          <a:xfrm>
            <a:off x="3502152" y="3877056"/>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WiFi</a:t>
            </a:r>
            <a:endParaRPr lang="en-US" sz="800" dirty="0"/>
          </a:p>
        </p:txBody>
      </p:sp>
      <p:sp>
        <p:nvSpPr>
          <p:cNvPr id="38" name="Text 36"/>
          <p:cNvSpPr/>
          <p:nvPr/>
        </p:nvSpPr>
        <p:spPr>
          <a:xfrm>
            <a:off x="4306824" y="3877056"/>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AX1800 · Wi-Fi 6 · 2.4GHz + 5GHz</a:t>
            </a:r>
            <a:endParaRPr lang="en-US" sz="800" dirty="0"/>
          </a:p>
        </p:txBody>
      </p:sp>
      <p:sp>
        <p:nvSpPr>
          <p:cNvPr id="39" name="Shape 37"/>
          <p:cNvSpPr/>
          <p:nvPr/>
        </p:nvSpPr>
        <p:spPr>
          <a:xfrm>
            <a:off x="6217920" y="3840480"/>
            <a:ext cx="2697480" cy="310896"/>
          </a:xfrm>
          <a:prstGeom prst="rect">
            <a:avLst/>
          </a:prstGeom>
          <a:solidFill>
            <a:srgbClr val="1E1E1E"/>
          </a:solidFill>
          <a:ln w="12700">
            <a:solidFill>
              <a:srgbClr val="333333"/>
            </a:solidFill>
            <a:prstDash val="solid"/>
          </a:ln>
        </p:spPr>
        <p:txBody>
          <a:bodyPr/>
          <a:lstStyle/>
          <a:p>
            <a:endParaRPr lang="es-ES"/>
          </a:p>
        </p:txBody>
      </p:sp>
      <p:sp>
        <p:nvSpPr>
          <p:cNvPr id="40" name="Text 38"/>
          <p:cNvSpPr/>
          <p:nvPr/>
        </p:nvSpPr>
        <p:spPr>
          <a:xfrm>
            <a:off x="6291072" y="3877056"/>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Ethernet</a:t>
            </a:r>
            <a:endParaRPr lang="en-US" sz="800" dirty="0"/>
          </a:p>
        </p:txBody>
      </p:sp>
      <p:sp>
        <p:nvSpPr>
          <p:cNvPr id="41" name="Text 39"/>
          <p:cNvSpPr/>
          <p:nvPr/>
        </p:nvSpPr>
        <p:spPr>
          <a:xfrm>
            <a:off x="7095744" y="3877056"/>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5× 10/100/1000 · PoE pasivo</a:t>
            </a:r>
            <a:endParaRPr lang="en-US" sz="800" dirty="0"/>
          </a:p>
        </p:txBody>
      </p:sp>
      <p:sp>
        <p:nvSpPr>
          <p:cNvPr id="42" name="Shape 40"/>
          <p:cNvSpPr/>
          <p:nvPr/>
        </p:nvSpPr>
        <p:spPr>
          <a:xfrm>
            <a:off x="3429000" y="4187952"/>
            <a:ext cx="2697480" cy="310896"/>
          </a:xfrm>
          <a:prstGeom prst="rect">
            <a:avLst/>
          </a:prstGeom>
          <a:solidFill>
            <a:srgbClr val="222222"/>
          </a:solidFill>
          <a:ln w="12700">
            <a:solidFill>
              <a:srgbClr val="333333"/>
            </a:solidFill>
            <a:prstDash val="solid"/>
          </a:ln>
        </p:spPr>
        <p:txBody>
          <a:bodyPr/>
          <a:lstStyle/>
          <a:p>
            <a:endParaRPr lang="es-ES"/>
          </a:p>
        </p:txBody>
      </p:sp>
      <p:sp>
        <p:nvSpPr>
          <p:cNvPr id="43" name="Text 41"/>
          <p:cNvSpPr/>
          <p:nvPr/>
        </p:nvSpPr>
        <p:spPr>
          <a:xfrm>
            <a:off x="3502152" y="4224528"/>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Seguridad</a:t>
            </a:r>
            <a:endParaRPr lang="en-US" sz="800" dirty="0"/>
          </a:p>
        </p:txBody>
      </p:sp>
      <p:sp>
        <p:nvSpPr>
          <p:cNvPr id="44" name="Text 42"/>
          <p:cNvSpPr/>
          <p:nvPr/>
        </p:nvSpPr>
        <p:spPr>
          <a:xfrm>
            <a:off x="4306824" y="4224528"/>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IPsec hardware · WPA3 · RouterOS v7</a:t>
            </a:r>
            <a:endParaRPr lang="en-US" sz="800" dirty="0"/>
          </a:p>
        </p:txBody>
      </p:sp>
      <p:sp>
        <p:nvSpPr>
          <p:cNvPr id="45" name="Shape 43"/>
          <p:cNvSpPr/>
          <p:nvPr/>
        </p:nvSpPr>
        <p:spPr>
          <a:xfrm>
            <a:off x="6217920" y="4187952"/>
            <a:ext cx="2697480" cy="310896"/>
          </a:xfrm>
          <a:prstGeom prst="rect">
            <a:avLst/>
          </a:prstGeom>
          <a:solidFill>
            <a:srgbClr val="1E1E1E"/>
          </a:solidFill>
          <a:ln w="12700">
            <a:solidFill>
              <a:srgbClr val="333333"/>
            </a:solidFill>
            <a:prstDash val="solid"/>
          </a:ln>
        </p:spPr>
        <p:txBody>
          <a:bodyPr/>
          <a:lstStyle/>
          <a:p>
            <a:endParaRPr lang="es-ES"/>
          </a:p>
        </p:txBody>
      </p:sp>
      <p:sp>
        <p:nvSpPr>
          <p:cNvPr id="46" name="Text 44"/>
          <p:cNvSpPr/>
          <p:nvPr/>
        </p:nvSpPr>
        <p:spPr>
          <a:xfrm>
            <a:off x="6291072" y="4224528"/>
            <a:ext cx="777240" cy="23774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Cert.</a:t>
            </a:r>
            <a:endParaRPr lang="en-US" sz="800" dirty="0"/>
          </a:p>
        </p:txBody>
      </p:sp>
      <p:sp>
        <p:nvSpPr>
          <p:cNvPr id="47" name="Text 45"/>
          <p:cNvSpPr/>
          <p:nvPr/>
        </p:nvSpPr>
        <p:spPr>
          <a:xfrm>
            <a:off x="7095744" y="4224528"/>
            <a:ext cx="1719072" cy="23774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CE, FCC, IC, EAC, ROHS · IP20</a:t>
            </a:r>
            <a:endParaRPr lang="en-US" sz="800" dirty="0"/>
          </a:p>
        </p:txBody>
      </p:sp>
      <p:sp>
        <p:nvSpPr>
          <p:cNvPr id="48" name="Shape 46"/>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49" name="Text 47"/>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TERMINAL INALÁMBRICO — YEALINK W73P</a:t>
            </a:r>
            <a:endParaRPr lang="en-US" sz="17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Incluido en la propuesta · 165 unidades · 8,50€/ud/mes · Tarifa plana ilimitada a fijos y móviles nacionales</a:t>
            </a:r>
            <a:endParaRPr lang="en-US" sz="1000" dirty="0"/>
          </a:p>
        </p:txBody>
      </p:sp>
      <p:sp>
        <p:nvSpPr>
          <p:cNvPr id="6" name="Shape 4"/>
          <p:cNvSpPr/>
          <p:nvPr/>
        </p:nvSpPr>
        <p:spPr>
          <a:xfrm>
            <a:off x="256032" y="1005840"/>
            <a:ext cx="2971800" cy="3767328"/>
          </a:xfrm>
          <a:prstGeom prst="rect">
            <a:avLst/>
          </a:prstGeom>
          <a:solidFill>
            <a:srgbClr val="111111"/>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005840"/>
            <a:ext cx="2971800" cy="54864"/>
          </a:xfrm>
          <a:prstGeom prst="rect">
            <a:avLst/>
          </a:prstGeom>
          <a:solidFill>
            <a:srgbClr val="45C241"/>
          </a:solidFill>
          <a:ln w="12700">
            <a:solidFill>
              <a:srgbClr val="45C241"/>
            </a:solidFill>
            <a:prstDash val="solid"/>
          </a:ln>
        </p:spPr>
        <p:txBody>
          <a:bodyPr/>
          <a:lstStyle/>
          <a:p>
            <a:endParaRPr lang="es-ES"/>
          </a:p>
        </p:txBody>
      </p:sp>
      <p:pic>
        <p:nvPicPr>
          <p:cNvPr id="8" name="Image 0" descr="preencoded.png"/>
          <p:cNvPicPr>
            <a:picLocks noChangeAspect="1"/>
          </p:cNvPicPr>
          <p:nvPr/>
        </p:nvPicPr>
        <p:blipFill>
          <a:blip r:embed="rId3"/>
          <a:srcRect/>
          <a:stretch/>
        </p:blipFill>
        <p:spPr>
          <a:xfrm>
            <a:off x="658368" y="1097280"/>
            <a:ext cx="2194560" cy="3657600"/>
          </a:xfrm>
          <a:prstGeom prst="rect">
            <a:avLst/>
          </a:prstGeom>
        </p:spPr>
      </p:pic>
      <p:sp>
        <p:nvSpPr>
          <p:cNvPr id="9" name="Shape 6"/>
          <p:cNvSpPr/>
          <p:nvPr/>
        </p:nvSpPr>
        <p:spPr>
          <a:xfrm>
            <a:off x="3401568" y="1005840"/>
            <a:ext cx="2743200" cy="292608"/>
          </a:xfrm>
          <a:prstGeom prst="rect">
            <a:avLst/>
          </a:prstGeom>
          <a:solidFill>
            <a:srgbClr val="45C241"/>
          </a:solidFill>
          <a:ln w="12700">
            <a:solidFill>
              <a:srgbClr val="45C241"/>
            </a:solidFill>
            <a:prstDash val="solid"/>
          </a:ln>
        </p:spPr>
        <p:txBody>
          <a:bodyPr/>
          <a:lstStyle/>
          <a:p>
            <a:endParaRPr lang="es-ES"/>
          </a:p>
        </p:txBody>
      </p:sp>
      <p:sp>
        <p:nvSpPr>
          <p:cNvPr id="10" name="Text 7"/>
          <p:cNvSpPr/>
          <p:nvPr/>
        </p:nvSpPr>
        <p:spPr>
          <a:xfrm>
            <a:off x="3493008" y="1005840"/>
            <a:ext cx="2651760" cy="29260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PANTALLA &amp; AUDIO</a:t>
            </a:r>
            <a:endParaRPr lang="en-US" sz="900" dirty="0"/>
          </a:p>
        </p:txBody>
      </p:sp>
      <p:sp>
        <p:nvSpPr>
          <p:cNvPr id="11" name="Shape 8"/>
          <p:cNvSpPr/>
          <p:nvPr/>
        </p:nvSpPr>
        <p:spPr>
          <a:xfrm>
            <a:off x="3401568" y="1335024"/>
            <a:ext cx="2743200" cy="246888"/>
          </a:xfrm>
          <a:prstGeom prst="rect">
            <a:avLst/>
          </a:prstGeom>
          <a:solidFill>
            <a:srgbClr val="1E1E1E"/>
          </a:solidFill>
          <a:ln w="12700">
            <a:solidFill>
              <a:srgbClr val="333333"/>
            </a:solidFill>
            <a:prstDash val="solid"/>
          </a:ln>
        </p:spPr>
        <p:txBody>
          <a:bodyPr/>
          <a:lstStyle/>
          <a:p>
            <a:endParaRPr lang="es-ES"/>
          </a:p>
        </p:txBody>
      </p:sp>
      <p:sp>
        <p:nvSpPr>
          <p:cNvPr id="12" name="Text 9"/>
          <p:cNvSpPr/>
          <p:nvPr/>
        </p:nvSpPr>
        <p:spPr>
          <a:xfrm>
            <a:off x="3474720" y="136245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Pantalla</a:t>
            </a:r>
            <a:endParaRPr lang="en-US" sz="800" dirty="0"/>
          </a:p>
        </p:txBody>
      </p:sp>
      <p:sp>
        <p:nvSpPr>
          <p:cNvPr id="13" name="Text 10"/>
          <p:cNvSpPr/>
          <p:nvPr/>
        </p:nvSpPr>
        <p:spPr>
          <a:xfrm>
            <a:off x="4407408" y="136245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2,4" LCD a color</a:t>
            </a:r>
            <a:endParaRPr lang="en-US" sz="800" dirty="0"/>
          </a:p>
        </p:txBody>
      </p:sp>
      <p:sp>
        <p:nvSpPr>
          <p:cNvPr id="14" name="Shape 11"/>
          <p:cNvSpPr/>
          <p:nvPr/>
        </p:nvSpPr>
        <p:spPr>
          <a:xfrm>
            <a:off x="3401568" y="1609344"/>
            <a:ext cx="2743200" cy="246888"/>
          </a:xfrm>
          <a:prstGeom prst="rect">
            <a:avLst/>
          </a:prstGeom>
          <a:solidFill>
            <a:srgbClr val="222222"/>
          </a:solidFill>
          <a:ln w="12700">
            <a:solidFill>
              <a:srgbClr val="333333"/>
            </a:solidFill>
            <a:prstDash val="solid"/>
          </a:ln>
        </p:spPr>
        <p:txBody>
          <a:bodyPr/>
          <a:lstStyle/>
          <a:p>
            <a:endParaRPr lang="es-ES"/>
          </a:p>
        </p:txBody>
      </p:sp>
      <p:sp>
        <p:nvSpPr>
          <p:cNvPr id="15" name="Text 12"/>
          <p:cNvSpPr/>
          <p:nvPr/>
        </p:nvSpPr>
        <p:spPr>
          <a:xfrm>
            <a:off x="3474720" y="163677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Audio</a:t>
            </a:r>
            <a:endParaRPr lang="en-US" sz="800" dirty="0"/>
          </a:p>
        </p:txBody>
      </p:sp>
      <p:sp>
        <p:nvSpPr>
          <p:cNvPr id="16" name="Text 13"/>
          <p:cNvSpPr/>
          <p:nvPr/>
        </p:nvSpPr>
        <p:spPr>
          <a:xfrm>
            <a:off x="4407408" y="163677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HD Voice · altavoz manos libres</a:t>
            </a:r>
            <a:endParaRPr lang="en-US" sz="800" dirty="0"/>
          </a:p>
        </p:txBody>
      </p:sp>
      <p:sp>
        <p:nvSpPr>
          <p:cNvPr id="17" name="Shape 14"/>
          <p:cNvSpPr/>
          <p:nvPr/>
        </p:nvSpPr>
        <p:spPr>
          <a:xfrm>
            <a:off x="3401568" y="1883664"/>
            <a:ext cx="2743200" cy="246888"/>
          </a:xfrm>
          <a:prstGeom prst="rect">
            <a:avLst/>
          </a:prstGeom>
          <a:solidFill>
            <a:srgbClr val="1E1E1E"/>
          </a:solidFill>
          <a:ln w="12700">
            <a:solidFill>
              <a:srgbClr val="333333"/>
            </a:solidFill>
            <a:prstDash val="solid"/>
          </a:ln>
        </p:spPr>
        <p:txBody>
          <a:bodyPr/>
          <a:lstStyle/>
          <a:p>
            <a:endParaRPr lang="es-ES"/>
          </a:p>
        </p:txBody>
      </p:sp>
      <p:sp>
        <p:nvSpPr>
          <p:cNvPr id="18" name="Text 15"/>
          <p:cNvSpPr/>
          <p:nvPr/>
        </p:nvSpPr>
        <p:spPr>
          <a:xfrm>
            <a:off x="3474720" y="191109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Micrófono</a:t>
            </a:r>
            <a:endParaRPr lang="en-US" sz="800" dirty="0"/>
          </a:p>
        </p:txBody>
      </p:sp>
      <p:sp>
        <p:nvSpPr>
          <p:cNvPr id="19" name="Text 16"/>
          <p:cNvSpPr/>
          <p:nvPr/>
        </p:nvSpPr>
        <p:spPr>
          <a:xfrm>
            <a:off x="4407408" y="191109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Cancelación de ruido</a:t>
            </a:r>
            <a:endParaRPr lang="en-US" sz="800" dirty="0"/>
          </a:p>
        </p:txBody>
      </p:sp>
      <p:sp>
        <p:nvSpPr>
          <p:cNvPr id="20" name="Shape 17"/>
          <p:cNvSpPr/>
          <p:nvPr/>
        </p:nvSpPr>
        <p:spPr>
          <a:xfrm>
            <a:off x="3401568" y="2157984"/>
            <a:ext cx="2743200" cy="246888"/>
          </a:xfrm>
          <a:prstGeom prst="rect">
            <a:avLst/>
          </a:prstGeom>
          <a:solidFill>
            <a:srgbClr val="222222"/>
          </a:solidFill>
          <a:ln w="12700">
            <a:solidFill>
              <a:srgbClr val="333333"/>
            </a:solidFill>
            <a:prstDash val="solid"/>
          </a:ln>
        </p:spPr>
        <p:txBody>
          <a:bodyPr/>
          <a:lstStyle/>
          <a:p>
            <a:endParaRPr lang="es-ES"/>
          </a:p>
        </p:txBody>
      </p:sp>
      <p:sp>
        <p:nvSpPr>
          <p:cNvPr id="21" name="Text 18"/>
          <p:cNvSpPr/>
          <p:nvPr/>
        </p:nvSpPr>
        <p:spPr>
          <a:xfrm>
            <a:off x="3474720" y="218541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Auricular</a:t>
            </a:r>
            <a:endParaRPr lang="en-US" sz="800" dirty="0"/>
          </a:p>
        </p:txBody>
      </p:sp>
      <p:sp>
        <p:nvSpPr>
          <p:cNvPr id="22" name="Text 19"/>
          <p:cNvSpPr/>
          <p:nvPr/>
        </p:nvSpPr>
        <p:spPr>
          <a:xfrm>
            <a:off x="4407408" y="218541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Salida 3,5mm</a:t>
            </a:r>
            <a:endParaRPr lang="en-US" sz="800" dirty="0"/>
          </a:p>
        </p:txBody>
      </p:sp>
      <p:sp>
        <p:nvSpPr>
          <p:cNvPr id="23" name="Shape 20"/>
          <p:cNvSpPr/>
          <p:nvPr/>
        </p:nvSpPr>
        <p:spPr>
          <a:xfrm>
            <a:off x="6281928" y="1005840"/>
            <a:ext cx="2743200" cy="292608"/>
          </a:xfrm>
          <a:prstGeom prst="rect">
            <a:avLst/>
          </a:prstGeom>
          <a:solidFill>
            <a:srgbClr val="45C241"/>
          </a:solidFill>
          <a:ln w="12700">
            <a:solidFill>
              <a:srgbClr val="45C241"/>
            </a:solidFill>
            <a:prstDash val="solid"/>
          </a:ln>
        </p:spPr>
        <p:txBody>
          <a:bodyPr/>
          <a:lstStyle/>
          <a:p>
            <a:endParaRPr lang="es-ES"/>
          </a:p>
        </p:txBody>
      </p:sp>
      <p:sp>
        <p:nvSpPr>
          <p:cNvPr id="24" name="Text 21"/>
          <p:cNvSpPr/>
          <p:nvPr/>
        </p:nvSpPr>
        <p:spPr>
          <a:xfrm>
            <a:off x="6373368" y="1005840"/>
            <a:ext cx="2651760" cy="29260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CONECTIVIDAD &amp; BATERÍA</a:t>
            </a:r>
            <a:endParaRPr lang="en-US" sz="900" dirty="0"/>
          </a:p>
        </p:txBody>
      </p:sp>
      <p:sp>
        <p:nvSpPr>
          <p:cNvPr id="25" name="Shape 22"/>
          <p:cNvSpPr/>
          <p:nvPr/>
        </p:nvSpPr>
        <p:spPr>
          <a:xfrm>
            <a:off x="6281928" y="1335024"/>
            <a:ext cx="2743200" cy="246888"/>
          </a:xfrm>
          <a:prstGeom prst="rect">
            <a:avLst/>
          </a:prstGeom>
          <a:solidFill>
            <a:srgbClr val="1E1E1E"/>
          </a:solidFill>
          <a:ln w="12700">
            <a:solidFill>
              <a:srgbClr val="333333"/>
            </a:solidFill>
            <a:prstDash val="solid"/>
          </a:ln>
        </p:spPr>
        <p:txBody>
          <a:bodyPr/>
          <a:lstStyle/>
          <a:p>
            <a:endParaRPr lang="es-ES"/>
          </a:p>
        </p:txBody>
      </p:sp>
      <p:sp>
        <p:nvSpPr>
          <p:cNvPr id="26" name="Text 23"/>
          <p:cNvSpPr/>
          <p:nvPr/>
        </p:nvSpPr>
        <p:spPr>
          <a:xfrm>
            <a:off x="6355080" y="136245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Estándar</a:t>
            </a:r>
            <a:endParaRPr lang="en-US" sz="800" dirty="0"/>
          </a:p>
        </p:txBody>
      </p:sp>
      <p:sp>
        <p:nvSpPr>
          <p:cNvPr id="27" name="Text 24"/>
          <p:cNvSpPr/>
          <p:nvPr/>
        </p:nvSpPr>
        <p:spPr>
          <a:xfrm>
            <a:off x="7287768" y="136245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DECT 6.0 inalámbrico</a:t>
            </a:r>
            <a:endParaRPr lang="en-US" sz="800" dirty="0"/>
          </a:p>
        </p:txBody>
      </p:sp>
      <p:sp>
        <p:nvSpPr>
          <p:cNvPr id="28" name="Shape 25"/>
          <p:cNvSpPr/>
          <p:nvPr/>
        </p:nvSpPr>
        <p:spPr>
          <a:xfrm>
            <a:off x="6281928" y="1609344"/>
            <a:ext cx="2743200" cy="246888"/>
          </a:xfrm>
          <a:prstGeom prst="rect">
            <a:avLst/>
          </a:prstGeom>
          <a:solidFill>
            <a:srgbClr val="222222"/>
          </a:solidFill>
          <a:ln w="12700">
            <a:solidFill>
              <a:srgbClr val="333333"/>
            </a:solidFill>
            <a:prstDash val="solid"/>
          </a:ln>
        </p:spPr>
        <p:txBody>
          <a:bodyPr/>
          <a:lstStyle/>
          <a:p>
            <a:endParaRPr lang="es-ES"/>
          </a:p>
        </p:txBody>
      </p:sp>
      <p:sp>
        <p:nvSpPr>
          <p:cNvPr id="29" name="Text 26"/>
          <p:cNvSpPr/>
          <p:nvPr/>
        </p:nvSpPr>
        <p:spPr>
          <a:xfrm>
            <a:off x="6355080" y="163677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Alcance</a:t>
            </a:r>
            <a:endParaRPr lang="en-US" sz="800" dirty="0"/>
          </a:p>
        </p:txBody>
      </p:sp>
      <p:sp>
        <p:nvSpPr>
          <p:cNvPr id="30" name="Text 27"/>
          <p:cNvSpPr/>
          <p:nvPr/>
        </p:nvSpPr>
        <p:spPr>
          <a:xfrm>
            <a:off x="7287768" y="163677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Hasta 300m en exteriores</a:t>
            </a:r>
            <a:endParaRPr lang="en-US" sz="800" dirty="0"/>
          </a:p>
        </p:txBody>
      </p:sp>
      <p:sp>
        <p:nvSpPr>
          <p:cNvPr id="31" name="Shape 28"/>
          <p:cNvSpPr/>
          <p:nvPr/>
        </p:nvSpPr>
        <p:spPr>
          <a:xfrm>
            <a:off x="6281928" y="1883664"/>
            <a:ext cx="2743200" cy="246888"/>
          </a:xfrm>
          <a:prstGeom prst="rect">
            <a:avLst/>
          </a:prstGeom>
          <a:solidFill>
            <a:srgbClr val="1E1E1E"/>
          </a:solidFill>
          <a:ln w="12700">
            <a:solidFill>
              <a:srgbClr val="333333"/>
            </a:solidFill>
            <a:prstDash val="solid"/>
          </a:ln>
        </p:spPr>
        <p:txBody>
          <a:bodyPr/>
          <a:lstStyle/>
          <a:p>
            <a:endParaRPr lang="es-ES"/>
          </a:p>
        </p:txBody>
      </p:sp>
      <p:sp>
        <p:nvSpPr>
          <p:cNvPr id="32" name="Text 29"/>
          <p:cNvSpPr/>
          <p:nvPr/>
        </p:nvSpPr>
        <p:spPr>
          <a:xfrm>
            <a:off x="6355080" y="191109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Batería</a:t>
            </a:r>
            <a:endParaRPr lang="en-US" sz="800" dirty="0"/>
          </a:p>
        </p:txBody>
      </p:sp>
      <p:sp>
        <p:nvSpPr>
          <p:cNvPr id="33" name="Text 30"/>
          <p:cNvSpPr/>
          <p:nvPr/>
        </p:nvSpPr>
        <p:spPr>
          <a:xfrm>
            <a:off x="7287768" y="191109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Hasta 30h en conversación</a:t>
            </a:r>
            <a:endParaRPr lang="en-US" sz="800" dirty="0"/>
          </a:p>
        </p:txBody>
      </p:sp>
      <p:sp>
        <p:nvSpPr>
          <p:cNvPr id="34" name="Shape 31"/>
          <p:cNvSpPr/>
          <p:nvPr/>
        </p:nvSpPr>
        <p:spPr>
          <a:xfrm>
            <a:off x="6281928" y="2157984"/>
            <a:ext cx="2743200" cy="246888"/>
          </a:xfrm>
          <a:prstGeom prst="rect">
            <a:avLst/>
          </a:prstGeom>
          <a:solidFill>
            <a:srgbClr val="222222"/>
          </a:solidFill>
          <a:ln w="12700">
            <a:solidFill>
              <a:srgbClr val="333333"/>
            </a:solidFill>
            <a:prstDash val="solid"/>
          </a:ln>
        </p:spPr>
        <p:txBody>
          <a:bodyPr/>
          <a:lstStyle/>
          <a:p>
            <a:endParaRPr lang="es-ES"/>
          </a:p>
        </p:txBody>
      </p:sp>
      <p:sp>
        <p:nvSpPr>
          <p:cNvPr id="35" name="Text 32"/>
          <p:cNvSpPr/>
          <p:nvPr/>
        </p:nvSpPr>
        <p:spPr>
          <a:xfrm>
            <a:off x="6355080" y="218541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Base</a:t>
            </a:r>
            <a:endParaRPr lang="en-US" sz="800" dirty="0"/>
          </a:p>
        </p:txBody>
      </p:sp>
      <p:sp>
        <p:nvSpPr>
          <p:cNvPr id="36" name="Text 33"/>
          <p:cNvSpPr/>
          <p:nvPr/>
        </p:nvSpPr>
        <p:spPr>
          <a:xfrm>
            <a:off x="7287768" y="218541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Cargador incluido</a:t>
            </a:r>
            <a:endParaRPr lang="en-US" sz="800" dirty="0"/>
          </a:p>
        </p:txBody>
      </p:sp>
      <p:sp>
        <p:nvSpPr>
          <p:cNvPr id="37" name="Shape 34"/>
          <p:cNvSpPr/>
          <p:nvPr/>
        </p:nvSpPr>
        <p:spPr>
          <a:xfrm>
            <a:off x="3401568" y="2468880"/>
            <a:ext cx="2743200" cy="292608"/>
          </a:xfrm>
          <a:prstGeom prst="rect">
            <a:avLst/>
          </a:prstGeom>
          <a:solidFill>
            <a:srgbClr val="45C241"/>
          </a:solidFill>
          <a:ln w="12700">
            <a:solidFill>
              <a:srgbClr val="45C241"/>
            </a:solidFill>
            <a:prstDash val="solid"/>
          </a:ln>
        </p:spPr>
        <p:txBody>
          <a:bodyPr/>
          <a:lstStyle/>
          <a:p>
            <a:endParaRPr lang="es-ES"/>
          </a:p>
        </p:txBody>
      </p:sp>
      <p:sp>
        <p:nvSpPr>
          <p:cNvPr id="38" name="Text 35"/>
          <p:cNvSpPr/>
          <p:nvPr/>
        </p:nvSpPr>
        <p:spPr>
          <a:xfrm>
            <a:off x="3493008" y="2468880"/>
            <a:ext cx="2651760" cy="29260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FUNCIONES CLAVE</a:t>
            </a:r>
            <a:endParaRPr lang="en-US" sz="900" dirty="0"/>
          </a:p>
        </p:txBody>
      </p:sp>
      <p:sp>
        <p:nvSpPr>
          <p:cNvPr id="39" name="Shape 36"/>
          <p:cNvSpPr/>
          <p:nvPr/>
        </p:nvSpPr>
        <p:spPr>
          <a:xfrm>
            <a:off x="3401568" y="2798064"/>
            <a:ext cx="2743200" cy="246888"/>
          </a:xfrm>
          <a:prstGeom prst="rect">
            <a:avLst/>
          </a:prstGeom>
          <a:solidFill>
            <a:srgbClr val="1E1E1E"/>
          </a:solidFill>
          <a:ln w="12700">
            <a:solidFill>
              <a:srgbClr val="333333"/>
            </a:solidFill>
            <a:prstDash val="solid"/>
          </a:ln>
        </p:spPr>
        <p:txBody>
          <a:bodyPr/>
          <a:lstStyle/>
          <a:p>
            <a:endParaRPr lang="es-ES"/>
          </a:p>
        </p:txBody>
      </p:sp>
      <p:sp>
        <p:nvSpPr>
          <p:cNvPr id="40" name="Text 37"/>
          <p:cNvSpPr/>
          <p:nvPr/>
        </p:nvSpPr>
        <p:spPr>
          <a:xfrm>
            <a:off x="3474720" y="282549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Transferencia</a:t>
            </a:r>
            <a:endParaRPr lang="en-US" sz="800" dirty="0"/>
          </a:p>
        </p:txBody>
      </p:sp>
      <p:sp>
        <p:nvSpPr>
          <p:cNvPr id="41" name="Text 38"/>
          <p:cNvSpPr/>
          <p:nvPr/>
        </p:nvSpPr>
        <p:spPr>
          <a:xfrm>
            <a:off x="4407408" y="282549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Directa y con consulta</a:t>
            </a:r>
            <a:endParaRPr lang="en-US" sz="800" dirty="0"/>
          </a:p>
        </p:txBody>
      </p:sp>
      <p:sp>
        <p:nvSpPr>
          <p:cNvPr id="42" name="Shape 39"/>
          <p:cNvSpPr/>
          <p:nvPr/>
        </p:nvSpPr>
        <p:spPr>
          <a:xfrm>
            <a:off x="3401568" y="3072384"/>
            <a:ext cx="2743200" cy="246888"/>
          </a:xfrm>
          <a:prstGeom prst="rect">
            <a:avLst/>
          </a:prstGeom>
          <a:solidFill>
            <a:srgbClr val="222222"/>
          </a:solidFill>
          <a:ln w="12700">
            <a:solidFill>
              <a:srgbClr val="333333"/>
            </a:solidFill>
            <a:prstDash val="solid"/>
          </a:ln>
        </p:spPr>
        <p:txBody>
          <a:bodyPr/>
          <a:lstStyle/>
          <a:p>
            <a:endParaRPr lang="es-ES"/>
          </a:p>
        </p:txBody>
      </p:sp>
      <p:sp>
        <p:nvSpPr>
          <p:cNvPr id="43" name="Text 40"/>
          <p:cNvSpPr/>
          <p:nvPr/>
        </p:nvSpPr>
        <p:spPr>
          <a:xfrm>
            <a:off x="3474720" y="309981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Conferencia</a:t>
            </a:r>
            <a:endParaRPr lang="en-US" sz="800" dirty="0"/>
          </a:p>
        </p:txBody>
      </p:sp>
      <p:sp>
        <p:nvSpPr>
          <p:cNvPr id="44" name="Text 41"/>
          <p:cNvSpPr/>
          <p:nvPr/>
        </p:nvSpPr>
        <p:spPr>
          <a:xfrm>
            <a:off x="4407408" y="309981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A tres interlocutores</a:t>
            </a:r>
            <a:endParaRPr lang="en-US" sz="800" dirty="0"/>
          </a:p>
        </p:txBody>
      </p:sp>
      <p:sp>
        <p:nvSpPr>
          <p:cNvPr id="45" name="Shape 42"/>
          <p:cNvSpPr/>
          <p:nvPr/>
        </p:nvSpPr>
        <p:spPr>
          <a:xfrm>
            <a:off x="3401568" y="3346704"/>
            <a:ext cx="2743200" cy="246888"/>
          </a:xfrm>
          <a:prstGeom prst="rect">
            <a:avLst/>
          </a:prstGeom>
          <a:solidFill>
            <a:srgbClr val="1E1E1E"/>
          </a:solidFill>
          <a:ln w="12700">
            <a:solidFill>
              <a:srgbClr val="333333"/>
            </a:solidFill>
            <a:prstDash val="solid"/>
          </a:ln>
        </p:spPr>
        <p:txBody>
          <a:bodyPr/>
          <a:lstStyle/>
          <a:p>
            <a:endParaRPr lang="es-ES"/>
          </a:p>
        </p:txBody>
      </p:sp>
      <p:sp>
        <p:nvSpPr>
          <p:cNvPr id="46" name="Text 43"/>
          <p:cNvSpPr/>
          <p:nvPr/>
        </p:nvSpPr>
        <p:spPr>
          <a:xfrm>
            <a:off x="3474720" y="337413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Desvío</a:t>
            </a:r>
            <a:endParaRPr lang="en-US" sz="800" dirty="0"/>
          </a:p>
        </p:txBody>
      </p:sp>
      <p:sp>
        <p:nvSpPr>
          <p:cNvPr id="47" name="Text 44"/>
          <p:cNvSpPr/>
          <p:nvPr/>
        </p:nvSpPr>
        <p:spPr>
          <a:xfrm>
            <a:off x="4407408" y="337413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Inmediato / ocupado / sin resp.</a:t>
            </a:r>
            <a:endParaRPr lang="en-US" sz="800" dirty="0"/>
          </a:p>
        </p:txBody>
      </p:sp>
      <p:sp>
        <p:nvSpPr>
          <p:cNvPr id="48" name="Shape 45"/>
          <p:cNvSpPr/>
          <p:nvPr/>
        </p:nvSpPr>
        <p:spPr>
          <a:xfrm>
            <a:off x="3401568" y="3621024"/>
            <a:ext cx="2743200" cy="246888"/>
          </a:xfrm>
          <a:prstGeom prst="rect">
            <a:avLst/>
          </a:prstGeom>
          <a:solidFill>
            <a:srgbClr val="222222"/>
          </a:solidFill>
          <a:ln w="12700">
            <a:solidFill>
              <a:srgbClr val="333333"/>
            </a:solidFill>
            <a:prstDash val="solid"/>
          </a:ln>
        </p:spPr>
        <p:txBody>
          <a:bodyPr/>
          <a:lstStyle/>
          <a:p>
            <a:endParaRPr lang="es-ES"/>
          </a:p>
        </p:txBody>
      </p:sp>
      <p:sp>
        <p:nvSpPr>
          <p:cNvPr id="49" name="Text 46"/>
          <p:cNvSpPr/>
          <p:nvPr/>
        </p:nvSpPr>
        <p:spPr>
          <a:xfrm>
            <a:off x="3474720" y="364845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Captura</a:t>
            </a:r>
            <a:endParaRPr lang="en-US" sz="800" dirty="0"/>
          </a:p>
        </p:txBody>
      </p:sp>
      <p:sp>
        <p:nvSpPr>
          <p:cNvPr id="50" name="Text 47"/>
          <p:cNvSpPr/>
          <p:nvPr/>
        </p:nvSpPr>
        <p:spPr>
          <a:xfrm>
            <a:off x="4407408" y="364845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*42 captura de grupo</a:t>
            </a:r>
            <a:endParaRPr lang="en-US" sz="800" dirty="0"/>
          </a:p>
        </p:txBody>
      </p:sp>
      <p:sp>
        <p:nvSpPr>
          <p:cNvPr id="51" name="Shape 48"/>
          <p:cNvSpPr/>
          <p:nvPr/>
        </p:nvSpPr>
        <p:spPr>
          <a:xfrm>
            <a:off x="6281928" y="2468880"/>
            <a:ext cx="2743200" cy="292608"/>
          </a:xfrm>
          <a:prstGeom prst="rect">
            <a:avLst/>
          </a:prstGeom>
          <a:solidFill>
            <a:srgbClr val="45C241"/>
          </a:solidFill>
          <a:ln w="12700">
            <a:solidFill>
              <a:srgbClr val="45C241"/>
            </a:solidFill>
            <a:prstDash val="solid"/>
          </a:ln>
        </p:spPr>
        <p:txBody>
          <a:bodyPr/>
          <a:lstStyle/>
          <a:p>
            <a:endParaRPr lang="es-ES"/>
          </a:p>
        </p:txBody>
      </p:sp>
      <p:sp>
        <p:nvSpPr>
          <p:cNvPr id="52" name="Text 49"/>
          <p:cNvSpPr/>
          <p:nvPr/>
        </p:nvSpPr>
        <p:spPr>
          <a:xfrm>
            <a:off x="6373368" y="2468880"/>
            <a:ext cx="2651760" cy="29260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TECLAS PRINCIPALES</a:t>
            </a:r>
            <a:endParaRPr lang="en-US" sz="900" dirty="0"/>
          </a:p>
        </p:txBody>
      </p:sp>
      <p:sp>
        <p:nvSpPr>
          <p:cNvPr id="53" name="Shape 50"/>
          <p:cNvSpPr/>
          <p:nvPr/>
        </p:nvSpPr>
        <p:spPr>
          <a:xfrm>
            <a:off x="6281928" y="2798064"/>
            <a:ext cx="2743200" cy="246888"/>
          </a:xfrm>
          <a:prstGeom prst="rect">
            <a:avLst/>
          </a:prstGeom>
          <a:solidFill>
            <a:srgbClr val="1E1E1E"/>
          </a:solidFill>
          <a:ln w="12700">
            <a:solidFill>
              <a:srgbClr val="333333"/>
            </a:solidFill>
            <a:prstDash val="solid"/>
          </a:ln>
        </p:spPr>
        <p:txBody>
          <a:bodyPr/>
          <a:lstStyle/>
          <a:p>
            <a:endParaRPr lang="es-ES"/>
          </a:p>
        </p:txBody>
      </p:sp>
      <p:sp>
        <p:nvSpPr>
          <p:cNvPr id="54" name="Text 51"/>
          <p:cNvSpPr/>
          <p:nvPr/>
        </p:nvSpPr>
        <p:spPr>
          <a:xfrm>
            <a:off x="6355080" y="282549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Manos libres</a:t>
            </a:r>
            <a:endParaRPr lang="en-US" sz="800" dirty="0"/>
          </a:p>
        </p:txBody>
      </p:sp>
      <p:sp>
        <p:nvSpPr>
          <p:cNvPr id="55" name="Text 52"/>
          <p:cNvSpPr/>
          <p:nvPr/>
        </p:nvSpPr>
        <p:spPr>
          <a:xfrm>
            <a:off x="7287768" y="282549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Altavoz dedicado</a:t>
            </a:r>
            <a:endParaRPr lang="en-US" sz="800" dirty="0"/>
          </a:p>
        </p:txBody>
      </p:sp>
      <p:sp>
        <p:nvSpPr>
          <p:cNvPr id="56" name="Shape 53"/>
          <p:cNvSpPr/>
          <p:nvPr/>
        </p:nvSpPr>
        <p:spPr>
          <a:xfrm>
            <a:off x="6281928" y="3072384"/>
            <a:ext cx="2743200" cy="246888"/>
          </a:xfrm>
          <a:prstGeom prst="rect">
            <a:avLst/>
          </a:prstGeom>
          <a:solidFill>
            <a:srgbClr val="222222"/>
          </a:solidFill>
          <a:ln w="12700">
            <a:solidFill>
              <a:srgbClr val="333333"/>
            </a:solidFill>
            <a:prstDash val="solid"/>
          </a:ln>
        </p:spPr>
        <p:txBody>
          <a:bodyPr/>
          <a:lstStyle/>
          <a:p>
            <a:endParaRPr lang="es-ES"/>
          </a:p>
        </p:txBody>
      </p:sp>
      <p:sp>
        <p:nvSpPr>
          <p:cNvPr id="57" name="Text 54"/>
          <p:cNvSpPr/>
          <p:nvPr/>
        </p:nvSpPr>
        <p:spPr>
          <a:xfrm>
            <a:off x="6355080" y="309981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Mute</a:t>
            </a:r>
            <a:endParaRPr lang="en-US" sz="800" dirty="0"/>
          </a:p>
        </p:txBody>
      </p:sp>
      <p:sp>
        <p:nvSpPr>
          <p:cNvPr id="58" name="Text 55"/>
          <p:cNvSpPr/>
          <p:nvPr/>
        </p:nvSpPr>
        <p:spPr>
          <a:xfrm>
            <a:off x="7287768" y="309981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Silencio de micrófono</a:t>
            </a:r>
            <a:endParaRPr lang="en-US" sz="800" dirty="0"/>
          </a:p>
        </p:txBody>
      </p:sp>
      <p:sp>
        <p:nvSpPr>
          <p:cNvPr id="59" name="Shape 56"/>
          <p:cNvSpPr/>
          <p:nvPr/>
        </p:nvSpPr>
        <p:spPr>
          <a:xfrm>
            <a:off x="6281928" y="3346704"/>
            <a:ext cx="2743200" cy="246888"/>
          </a:xfrm>
          <a:prstGeom prst="rect">
            <a:avLst/>
          </a:prstGeom>
          <a:solidFill>
            <a:srgbClr val="1E1E1E"/>
          </a:solidFill>
          <a:ln w="12700">
            <a:solidFill>
              <a:srgbClr val="333333"/>
            </a:solidFill>
            <a:prstDash val="solid"/>
          </a:ln>
        </p:spPr>
        <p:txBody>
          <a:bodyPr/>
          <a:lstStyle/>
          <a:p>
            <a:endParaRPr lang="es-ES"/>
          </a:p>
        </p:txBody>
      </p:sp>
      <p:sp>
        <p:nvSpPr>
          <p:cNvPr id="60" name="Text 57"/>
          <p:cNvSpPr/>
          <p:nvPr/>
        </p:nvSpPr>
        <p:spPr>
          <a:xfrm>
            <a:off x="6355080" y="337413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TRAN</a:t>
            </a:r>
            <a:endParaRPr lang="en-US" sz="800" dirty="0"/>
          </a:p>
        </p:txBody>
      </p:sp>
      <p:sp>
        <p:nvSpPr>
          <p:cNvPr id="61" name="Text 58"/>
          <p:cNvSpPr/>
          <p:nvPr/>
        </p:nvSpPr>
        <p:spPr>
          <a:xfrm>
            <a:off x="7287768" y="337413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Transferencia directa</a:t>
            </a:r>
            <a:endParaRPr lang="en-US" sz="800" dirty="0"/>
          </a:p>
        </p:txBody>
      </p:sp>
      <p:sp>
        <p:nvSpPr>
          <p:cNvPr id="62" name="Shape 59"/>
          <p:cNvSpPr/>
          <p:nvPr/>
        </p:nvSpPr>
        <p:spPr>
          <a:xfrm>
            <a:off x="6281928" y="3621024"/>
            <a:ext cx="2743200" cy="246888"/>
          </a:xfrm>
          <a:prstGeom prst="rect">
            <a:avLst/>
          </a:prstGeom>
          <a:solidFill>
            <a:srgbClr val="222222"/>
          </a:solidFill>
          <a:ln w="12700">
            <a:solidFill>
              <a:srgbClr val="333333"/>
            </a:solidFill>
            <a:prstDash val="solid"/>
          </a:ln>
        </p:spPr>
        <p:txBody>
          <a:bodyPr/>
          <a:lstStyle/>
          <a:p>
            <a:endParaRPr lang="es-ES"/>
          </a:p>
        </p:txBody>
      </p:sp>
      <p:sp>
        <p:nvSpPr>
          <p:cNvPr id="63" name="Text 60"/>
          <p:cNvSpPr/>
          <p:nvPr/>
        </p:nvSpPr>
        <p:spPr>
          <a:xfrm>
            <a:off x="6355080" y="3648456"/>
            <a:ext cx="914400" cy="192024"/>
          </a:xfrm>
          <a:prstGeom prst="rect">
            <a:avLst/>
          </a:prstGeom>
          <a:noFill/>
          <a:ln/>
        </p:spPr>
        <p:txBody>
          <a:bodyPr wrap="square" lIns="0" tIns="0" rIns="0" bIns="0" rtlCol="0" anchor="ctr"/>
          <a:lstStyle/>
          <a:p>
            <a:pPr marL="0" indent="0">
              <a:buNone/>
            </a:pPr>
            <a:r>
              <a:rPr lang="en-US" sz="800" b="1" dirty="0">
                <a:solidFill>
                  <a:srgbClr val="45C241"/>
                </a:solidFill>
                <a:latin typeface="Calibri" pitchFamily="34" charset="0"/>
                <a:ea typeface="Calibri" pitchFamily="34" charset="-122"/>
                <a:cs typeface="Calibri" pitchFamily="34" charset="-120"/>
              </a:rPr>
              <a:t>Agenda</a:t>
            </a:r>
            <a:endParaRPr lang="en-US" sz="800" dirty="0"/>
          </a:p>
        </p:txBody>
      </p:sp>
      <p:sp>
        <p:nvSpPr>
          <p:cNvPr id="64" name="Text 61"/>
          <p:cNvSpPr/>
          <p:nvPr/>
        </p:nvSpPr>
        <p:spPr>
          <a:xfrm>
            <a:off x="7287768" y="3648456"/>
            <a:ext cx="1691640" cy="192024"/>
          </a:xfrm>
          <a:prstGeom prst="rect">
            <a:avLst/>
          </a:prstGeom>
          <a:noFill/>
          <a:ln/>
        </p:spPr>
        <p:txBody>
          <a:bodyPr wrap="square" lIns="0" tIns="0" rIns="0" bIns="0" rtlCol="0" anchor="ctr"/>
          <a:lstStyle/>
          <a:p>
            <a:pPr marL="0" indent="0">
              <a:buNone/>
            </a:pPr>
            <a:r>
              <a:rPr lang="en-US" sz="800" dirty="0">
                <a:solidFill>
                  <a:srgbClr val="AAAAAA"/>
                </a:solidFill>
                <a:latin typeface="Calibri" pitchFamily="34" charset="0"/>
                <a:ea typeface="Calibri" pitchFamily="34" charset="-122"/>
                <a:cs typeface="Calibri" pitchFamily="34" charset="-120"/>
              </a:rPr>
              <a:t>Local y remota corporativa</a:t>
            </a:r>
            <a:endParaRPr lang="en-US" sz="800" dirty="0"/>
          </a:p>
        </p:txBody>
      </p:sp>
      <p:sp>
        <p:nvSpPr>
          <p:cNvPr id="65" name="Shape 62"/>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66" name="Text 63"/>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SERVICIOS DE VOZ IP — LYNKSIP · INCLUIDOS EN AMBAS OPCIONES</a:t>
            </a:r>
            <a:endParaRPr lang="en-US" sz="1700" dirty="0"/>
          </a:p>
        </p:txBody>
      </p:sp>
      <p:sp>
        <p:nvSpPr>
          <p:cNvPr id="5" name="Text 3"/>
          <p:cNvSpPr/>
          <p:nvPr/>
        </p:nvSpPr>
        <p:spPr>
          <a:xfrm>
            <a:off x="320040" y="658368"/>
            <a:ext cx="8503920" cy="329184"/>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Infraestructura de comunicaciones cloud completa para las 55 sedes de Diaverum Servicios Renales SL</a:t>
            </a:r>
            <a:endParaRPr lang="en-US" sz="1050" dirty="0"/>
          </a:p>
        </p:txBody>
      </p:sp>
      <p:sp>
        <p:nvSpPr>
          <p:cNvPr id="6" name="Shape 4"/>
          <p:cNvSpPr/>
          <p:nvPr/>
        </p:nvSpPr>
        <p:spPr>
          <a:xfrm>
            <a:off x="228600" y="1115568"/>
            <a:ext cx="4315968" cy="102412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28600" y="1115568"/>
            <a:ext cx="64008" cy="1024128"/>
          </a:xfrm>
          <a:prstGeom prst="rect">
            <a:avLst/>
          </a:prstGeom>
          <a:solidFill>
            <a:srgbClr val="45C241"/>
          </a:solidFill>
          <a:ln w="12700">
            <a:solidFill>
              <a:srgbClr val="45C241"/>
            </a:solidFill>
            <a:prstDash val="solid"/>
          </a:ln>
        </p:spPr>
        <p:txBody>
          <a:bodyPr/>
          <a:lstStyle/>
          <a:p>
            <a:endParaRPr lang="es-ES"/>
          </a:p>
        </p:txBody>
      </p:sp>
      <p:sp>
        <p:nvSpPr>
          <p:cNvPr id="8" name="Shape 6"/>
          <p:cNvSpPr/>
          <p:nvPr/>
        </p:nvSpPr>
        <p:spPr>
          <a:xfrm>
            <a:off x="393192" y="1207008"/>
            <a:ext cx="502920" cy="502920"/>
          </a:xfrm>
          <a:prstGeom prst="rect">
            <a:avLst/>
          </a:prstGeom>
          <a:solidFill>
            <a:srgbClr val="1A1A1A"/>
          </a:solidFill>
          <a:ln w="12700">
            <a:solidFill>
              <a:srgbClr val="1A1A1A"/>
            </a:solidFill>
            <a:prstDash val="solid"/>
          </a:ln>
        </p:spPr>
        <p:txBody>
          <a:bodyPr/>
          <a:lstStyle/>
          <a:p>
            <a:endParaRPr lang="es-ES"/>
          </a:p>
        </p:txBody>
      </p:sp>
      <p:sp>
        <p:nvSpPr>
          <p:cNvPr id="9" name="Text 7"/>
          <p:cNvSpPr/>
          <p:nvPr/>
        </p:nvSpPr>
        <p:spPr>
          <a:xfrm>
            <a:off x="393192" y="1207008"/>
            <a:ext cx="502920" cy="502920"/>
          </a:xfrm>
          <a:prstGeom prst="rect">
            <a:avLst/>
          </a:prstGeom>
          <a:noFill/>
          <a:ln/>
        </p:spPr>
        <p:txBody>
          <a:bodyPr wrap="square" lIns="0" tIns="0" rIns="0" bIns="0" rtlCol="0" anchor="ctr"/>
          <a:lstStyle/>
          <a:p>
            <a:pPr marL="0" indent="0" algn="ctr">
              <a:buNone/>
            </a:pPr>
            <a:r>
              <a:rPr lang="en-US" sz="950" b="1" dirty="0">
                <a:solidFill>
                  <a:srgbClr val="45C241"/>
                </a:solidFill>
                <a:latin typeface="Calibri" pitchFamily="34" charset="0"/>
                <a:ea typeface="Calibri" pitchFamily="34" charset="-122"/>
                <a:cs typeface="Calibri" pitchFamily="34" charset="-120"/>
              </a:rPr>
              <a:t>165</a:t>
            </a:r>
            <a:endParaRPr lang="en-US" sz="950" dirty="0"/>
          </a:p>
        </p:txBody>
      </p:sp>
      <p:sp>
        <p:nvSpPr>
          <p:cNvPr id="10" name="Text 8"/>
          <p:cNvSpPr/>
          <p:nvPr/>
        </p:nvSpPr>
        <p:spPr>
          <a:xfrm>
            <a:off x="1005840" y="1188720"/>
            <a:ext cx="2651760" cy="32004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Extensiones de Voz IP</a:t>
            </a:r>
            <a:endParaRPr lang="en-US" sz="1150" dirty="0"/>
          </a:p>
        </p:txBody>
      </p:sp>
      <p:sp>
        <p:nvSpPr>
          <p:cNvPr id="11" name="Text 9"/>
          <p:cNvSpPr/>
          <p:nvPr/>
        </p:nvSpPr>
        <p:spPr>
          <a:xfrm>
            <a:off x="1005840" y="1536192"/>
            <a:ext cx="2651760" cy="5029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Una extensión por puesto. Gestión unificada de todas las clínicas desde panel web.</a:t>
            </a:r>
            <a:endParaRPr lang="en-US" sz="950" dirty="0"/>
          </a:p>
        </p:txBody>
      </p:sp>
      <p:sp>
        <p:nvSpPr>
          <p:cNvPr id="12" name="Shape 10"/>
          <p:cNvSpPr/>
          <p:nvPr/>
        </p:nvSpPr>
        <p:spPr>
          <a:xfrm>
            <a:off x="3246120" y="1463040"/>
            <a:ext cx="1234440" cy="347472"/>
          </a:xfrm>
          <a:prstGeom prst="rect">
            <a:avLst/>
          </a:prstGeom>
          <a:solidFill>
            <a:srgbClr val="E8F8E7"/>
          </a:solidFill>
          <a:ln w="12700">
            <a:solidFill>
              <a:srgbClr val="E8F8E7"/>
            </a:solidFill>
            <a:prstDash val="solid"/>
          </a:ln>
        </p:spPr>
        <p:txBody>
          <a:bodyPr/>
          <a:lstStyle/>
          <a:p>
            <a:endParaRPr lang="es-ES"/>
          </a:p>
        </p:txBody>
      </p:sp>
      <p:sp>
        <p:nvSpPr>
          <p:cNvPr id="13" name="Text 11"/>
          <p:cNvSpPr/>
          <p:nvPr/>
        </p:nvSpPr>
        <p:spPr>
          <a:xfrm>
            <a:off x="3246120" y="1463040"/>
            <a:ext cx="1234440" cy="347472"/>
          </a:xfrm>
          <a:prstGeom prst="rect">
            <a:avLst/>
          </a:prstGeom>
          <a:noFill/>
          <a:ln/>
        </p:spPr>
        <p:txBody>
          <a:bodyPr wrap="square" lIns="0" tIns="0" rIns="0" bIns="0" rtlCol="0" anchor="ctr"/>
          <a:lstStyle/>
          <a:p>
            <a:pPr marL="0" indent="0" algn="ctr">
              <a:buNone/>
            </a:pPr>
            <a:r>
              <a:rPr lang="en-US" sz="1100" b="1" dirty="0">
                <a:solidFill>
                  <a:srgbClr val="38A834"/>
                </a:solidFill>
                <a:latin typeface="Calibri" pitchFamily="34" charset="0"/>
                <a:ea typeface="Calibri" pitchFamily="34" charset="-122"/>
                <a:cs typeface="Calibri" pitchFamily="34" charset="-120"/>
              </a:rPr>
              <a:t>Incluido</a:t>
            </a:r>
            <a:endParaRPr lang="en-US" sz="1100" dirty="0"/>
          </a:p>
        </p:txBody>
      </p:sp>
      <p:sp>
        <p:nvSpPr>
          <p:cNvPr id="14" name="Shape 12"/>
          <p:cNvSpPr/>
          <p:nvPr/>
        </p:nvSpPr>
        <p:spPr>
          <a:xfrm>
            <a:off x="4681728" y="1115568"/>
            <a:ext cx="4315968" cy="102412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15" name="Shape 13"/>
          <p:cNvSpPr/>
          <p:nvPr/>
        </p:nvSpPr>
        <p:spPr>
          <a:xfrm>
            <a:off x="4681728" y="1115568"/>
            <a:ext cx="64008" cy="1024128"/>
          </a:xfrm>
          <a:prstGeom prst="rect">
            <a:avLst/>
          </a:prstGeom>
          <a:solidFill>
            <a:srgbClr val="45C241"/>
          </a:solidFill>
          <a:ln w="12700">
            <a:solidFill>
              <a:srgbClr val="45C241"/>
            </a:solidFill>
            <a:prstDash val="solid"/>
          </a:ln>
        </p:spPr>
        <p:txBody>
          <a:bodyPr/>
          <a:lstStyle/>
          <a:p>
            <a:endParaRPr lang="es-ES"/>
          </a:p>
        </p:txBody>
      </p:sp>
      <p:sp>
        <p:nvSpPr>
          <p:cNvPr id="16" name="Shape 14"/>
          <p:cNvSpPr/>
          <p:nvPr/>
        </p:nvSpPr>
        <p:spPr>
          <a:xfrm>
            <a:off x="4846320" y="1207008"/>
            <a:ext cx="502920" cy="502920"/>
          </a:xfrm>
          <a:prstGeom prst="rect">
            <a:avLst/>
          </a:prstGeom>
          <a:solidFill>
            <a:srgbClr val="1A1A1A"/>
          </a:solidFill>
          <a:ln w="12700">
            <a:solidFill>
              <a:srgbClr val="1A1A1A"/>
            </a:solidFill>
            <a:prstDash val="solid"/>
          </a:ln>
        </p:spPr>
        <p:txBody>
          <a:bodyPr/>
          <a:lstStyle/>
          <a:p>
            <a:endParaRPr lang="es-ES"/>
          </a:p>
        </p:txBody>
      </p:sp>
      <p:sp>
        <p:nvSpPr>
          <p:cNvPr id="17" name="Text 15"/>
          <p:cNvSpPr/>
          <p:nvPr/>
        </p:nvSpPr>
        <p:spPr>
          <a:xfrm>
            <a:off x="4846320" y="1207008"/>
            <a:ext cx="502920" cy="502920"/>
          </a:xfrm>
          <a:prstGeom prst="rect">
            <a:avLst/>
          </a:prstGeom>
          <a:noFill/>
          <a:ln/>
        </p:spPr>
        <p:txBody>
          <a:bodyPr wrap="square" lIns="0" tIns="0" rIns="0" bIns="0" rtlCol="0" anchor="ctr"/>
          <a:lstStyle/>
          <a:p>
            <a:pPr marL="0" indent="0" algn="ctr">
              <a:buNone/>
            </a:pPr>
            <a:r>
              <a:rPr lang="en-US" sz="950" b="1" dirty="0">
                <a:solidFill>
                  <a:srgbClr val="45C241"/>
                </a:solidFill>
                <a:latin typeface="Calibri" pitchFamily="34" charset="0"/>
                <a:ea typeface="Calibri" pitchFamily="34" charset="-122"/>
                <a:cs typeface="Calibri" pitchFamily="34" charset="-120"/>
              </a:rPr>
              <a:t>165</a:t>
            </a:r>
            <a:endParaRPr lang="en-US" sz="950" dirty="0"/>
          </a:p>
        </p:txBody>
      </p:sp>
      <p:sp>
        <p:nvSpPr>
          <p:cNvPr id="18" name="Text 16"/>
          <p:cNvSpPr/>
          <p:nvPr/>
        </p:nvSpPr>
        <p:spPr>
          <a:xfrm>
            <a:off x="5458968" y="1188720"/>
            <a:ext cx="2651760" cy="32004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Canales simultáneos de comunicación</a:t>
            </a:r>
            <a:endParaRPr lang="en-US" sz="1150" dirty="0"/>
          </a:p>
        </p:txBody>
      </p:sp>
      <p:sp>
        <p:nvSpPr>
          <p:cNvPr id="19" name="Text 17"/>
          <p:cNvSpPr/>
          <p:nvPr/>
        </p:nvSpPr>
        <p:spPr>
          <a:xfrm>
            <a:off x="5458968" y="1536192"/>
            <a:ext cx="2651760" cy="5029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Capacidad para 165 llamadas simultáneas en toda la organización sin restricciones.</a:t>
            </a:r>
            <a:endParaRPr lang="en-US" sz="950" dirty="0"/>
          </a:p>
        </p:txBody>
      </p:sp>
      <p:sp>
        <p:nvSpPr>
          <p:cNvPr id="20" name="Shape 18"/>
          <p:cNvSpPr/>
          <p:nvPr/>
        </p:nvSpPr>
        <p:spPr>
          <a:xfrm>
            <a:off x="7699248" y="1463040"/>
            <a:ext cx="1234440" cy="347472"/>
          </a:xfrm>
          <a:prstGeom prst="rect">
            <a:avLst/>
          </a:prstGeom>
          <a:solidFill>
            <a:srgbClr val="E8F8E7"/>
          </a:solidFill>
          <a:ln w="12700">
            <a:solidFill>
              <a:srgbClr val="E8F8E7"/>
            </a:solidFill>
            <a:prstDash val="solid"/>
          </a:ln>
        </p:spPr>
        <p:txBody>
          <a:bodyPr/>
          <a:lstStyle/>
          <a:p>
            <a:endParaRPr lang="es-ES"/>
          </a:p>
        </p:txBody>
      </p:sp>
      <p:sp>
        <p:nvSpPr>
          <p:cNvPr id="21" name="Text 19"/>
          <p:cNvSpPr/>
          <p:nvPr/>
        </p:nvSpPr>
        <p:spPr>
          <a:xfrm>
            <a:off x="7699248" y="1463040"/>
            <a:ext cx="1234440" cy="347472"/>
          </a:xfrm>
          <a:prstGeom prst="rect">
            <a:avLst/>
          </a:prstGeom>
          <a:noFill/>
          <a:ln/>
        </p:spPr>
        <p:txBody>
          <a:bodyPr wrap="square" lIns="0" tIns="0" rIns="0" bIns="0" rtlCol="0" anchor="ctr"/>
          <a:lstStyle/>
          <a:p>
            <a:pPr marL="0" indent="0" algn="ctr">
              <a:buNone/>
            </a:pPr>
            <a:r>
              <a:rPr lang="en-US" sz="1100" b="1" dirty="0">
                <a:solidFill>
                  <a:srgbClr val="38A834"/>
                </a:solidFill>
                <a:latin typeface="Calibri" pitchFamily="34" charset="0"/>
                <a:ea typeface="Calibri" pitchFamily="34" charset="-122"/>
                <a:cs typeface="Calibri" pitchFamily="34" charset="-120"/>
              </a:rPr>
              <a:t>Incluido</a:t>
            </a:r>
            <a:endParaRPr lang="en-US" sz="1100" dirty="0"/>
          </a:p>
        </p:txBody>
      </p:sp>
      <p:sp>
        <p:nvSpPr>
          <p:cNvPr id="22" name="Shape 20"/>
          <p:cNvSpPr/>
          <p:nvPr/>
        </p:nvSpPr>
        <p:spPr>
          <a:xfrm>
            <a:off x="228600" y="2304288"/>
            <a:ext cx="4315968" cy="102412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3" name="Shape 21"/>
          <p:cNvSpPr/>
          <p:nvPr/>
        </p:nvSpPr>
        <p:spPr>
          <a:xfrm>
            <a:off x="228600" y="2304288"/>
            <a:ext cx="64008" cy="1024128"/>
          </a:xfrm>
          <a:prstGeom prst="rect">
            <a:avLst/>
          </a:prstGeom>
          <a:solidFill>
            <a:srgbClr val="45C241"/>
          </a:solidFill>
          <a:ln w="12700">
            <a:solidFill>
              <a:srgbClr val="45C241"/>
            </a:solidFill>
            <a:prstDash val="solid"/>
          </a:ln>
        </p:spPr>
        <p:txBody>
          <a:bodyPr/>
          <a:lstStyle/>
          <a:p>
            <a:endParaRPr lang="es-ES"/>
          </a:p>
        </p:txBody>
      </p:sp>
      <p:sp>
        <p:nvSpPr>
          <p:cNvPr id="24" name="Shape 22"/>
          <p:cNvSpPr/>
          <p:nvPr/>
        </p:nvSpPr>
        <p:spPr>
          <a:xfrm>
            <a:off x="393192" y="2395728"/>
            <a:ext cx="502920" cy="502920"/>
          </a:xfrm>
          <a:prstGeom prst="rect">
            <a:avLst/>
          </a:prstGeom>
          <a:solidFill>
            <a:srgbClr val="1A1A1A"/>
          </a:solidFill>
          <a:ln w="12700">
            <a:solidFill>
              <a:srgbClr val="1A1A1A"/>
            </a:solidFill>
            <a:prstDash val="solid"/>
          </a:ln>
        </p:spPr>
        <p:txBody>
          <a:bodyPr/>
          <a:lstStyle/>
          <a:p>
            <a:endParaRPr lang="es-ES"/>
          </a:p>
        </p:txBody>
      </p:sp>
      <p:sp>
        <p:nvSpPr>
          <p:cNvPr id="25" name="Text 23"/>
          <p:cNvSpPr/>
          <p:nvPr/>
        </p:nvSpPr>
        <p:spPr>
          <a:xfrm>
            <a:off x="393192" y="2395728"/>
            <a:ext cx="502920" cy="502920"/>
          </a:xfrm>
          <a:prstGeom prst="rect">
            <a:avLst/>
          </a:prstGeom>
          <a:noFill/>
          <a:ln/>
        </p:spPr>
        <p:txBody>
          <a:bodyPr wrap="square" lIns="0" tIns="0" rIns="0" bIns="0" rtlCol="0" anchor="ctr"/>
          <a:lstStyle/>
          <a:p>
            <a:pPr marL="0" indent="0" algn="ctr">
              <a:buNone/>
            </a:pPr>
            <a:r>
              <a:rPr lang="en-US" sz="950" b="1" dirty="0">
                <a:solidFill>
                  <a:srgbClr val="45C241"/>
                </a:solidFill>
                <a:latin typeface="Calibri" pitchFamily="34" charset="0"/>
                <a:ea typeface="Calibri" pitchFamily="34" charset="-122"/>
                <a:cs typeface="Calibri" pitchFamily="34" charset="-120"/>
              </a:rPr>
              <a:t>55</a:t>
            </a:r>
            <a:endParaRPr lang="en-US" sz="950" dirty="0"/>
          </a:p>
        </p:txBody>
      </p:sp>
      <p:sp>
        <p:nvSpPr>
          <p:cNvPr id="26" name="Text 24"/>
          <p:cNvSpPr/>
          <p:nvPr/>
        </p:nvSpPr>
        <p:spPr>
          <a:xfrm>
            <a:off x="1005840" y="2377440"/>
            <a:ext cx="2651760" cy="32004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DDI — Número directo por sede</a:t>
            </a:r>
            <a:endParaRPr lang="en-US" sz="1150" dirty="0"/>
          </a:p>
        </p:txBody>
      </p:sp>
      <p:sp>
        <p:nvSpPr>
          <p:cNvPr id="27" name="Text 25"/>
          <p:cNvSpPr/>
          <p:nvPr/>
        </p:nvSpPr>
        <p:spPr>
          <a:xfrm>
            <a:off x="1005840" y="2724912"/>
            <a:ext cx="2651760" cy="5029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1 número directo por sede · 1,50€/DDI/mes · enrutamiento personalizable.</a:t>
            </a:r>
            <a:endParaRPr lang="en-US" sz="950" dirty="0"/>
          </a:p>
        </p:txBody>
      </p:sp>
      <p:sp>
        <p:nvSpPr>
          <p:cNvPr id="28" name="Shape 26"/>
          <p:cNvSpPr/>
          <p:nvPr/>
        </p:nvSpPr>
        <p:spPr>
          <a:xfrm>
            <a:off x="3246120" y="2651760"/>
            <a:ext cx="1234440" cy="347472"/>
          </a:xfrm>
          <a:prstGeom prst="rect">
            <a:avLst/>
          </a:prstGeom>
          <a:solidFill>
            <a:srgbClr val="EEF2FF"/>
          </a:solidFill>
          <a:ln w="12700">
            <a:solidFill>
              <a:srgbClr val="EEF2FF"/>
            </a:solidFill>
            <a:prstDash val="solid"/>
          </a:ln>
        </p:spPr>
        <p:txBody>
          <a:bodyPr/>
          <a:lstStyle/>
          <a:p>
            <a:endParaRPr lang="es-ES"/>
          </a:p>
        </p:txBody>
      </p:sp>
      <p:sp>
        <p:nvSpPr>
          <p:cNvPr id="29" name="Text 27"/>
          <p:cNvSpPr/>
          <p:nvPr/>
        </p:nvSpPr>
        <p:spPr>
          <a:xfrm>
            <a:off x="3246120" y="2651760"/>
            <a:ext cx="1234440" cy="347472"/>
          </a:xfrm>
          <a:prstGeom prst="rect">
            <a:avLst/>
          </a:prstGeom>
          <a:noFill/>
          <a:ln/>
        </p:spPr>
        <p:txBody>
          <a:bodyPr wrap="square" lIns="0" tIns="0" rIns="0" bIns="0" rtlCol="0" anchor="ctr"/>
          <a:lstStyle/>
          <a:p>
            <a:pPr marL="0" indent="0" algn="ctr">
              <a:buNone/>
            </a:pPr>
            <a:r>
              <a:rPr lang="en-US" sz="850" b="1" dirty="0">
                <a:solidFill>
                  <a:srgbClr val="0F2D5E"/>
                </a:solidFill>
                <a:latin typeface="Calibri" pitchFamily="34" charset="0"/>
                <a:ea typeface="Calibri" pitchFamily="34" charset="-122"/>
                <a:cs typeface="Calibri" pitchFamily="34" charset="-120"/>
              </a:rPr>
              <a:t>82,50€/mes</a:t>
            </a:r>
            <a:endParaRPr lang="en-US" sz="850" dirty="0"/>
          </a:p>
        </p:txBody>
      </p:sp>
      <p:sp>
        <p:nvSpPr>
          <p:cNvPr id="30" name="Shape 28"/>
          <p:cNvSpPr/>
          <p:nvPr/>
        </p:nvSpPr>
        <p:spPr>
          <a:xfrm>
            <a:off x="4681728" y="2304288"/>
            <a:ext cx="4315968" cy="102412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1" name="Shape 29"/>
          <p:cNvSpPr/>
          <p:nvPr/>
        </p:nvSpPr>
        <p:spPr>
          <a:xfrm>
            <a:off x="4681728" y="2304288"/>
            <a:ext cx="64008" cy="1024128"/>
          </a:xfrm>
          <a:prstGeom prst="rect">
            <a:avLst/>
          </a:prstGeom>
          <a:solidFill>
            <a:srgbClr val="45C241"/>
          </a:solidFill>
          <a:ln w="12700">
            <a:solidFill>
              <a:srgbClr val="45C241"/>
            </a:solidFill>
            <a:prstDash val="solid"/>
          </a:ln>
        </p:spPr>
        <p:txBody>
          <a:bodyPr/>
          <a:lstStyle/>
          <a:p>
            <a:endParaRPr lang="es-ES"/>
          </a:p>
        </p:txBody>
      </p:sp>
      <p:sp>
        <p:nvSpPr>
          <p:cNvPr id="32" name="Shape 30"/>
          <p:cNvSpPr/>
          <p:nvPr/>
        </p:nvSpPr>
        <p:spPr>
          <a:xfrm>
            <a:off x="4846320" y="2395728"/>
            <a:ext cx="502920" cy="502920"/>
          </a:xfrm>
          <a:prstGeom prst="rect">
            <a:avLst/>
          </a:prstGeom>
          <a:solidFill>
            <a:srgbClr val="1A1A1A"/>
          </a:solidFill>
          <a:ln w="12700">
            <a:solidFill>
              <a:srgbClr val="1A1A1A"/>
            </a:solidFill>
            <a:prstDash val="solid"/>
          </a:ln>
        </p:spPr>
        <p:txBody>
          <a:bodyPr/>
          <a:lstStyle/>
          <a:p>
            <a:endParaRPr lang="es-ES"/>
          </a:p>
        </p:txBody>
      </p:sp>
      <p:sp>
        <p:nvSpPr>
          <p:cNvPr id="33" name="Text 31"/>
          <p:cNvSpPr/>
          <p:nvPr/>
        </p:nvSpPr>
        <p:spPr>
          <a:xfrm>
            <a:off x="4846320" y="2395728"/>
            <a:ext cx="502920" cy="502920"/>
          </a:xfrm>
          <a:prstGeom prst="rect">
            <a:avLst/>
          </a:prstGeom>
          <a:noFill/>
          <a:ln/>
        </p:spPr>
        <p:txBody>
          <a:bodyPr wrap="square" lIns="0" tIns="0" rIns="0" bIns="0" rtlCol="0" anchor="ctr"/>
          <a:lstStyle/>
          <a:p>
            <a:pPr marL="0" indent="0" algn="ctr">
              <a:buNone/>
            </a:pPr>
            <a:r>
              <a:rPr lang="en-US" sz="950" b="1" dirty="0">
                <a:solidFill>
                  <a:srgbClr val="45C241"/>
                </a:solidFill>
                <a:latin typeface="Calibri" pitchFamily="34" charset="0"/>
                <a:ea typeface="Calibri" pitchFamily="34" charset="-122"/>
                <a:cs typeface="Calibri" pitchFamily="34" charset="-120"/>
              </a:rPr>
              <a:t>1</a:t>
            </a:r>
            <a:endParaRPr lang="en-US" sz="950" dirty="0"/>
          </a:p>
        </p:txBody>
      </p:sp>
      <p:sp>
        <p:nvSpPr>
          <p:cNvPr id="34" name="Text 32"/>
          <p:cNvSpPr/>
          <p:nvPr/>
        </p:nvSpPr>
        <p:spPr>
          <a:xfrm>
            <a:off x="5458968" y="2377440"/>
            <a:ext cx="2651760" cy="32004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IVR — Operadora automática multinivel</a:t>
            </a:r>
            <a:endParaRPr lang="en-US" sz="1150" dirty="0"/>
          </a:p>
        </p:txBody>
      </p:sp>
      <p:sp>
        <p:nvSpPr>
          <p:cNvPr id="35" name="Text 33"/>
          <p:cNvSpPr/>
          <p:nvPr/>
        </p:nvSpPr>
        <p:spPr>
          <a:xfrm>
            <a:off x="5458968" y="2724912"/>
            <a:ext cx="2651760" cy="5029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Menú de bienvenida y enrutamiento automático con horarios y calendario de festivos.</a:t>
            </a:r>
            <a:endParaRPr lang="en-US" sz="950" dirty="0"/>
          </a:p>
        </p:txBody>
      </p:sp>
      <p:sp>
        <p:nvSpPr>
          <p:cNvPr id="36" name="Shape 34"/>
          <p:cNvSpPr/>
          <p:nvPr/>
        </p:nvSpPr>
        <p:spPr>
          <a:xfrm>
            <a:off x="7699248" y="2651760"/>
            <a:ext cx="1234440" cy="347472"/>
          </a:xfrm>
          <a:prstGeom prst="rect">
            <a:avLst/>
          </a:prstGeom>
          <a:solidFill>
            <a:srgbClr val="E8F8E7"/>
          </a:solidFill>
          <a:ln w="12700">
            <a:solidFill>
              <a:srgbClr val="E8F8E7"/>
            </a:solidFill>
            <a:prstDash val="solid"/>
          </a:ln>
        </p:spPr>
        <p:txBody>
          <a:bodyPr/>
          <a:lstStyle/>
          <a:p>
            <a:endParaRPr lang="es-ES"/>
          </a:p>
        </p:txBody>
      </p:sp>
      <p:sp>
        <p:nvSpPr>
          <p:cNvPr id="37" name="Text 35"/>
          <p:cNvSpPr/>
          <p:nvPr/>
        </p:nvSpPr>
        <p:spPr>
          <a:xfrm>
            <a:off x="7699248" y="2651760"/>
            <a:ext cx="1234440" cy="347472"/>
          </a:xfrm>
          <a:prstGeom prst="rect">
            <a:avLst/>
          </a:prstGeom>
          <a:noFill/>
          <a:ln/>
        </p:spPr>
        <p:txBody>
          <a:bodyPr wrap="square" lIns="0" tIns="0" rIns="0" bIns="0" rtlCol="0" anchor="ctr"/>
          <a:lstStyle/>
          <a:p>
            <a:pPr marL="0" indent="0" algn="ctr">
              <a:buNone/>
            </a:pPr>
            <a:r>
              <a:rPr lang="en-US" sz="1100" b="1" dirty="0">
                <a:solidFill>
                  <a:srgbClr val="38A834"/>
                </a:solidFill>
                <a:latin typeface="Calibri" pitchFamily="34" charset="0"/>
                <a:ea typeface="Calibri" pitchFamily="34" charset="-122"/>
                <a:cs typeface="Calibri" pitchFamily="34" charset="-120"/>
              </a:rPr>
              <a:t>Incluido</a:t>
            </a:r>
            <a:endParaRPr lang="en-US" sz="1100" dirty="0"/>
          </a:p>
        </p:txBody>
      </p:sp>
      <p:sp>
        <p:nvSpPr>
          <p:cNvPr id="38" name="Shape 36"/>
          <p:cNvSpPr/>
          <p:nvPr/>
        </p:nvSpPr>
        <p:spPr>
          <a:xfrm>
            <a:off x="228600" y="3493008"/>
            <a:ext cx="8686800" cy="1024128"/>
          </a:xfrm>
          <a:prstGeom prst="rect">
            <a:avLst/>
          </a:prstGeom>
          <a:solidFill>
            <a:srgbClr val="FFFFFF"/>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39" name="Shape 37"/>
          <p:cNvSpPr/>
          <p:nvPr/>
        </p:nvSpPr>
        <p:spPr>
          <a:xfrm>
            <a:off x="228600" y="3493008"/>
            <a:ext cx="64008" cy="1024128"/>
          </a:xfrm>
          <a:prstGeom prst="rect">
            <a:avLst/>
          </a:prstGeom>
          <a:solidFill>
            <a:srgbClr val="45C241"/>
          </a:solidFill>
          <a:ln w="12700">
            <a:solidFill>
              <a:srgbClr val="45C241"/>
            </a:solidFill>
            <a:prstDash val="solid"/>
          </a:ln>
        </p:spPr>
        <p:txBody>
          <a:bodyPr/>
          <a:lstStyle/>
          <a:p>
            <a:endParaRPr lang="es-ES"/>
          </a:p>
        </p:txBody>
      </p:sp>
      <p:sp>
        <p:nvSpPr>
          <p:cNvPr id="40" name="Shape 38"/>
          <p:cNvSpPr/>
          <p:nvPr/>
        </p:nvSpPr>
        <p:spPr>
          <a:xfrm>
            <a:off x="393192" y="3584448"/>
            <a:ext cx="502920" cy="502920"/>
          </a:xfrm>
          <a:prstGeom prst="rect">
            <a:avLst/>
          </a:prstGeom>
          <a:solidFill>
            <a:srgbClr val="1A1A1A"/>
          </a:solidFill>
          <a:ln w="12700">
            <a:solidFill>
              <a:srgbClr val="1A1A1A"/>
            </a:solidFill>
            <a:prstDash val="solid"/>
          </a:ln>
        </p:spPr>
        <p:txBody>
          <a:bodyPr/>
          <a:lstStyle/>
          <a:p>
            <a:endParaRPr lang="es-ES"/>
          </a:p>
        </p:txBody>
      </p:sp>
      <p:sp>
        <p:nvSpPr>
          <p:cNvPr id="41" name="Text 39"/>
          <p:cNvSpPr/>
          <p:nvPr/>
        </p:nvSpPr>
        <p:spPr>
          <a:xfrm>
            <a:off x="393192" y="3584448"/>
            <a:ext cx="502920" cy="502920"/>
          </a:xfrm>
          <a:prstGeom prst="rect">
            <a:avLst/>
          </a:prstGeom>
          <a:noFill/>
          <a:ln/>
        </p:spPr>
        <p:txBody>
          <a:bodyPr wrap="square" lIns="0" tIns="0" rIns="0" bIns="0" rtlCol="0" anchor="ctr"/>
          <a:lstStyle/>
          <a:p>
            <a:pPr marL="0" indent="0" algn="ctr">
              <a:buNone/>
            </a:pPr>
            <a:r>
              <a:rPr lang="en-US" sz="950" b="1" dirty="0">
                <a:solidFill>
                  <a:srgbClr val="45C241"/>
                </a:solidFill>
                <a:latin typeface="Calibri" pitchFamily="34" charset="0"/>
                <a:ea typeface="Calibri" pitchFamily="34" charset="-122"/>
                <a:cs typeface="Calibri" pitchFamily="34" charset="-120"/>
              </a:rPr>
              <a:t>165</a:t>
            </a:r>
            <a:endParaRPr lang="en-US" sz="950" dirty="0"/>
          </a:p>
        </p:txBody>
      </p:sp>
      <p:sp>
        <p:nvSpPr>
          <p:cNvPr id="42" name="Text 40"/>
          <p:cNvSpPr/>
          <p:nvPr/>
        </p:nvSpPr>
        <p:spPr>
          <a:xfrm>
            <a:off x="1005840" y="3566160"/>
            <a:ext cx="6217920" cy="32004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Terminales Yealink W37P inalámbricos</a:t>
            </a:r>
            <a:endParaRPr lang="en-US" sz="1150" dirty="0"/>
          </a:p>
        </p:txBody>
      </p:sp>
      <p:sp>
        <p:nvSpPr>
          <p:cNvPr id="43" name="Text 41"/>
          <p:cNvSpPr/>
          <p:nvPr/>
        </p:nvSpPr>
        <p:spPr>
          <a:xfrm>
            <a:off x="1005840" y="3913632"/>
            <a:ext cx="6217920" cy="5029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DECT inalámbrico · 8,50€/ud/mes · Tarifa plana ilimitada a fijos y móviles nacionales.</a:t>
            </a:r>
            <a:endParaRPr lang="en-US" sz="950" dirty="0"/>
          </a:p>
        </p:txBody>
      </p:sp>
      <p:sp>
        <p:nvSpPr>
          <p:cNvPr id="44" name="Shape 42"/>
          <p:cNvSpPr/>
          <p:nvPr/>
        </p:nvSpPr>
        <p:spPr>
          <a:xfrm>
            <a:off x="7616952" y="3840480"/>
            <a:ext cx="1234440" cy="347472"/>
          </a:xfrm>
          <a:prstGeom prst="rect">
            <a:avLst/>
          </a:prstGeom>
          <a:solidFill>
            <a:srgbClr val="EEF2FF"/>
          </a:solidFill>
          <a:ln w="12700">
            <a:solidFill>
              <a:srgbClr val="EEF2FF"/>
            </a:solidFill>
            <a:prstDash val="solid"/>
          </a:ln>
        </p:spPr>
        <p:txBody>
          <a:bodyPr/>
          <a:lstStyle/>
          <a:p>
            <a:endParaRPr lang="es-ES"/>
          </a:p>
        </p:txBody>
      </p:sp>
      <p:sp>
        <p:nvSpPr>
          <p:cNvPr id="45" name="Text 43"/>
          <p:cNvSpPr/>
          <p:nvPr/>
        </p:nvSpPr>
        <p:spPr>
          <a:xfrm>
            <a:off x="7616952" y="3840480"/>
            <a:ext cx="1234440" cy="347472"/>
          </a:xfrm>
          <a:prstGeom prst="rect">
            <a:avLst/>
          </a:prstGeom>
          <a:noFill/>
          <a:ln/>
        </p:spPr>
        <p:txBody>
          <a:bodyPr wrap="square" lIns="0" tIns="0" rIns="0" bIns="0" rtlCol="0" anchor="ctr"/>
          <a:lstStyle/>
          <a:p>
            <a:pPr marL="0" indent="0" algn="ctr">
              <a:buNone/>
            </a:pPr>
            <a:r>
              <a:rPr lang="en-US" sz="850" b="1" dirty="0">
                <a:solidFill>
                  <a:srgbClr val="0F2D5E"/>
                </a:solidFill>
                <a:latin typeface="Calibri" pitchFamily="34" charset="0"/>
                <a:ea typeface="Calibri" pitchFamily="34" charset="-122"/>
                <a:cs typeface="Calibri" pitchFamily="34" charset="-120"/>
              </a:rPr>
              <a:t>1.402,50€/mes</a:t>
            </a:r>
            <a:endParaRPr lang="en-US" sz="850" dirty="0"/>
          </a:p>
        </p:txBody>
      </p:sp>
      <p:sp>
        <p:nvSpPr>
          <p:cNvPr id="46" name="Shape 44"/>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47" name="Text 45"/>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4.xml><?xml version="1.0" encoding="utf-8"?>
<p:sld xmlns:p14="http://schemas.microsoft.com/office/powerpoint/2010/main" xmlns:a16="http://schemas.microsoft.com/office/drawing/2014/main"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OPCIÓN A — FTTO 1 GBPS · LA MÁS POTENTE</a:t>
            </a:r>
            <a:endParaRPr lang="en-US" sz="1700" dirty="0"/>
          </a:p>
        </p:txBody>
      </p:sp>
      <p:sp>
        <p:nvSpPr>
          <p:cNvPr id="5" name="Shape 3"/>
          <p:cNvSpPr/>
          <p:nvPr/>
        </p:nvSpPr>
        <p:spPr>
          <a:xfrm>
            <a:off x="256032" y="749808"/>
            <a:ext cx="3200400" cy="841248"/>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6" name="Text 4"/>
          <p:cNvSpPr/>
          <p:nvPr/>
        </p:nvSpPr>
        <p:spPr>
          <a:xfrm>
            <a:off x="256032" y="749808"/>
            <a:ext cx="3200400" cy="841248"/>
          </a:xfrm>
          <a:prstGeom prst="rect">
            <a:avLst/>
          </a:prstGeom>
          <a:noFill/>
          <a:ln/>
        </p:spPr>
        <p:txBody>
          <a:bodyPr wrap="square" lIns="0" tIns="0" rIns="0" bIns="0" rtlCol="0" anchor="ctr"/>
          <a:lstStyle/>
          <a:p>
            <a:pPr marL="0" indent="0" algn="ctr">
              <a:buNone/>
            </a:pPr>
            <a:r>
              <a:rPr lang="en-US" sz="2400" b="1" dirty="0">
                <a:solidFill>
                  <a:srgbClr val="45C241"/>
                </a:solidFill>
                <a:latin typeface="Calibri" pitchFamily="34" charset="0"/>
                <a:ea typeface="Calibri" pitchFamily="34" charset="-122"/>
                <a:cs typeface="Calibri" pitchFamily="34" charset="-120"/>
              </a:rPr>
              <a:t>3.795 €/mes</a:t>
            </a:r>
            <a:endParaRPr lang="en-US" sz="2400" dirty="0"/>
          </a:p>
        </p:txBody>
      </p:sp>
      <p:sp>
        <p:nvSpPr>
          <p:cNvPr id="7" name="Text 5"/>
          <p:cNvSpPr/>
          <p:nvPr/>
        </p:nvSpPr>
        <p:spPr>
          <a:xfrm>
            <a:off x="3566160" y="822960"/>
            <a:ext cx="5394960" cy="320040"/>
          </a:xfrm>
          <a:prstGeom prst="rect">
            <a:avLst/>
          </a:prstGeom>
          <a:noFill/>
          <a:ln/>
        </p:spPr>
        <p:txBody>
          <a:bodyPr wrap="square" lIns="0" tIns="0" rIns="0" bIns="0" rtlCol="0" anchor="ctr"/>
          <a:lstStyle/>
          <a:p>
            <a:pPr marL="0" indent="0">
              <a:buNone/>
            </a:pPr>
            <a:r>
              <a:rPr lang="en-US" sz="1000" i="1" dirty="0">
                <a:solidFill>
                  <a:srgbClr val="444444"/>
                </a:solidFill>
                <a:latin typeface="Calibri" pitchFamily="34" charset="0"/>
                <a:ea typeface="Calibri" pitchFamily="34" charset="-122"/>
                <a:cs typeface="Calibri" pitchFamily="34" charset="-120"/>
              </a:rPr>
              <a:t>55 sedes · 1Gbps/1Gbps simétrico · Compromiso anual · SLA 99,9%</a:t>
            </a:r>
            <a:endParaRPr lang="en-US" sz="1000" dirty="0"/>
          </a:p>
        </p:txBody>
      </p:sp>
      <p:sp>
        <p:nvSpPr>
          <p:cNvPr id="8" name="Text 6"/>
          <p:cNvSpPr/>
          <p:nvPr/>
        </p:nvSpPr>
        <p:spPr>
          <a:xfrm>
            <a:off x="3566160" y="1152144"/>
            <a:ext cx="539496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Descarga 1.000 Mbps · Subida 1.000 Mbps · Latencia &lt;10ms</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56032" y="1536192"/>
          <a:ext cx="8686800" cy="914400"/>
        </p:xfrm>
        <a:graphic>
          <a:graphicData uri="http://schemas.openxmlformats.org/drawingml/2006/table">
            <a:tbl>
              <a:tblPr/>
              <a:tblGrid>
                <a:gridCol w="47548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93192">
                <a:tc>
                  <a:txBody>
                    <a:bodyPr/>
                    <a:lstStyle/>
                    <a:p>
                      <a:pPr marL="0" indent="0" algn="l">
                        <a:buNone/>
                      </a:pPr>
                      <a:r>
                        <a:rPr lang="en-US" sz="950" b="1" dirty="0">
                          <a:solidFill>
                            <a:srgbClr val="FFFFFF"/>
                          </a:solidFill>
                        </a:rPr>
                        <a:t>Servicio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Uds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Precio unit.</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Total/mes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393192">
                <a:tc>
                  <a:txBody>
                    <a:bodyPr/>
                    <a:lstStyle/>
                    <a:p>
                      <a:pPr marL="0" indent="0" algn="l">
                        <a:buNone/>
                      </a:pPr>
                      <a:r>
                        <a:rPr lang="en-US" sz="950" b="1" dirty="0">
                          <a:solidFill>
                            <a:srgbClr val="1A1A1A"/>
                          </a:solidFill>
                        </a:rPr>
                        <a:t>🌐  FTTO 1 Gbps simétrico — fibra óptica dedicada por sede</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55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42,00€/mes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A1A1A"/>
                          </a:solidFill>
                        </a:rPr>
                        <a:t>2.310,00€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950" dirty="0">
                          <a:solidFill>
                            <a:srgbClr val="1A1A1A"/>
                          </a:solidFill>
                        </a:rPr>
                        <a:t>📱  Extensiones de Voz IP (LynksIP)</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93192">
                <a:tc>
                  <a:txBody>
                    <a:bodyPr/>
                    <a:lstStyle/>
                    <a:p>
                      <a:pPr marL="0" indent="0" algn="l">
                        <a:buNone/>
                      </a:pPr>
                      <a:r>
                        <a:rPr lang="en-US" sz="950" dirty="0">
                          <a:solidFill>
                            <a:srgbClr val="1A1A1A"/>
                          </a:solidFill>
                        </a:rPr>
                        <a:t>🔀  Canales simultáneos de comunicación</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950" dirty="0">
                          <a:solidFill>
                            <a:srgbClr val="1A1A1A"/>
                          </a:solidFill>
                        </a:rPr>
                        <a:t>📋  DDI — Número directo por sede</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55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1,50€/mes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1A1A1A"/>
                          </a:solidFill>
                        </a:rPr>
                        <a:t>82,50€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93192">
                <a:tc>
                  <a:txBody>
                    <a:bodyPr/>
                    <a:lstStyle/>
                    <a:p>
                      <a:pPr marL="0" indent="0" algn="l">
                        <a:buNone/>
                      </a:pPr>
                      <a:r>
                        <a:rPr lang="en-US" sz="950" dirty="0">
                          <a:solidFill>
                            <a:srgbClr val="1A1A1A"/>
                          </a:solidFill>
                        </a:rPr>
                        <a:t>🤖  IVR — Operadora automática LynksIP</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1</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l">
                        <a:buNone/>
                      </a:pPr>
                      <a:r>
                        <a:rPr lang="en-US" sz="950" dirty="0">
                          <a:solidFill>
                            <a:srgbClr val="1A1A1A"/>
                          </a:solidFill>
                        </a:rPr>
                        <a:t>☎️  Terminal Yealink W37P inalámbrico + tarifa plana</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8,50€/mes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1A1A1A"/>
                          </a:solidFill>
                        </a:rPr>
                        <a:t>1.402,50€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93192">
                <a:tc gridSpan="3">
                  <a:txBody>
                    <a:bodyPr/>
                    <a:lstStyle/>
                    <a:p>
                      <a:pPr marL="0" indent="0" algn="l">
                        <a:buNone/>
                      </a:pPr>
                      <a:r>
                        <a:rPr lang="en-US" sz="1050" b="1" dirty="0">
                          <a:solidFill>
                            <a:srgbClr val="FFFFFF"/>
                          </a:solidFill>
                        </a:rPr>
                        <a:t>TOTAL MENSUAL</a:t>
                      </a:r>
                      <a:endParaRPr lang="en-US" sz="10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hMerge="1">
                  <a:txBody>
                    <a:bodyPr/>
                    <a:lstStyle/>
                    <a:p>
                      <a:endParaRPr lang="es-ES"/>
                    </a:p>
                  </a:txBody>
                  <a:tcPr/>
                </a:tc>
                <a:tc hMerge="1">
                  <a:txBody>
                    <a:bodyPr/>
                    <a:lstStyle/>
                    <a:p>
                      <a:endParaRPr lang="es-ES"/>
                    </a:p>
                  </a:txBody>
                  <a:tcPr/>
                </a:tc>
                <a:tc>
                  <a:txBody>
                    <a:bodyPr/>
                    <a:lstStyle/>
                    <a:p>
                      <a:pPr marL="0" indent="0">
                        <a:buNone/>
                      </a:pPr>
                      <a:endParaRPr lang="en-US" sz="120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7"/>
                  </a:ext>
                </a:extLst>
              </a:tr>
            </a:tbl>
          </a:graphicData>
        </a:graphic>
      </p:graphicFrame>
      <p:sp>
        <p:nvSpPr>
          <p:cNvPr id="10" name="Shape 7"/>
          <p:cNvSpPr/>
          <p:nvPr/>
        </p:nvSpPr>
        <p:spPr>
          <a:xfrm>
            <a:off x="256032" y="4572000"/>
            <a:ext cx="8686800" cy="201168"/>
          </a:xfrm>
          <a:prstGeom prst="rect">
            <a:avLst/>
          </a:prstGeom>
          <a:solidFill>
            <a:srgbClr val="E8F8E7"/>
          </a:solidFill>
          <a:ln w="12700">
            <a:solidFill>
              <a:srgbClr val="38A834"/>
            </a:solidFill>
            <a:prstDash val="solid"/>
          </a:ln>
        </p:spPr>
        <p:txBody>
          <a:bodyPr/>
          <a:lstStyle/>
          <a:p>
            <a:endParaRPr lang="es-ES"/>
          </a:p>
        </p:txBody>
      </p:sp>
      <p:sp>
        <p:nvSpPr>
          <p:cNvPr id="11" name="Text 8"/>
          <p:cNvSpPr/>
          <p:nvPr/>
        </p:nvSpPr>
        <p:spPr>
          <a:xfrm>
            <a:off x="365760" y="4572000"/>
            <a:ext cx="8503920" cy="201168"/>
          </a:xfrm>
          <a:prstGeom prst="rect">
            <a:avLst/>
          </a:prstGeom>
          <a:noFill/>
          <a:ln/>
        </p:spPr>
        <p:txBody>
          <a:bodyPr wrap="square" lIns="0" tIns="0" rIns="0" bIns="0" rtlCol="0" anchor="ctr"/>
          <a:lstStyle/>
          <a:p>
            <a:pPr marL="0" indent="0">
              <a:buNone/>
            </a:pPr>
            <a:r>
              <a:rPr lang="en-US" sz="850" dirty="0">
                <a:solidFill>
                  <a:srgbClr val="38A834"/>
                </a:solidFill>
                <a:latin typeface="Calibri" pitchFamily="34" charset="0"/>
                <a:ea typeface="Calibri" pitchFamily="34" charset="-122"/>
                <a:cs typeface="Calibri" pitchFamily="34" charset="-120"/>
              </a:rPr>
              <a:t>✔  Tarifa plana ilimitada a fijos y móviles nacionales incluida en todos los terminales Yealink W37P</a:t>
            </a:r>
            <a:endParaRPr lang="en-US" sz="850" dirty="0"/>
          </a:p>
        </p:txBody>
      </p:sp>
      <p:sp>
        <p:nvSpPr>
          <p:cNvPr id="12" name="Shape 9"/>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13" name="Text 10"/>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5.xml><?xml version="1.0" encoding="utf-8"?>
<p:sld xmlns:p14="http://schemas.microsoft.com/office/powerpoint/2010/main" xmlns:a16="http://schemas.microsoft.com/office/drawing/2014/main"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OPCIÓN B — FTTO 600 MBPS · LA MÁS EQUILIBRADA</a:t>
            </a:r>
            <a:endParaRPr lang="en-US" sz="1700" dirty="0"/>
          </a:p>
        </p:txBody>
      </p:sp>
      <p:sp>
        <p:nvSpPr>
          <p:cNvPr id="5" name="Shape 3"/>
          <p:cNvSpPr/>
          <p:nvPr/>
        </p:nvSpPr>
        <p:spPr>
          <a:xfrm>
            <a:off x="256032" y="749808"/>
            <a:ext cx="3200400" cy="841248"/>
          </a:xfrm>
          <a:prstGeom prst="rect">
            <a:avLst/>
          </a:prstGeom>
          <a:solidFill>
            <a:srgbClr val="1A1A1A"/>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6" name="Text 4"/>
          <p:cNvSpPr/>
          <p:nvPr/>
        </p:nvSpPr>
        <p:spPr>
          <a:xfrm>
            <a:off x="256032" y="749808"/>
            <a:ext cx="3200400" cy="841248"/>
          </a:xfrm>
          <a:prstGeom prst="rect">
            <a:avLst/>
          </a:prstGeom>
          <a:noFill/>
          <a:ln/>
        </p:spPr>
        <p:txBody>
          <a:bodyPr wrap="square" lIns="0" tIns="0" rIns="0" bIns="0" rtlCol="0" anchor="ctr"/>
          <a:lstStyle/>
          <a:p>
            <a:pPr marL="0" indent="0" algn="ctr">
              <a:buNone/>
            </a:pPr>
            <a:r>
              <a:rPr lang="en-US" sz="2400" b="1" dirty="0">
                <a:solidFill>
                  <a:srgbClr val="45C241"/>
                </a:solidFill>
                <a:latin typeface="Calibri" pitchFamily="34" charset="0"/>
                <a:ea typeface="Calibri" pitchFamily="34" charset="-122"/>
                <a:cs typeface="Calibri" pitchFamily="34" charset="-120"/>
              </a:rPr>
              <a:t>3.575 €/mes</a:t>
            </a:r>
            <a:endParaRPr lang="en-US" sz="2400" dirty="0"/>
          </a:p>
        </p:txBody>
      </p:sp>
      <p:sp>
        <p:nvSpPr>
          <p:cNvPr id="7" name="Text 5"/>
          <p:cNvSpPr/>
          <p:nvPr/>
        </p:nvSpPr>
        <p:spPr>
          <a:xfrm>
            <a:off x="3566160" y="822960"/>
            <a:ext cx="5394960" cy="320040"/>
          </a:xfrm>
          <a:prstGeom prst="rect">
            <a:avLst/>
          </a:prstGeom>
          <a:noFill/>
          <a:ln/>
        </p:spPr>
        <p:txBody>
          <a:bodyPr wrap="square" lIns="0" tIns="0" rIns="0" bIns="0" rtlCol="0" anchor="ctr"/>
          <a:lstStyle/>
          <a:p>
            <a:pPr marL="0" indent="0">
              <a:buNone/>
            </a:pPr>
            <a:r>
              <a:rPr lang="en-US" sz="1000" i="1" dirty="0">
                <a:solidFill>
                  <a:srgbClr val="444444"/>
                </a:solidFill>
                <a:latin typeface="Calibri" pitchFamily="34" charset="0"/>
                <a:ea typeface="Calibri" pitchFamily="34" charset="-122"/>
                <a:cs typeface="Calibri" pitchFamily="34" charset="-120"/>
              </a:rPr>
              <a:t>55 sedes · 600Mbps/600Mbps simétrico · Compromiso anual · SLA 99,9%</a:t>
            </a:r>
            <a:endParaRPr lang="en-US" sz="1000" dirty="0"/>
          </a:p>
        </p:txBody>
      </p:sp>
      <p:sp>
        <p:nvSpPr>
          <p:cNvPr id="8" name="Text 6"/>
          <p:cNvSpPr/>
          <p:nvPr/>
        </p:nvSpPr>
        <p:spPr>
          <a:xfrm>
            <a:off x="3566160" y="1152144"/>
            <a:ext cx="539496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Descarga 600 Mbps · Subida 600 Mbps · Latencia &lt;10ms</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56032" y="1536192"/>
          <a:ext cx="8686800" cy="914400"/>
        </p:xfrm>
        <a:graphic>
          <a:graphicData uri="http://schemas.openxmlformats.org/drawingml/2006/table">
            <a:tbl>
              <a:tblPr/>
              <a:tblGrid>
                <a:gridCol w="47548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93192">
                <a:tc>
                  <a:txBody>
                    <a:bodyPr/>
                    <a:lstStyle/>
                    <a:p>
                      <a:pPr marL="0" indent="0" algn="l">
                        <a:buNone/>
                      </a:pPr>
                      <a:r>
                        <a:rPr lang="en-US" sz="950" b="1" dirty="0">
                          <a:solidFill>
                            <a:srgbClr val="FFFFFF"/>
                          </a:solidFill>
                        </a:rPr>
                        <a:t>Servicio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Uds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Precio unit.</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950" b="1" dirty="0">
                          <a:solidFill>
                            <a:srgbClr val="FFFFFF"/>
                          </a:solidFill>
                        </a:rPr>
                        <a:t>Total/mes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393192">
                <a:tc>
                  <a:txBody>
                    <a:bodyPr/>
                    <a:lstStyle/>
                    <a:p>
                      <a:pPr marL="0" indent="0" algn="l">
                        <a:buNone/>
                      </a:pPr>
                      <a:r>
                        <a:rPr lang="en-US" sz="950" b="1" dirty="0">
                          <a:solidFill>
                            <a:srgbClr val="1A1A1A"/>
                          </a:solidFill>
                        </a:rPr>
                        <a:t>🌐  FTTO 600 Mbps simétrico — fibra óptica dedicada por sede</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55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38,00€/mes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A1A1A"/>
                          </a:solidFill>
                        </a:rPr>
                        <a:t>2.090,00€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950" dirty="0">
                          <a:solidFill>
                            <a:srgbClr val="1A1A1A"/>
                          </a:solidFill>
                        </a:rPr>
                        <a:t>📱  Extensiones de Voz IP (LynksIP)</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93192">
                <a:tc>
                  <a:txBody>
                    <a:bodyPr/>
                    <a:lstStyle/>
                    <a:p>
                      <a:pPr marL="0" indent="0" algn="l">
                        <a:buNone/>
                      </a:pPr>
                      <a:r>
                        <a:rPr lang="en-US" sz="950" dirty="0">
                          <a:solidFill>
                            <a:srgbClr val="1A1A1A"/>
                          </a:solidFill>
                        </a:rPr>
                        <a:t>🔀  Canales simultáneos de comunicación</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950" dirty="0">
                          <a:solidFill>
                            <a:srgbClr val="1A1A1A"/>
                          </a:solidFill>
                        </a:rPr>
                        <a:t>📋  DDI — Número directo por sede</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55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1,50€/mes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1A1A1A"/>
                          </a:solidFill>
                        </a:rPr>
                        <a:t>82,50€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93192">
                <a:tc>
                  <a:txBody>
                    <a:bodyPr/>
                    <a:lstStyle/>
                    <a:p>
                      <a:pPr marL="0" indent="0" algn="l">
                        <a:buNone/>
                      </a:pPr>
                      <a:r>
                        <a:rPr lang="en-US" sz="950" dirty="0">
                          <a:solidFill>
                            <a:srgbClr val="1A1A1A"/>
                          </a:solidFill>
                        </a:rPr>
                        <a:t>🤖  IVR — Operadora automática LynksIP</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1A"/>
                          </a:solidFill>
                        </a:rPr>
                        <a:t>1</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Incluido</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8A834"/>
                          </a:solidFill>
                        </a:rPr>
                        <a:t>0,00€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l">
                        <a:buNone/>
                      </a:pPr>
                      <a:r>
                        <a:rPr lang="en-US" sz="950" dirty="0">
                          <a:solidFill>
                            <a:srgbClr val="1A1A1A"/>
                          </a:solidFill>
                        </a:rPr>
                        <a:t>☎️  Terminal Yealink W37P inalámbrico + tarifa plana</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165</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dirty="0">
                          <a:solidFill>
                            <a:srgbClr val="1A1A1A"/>
                          </a:solidFill>
                        </a:rPr>
                        <a:t>8,50€/mes</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950" b="1" dirty="0">
                          <a:solidFill>
                            <a:srgbClr val="1A1A1A"/>
                          </a:solidFill>
                        </a:rPr>
                        <a:t>1.402,50€</a:t>
                      </a:r>
                      <a:endParaRPr lang="en-US" sz="9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93192">
                <a:tc gridSpan="3">
                  <a:txBody>
                    <a:bodyPr/>
                    <a:lstStyle/>
                    <a:p>
                      <a:pPr marL="0" indent="0" algn="l">
                        <a:buNone/>
                      </a:pPr>
                      <a:r>
                        <a:rPr lang="en-US" sz="1050" b="1" dirty="0">
                          <a:solidFill>
                            <a:srgbClr val="FFFFFF"/>
                          </a:solidFill>
                        </a:rPr>
                        <a:t>TOTAL MENSUAL</a:t>
                      </a:r>
                      <a:endParaRPr lang="en-US" sz="105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hMerge="1">
                  <a:txBody>
                    <a:bodyPr/>
                    <a:lstStyle/>
                    <a:p>
                      <a:endParaRPr lang="es-ES"/>
                    </a:p>
                  </a:txBody>
                  <a:tcPr/>
                </a:tc>
                <a:tc hMerge="1">
                  <a:txBody>
                    <a:bodyPr/>
                    <a:lstStyle/>
                    <a:p>
                      <a:endParaRPr lang="es-ES"/>
                    </a:p>
                  </a:txBody>
                  <a:tcPr/>
                </a:tc>
                <a:tc>
                  <a:txBody>
                    <a:bodyPr/>
                    <a:lstStyle/>
                    <a:p>
                      <a:pPr marL="0" indent="0">
                        <a:buNone/>
                      </a:pPr>
                      <a:endParaRPr lang="en-US" sz="1200" dirty="0"/>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7"/>
                  </a:ext>
                </a:extLst>
              </a:tr>
            </a:tbl>
          </a:graphicData>
        </a:graphic>
      </p:graphicFrame>
      <p:sp>
        <p:nvSpPr>
          <p:cNvPr id="10" name="Shape 7"/>
          <p:cNvSpPr/>
          <p:nvPr/>
        </p:nvSpPr>
        <p:spPr>
          <a:xfrm>
            <a:off x="256032" y="4572000"/>
            <a:ext cx="8686800" cy="201168"/>
          </a:xfrm>
          <a:prstGeom prst="rect">
            <a:avLst/>
          </a:prstGeom>
          <a:solidFill>
            <a:srgbClr val="E8F8E7"/>
          </a:solidFill>
          <a:ln w="12700">
            <a:solidFill>
              <a:srgbClr val="38A834"/>
            </a:solidFill>
            <a:prstDash val="solid"/>
          </a:ln>
        </p:spPr>
        <p:txBody>
          <a:bodyPr/>
          <a:lstStyle/>
          <a:p>
            <a:endParaRPr lang="es-ES"/>
          </a:p>
        </p:txBody>
      </p:sp>
      <p:sp>
        <p:nvSpPr>
          <p:cNvPr id="11" name="Text 8"/>
          <p:cNvSpPr/>
          <p:nvPr/>
        </p:nvSpPr>
        <p:spPr>
          <a:xfrm>
            <a:off x="365760" y="4572000"/>
            <a:ext cx="8503920" cy="201168"/>
          </a:xfrm>
          <a:prstGeom prst="rect">
            <a:avLst/>
          </a:prstGeom>
          <a:noFill/>
          <a:ln/>
        </p:spPr>
        <p:txBody>
          <a:bodyPr wrap="square" lIns="0" tIns="0" rIns="0" bIns="0" rtlCol="0" anchor="ctr"/>
          <a:lstStyle/>
          <a:p>
            <a:pPr marL="0" indent="0">
              <a:buNone/>
            </a:pPr>
            <a:r>
              <a:rPr lang="en-US" sz="850" dirty="0">
                <a:solidFill>
                  <a:srgbClr val="38A834"/>
                </a:solidFill>
                <a:latin typeface="Calibri" pitchFamily="34" charset="0"/>
                <a:ea typeface="Calibri" pitchFamily="34" charset="-122"/>
                <a:cs typeface="Calibri" pitchFamily="34" charset="-120"/>
              </a:rPr>
              <a:t>✔  Tarifa plana ilimitada a fijos y móviles nacionales incluida en todos los terminales Yealink W37P</a:t>
            </a:r>
            <a:endParaRPr lang="en-US" sz="850" dirty="0"/>
          </a:p>
        </p:txBody>
      </p:sp>
      <p:sp>
        <p:nvSpPr>
          <p:cNvPr id="12" name="Shape 9"/>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13" name="Text 10"/>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56032" cy="658368"/>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38912" y="0"/>
            <a:ext cx="850392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RESUMEN COMPARATIVO — ELIGE TU OPCIÓN</a:t>
            </a:r>
            <a:endParaRPr lang="en-US" sz="1700" dirty="0"/>
          </a:p>
        </p:txBody>
      </p:sp>
      <p:sp>
        <p:nvSpPr>
          <p:cNvPr id="5" name="Text 3"/>
          <p:cNvSpPr/>
          <p:nvPr/>
        </p:nvSpPr>
        <p:spPr>
          <a:xfrm>
            <a:off x="320040" y="658368"/>
            <a:ext cx="8503920" cy="347472"/>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Ambas opciones incluyen los mismos servicios de voz, centralita y terminales. Solo cambia la velocidad de conexión.</a:t>
            </a:r>
            <a:endParaRPr lang="en-US" sz="1050" dirty="0"/>
          </a:p>
        </p:txBody>
      </p:sp>
      <p:sp>
        <p:nvSpPr>
          <p:cNvPr id="6" name="Shape 4"/>
          <p:cNvSpPr/>
          <p:nvPr/>
        </p:nvSpPr>
        <p:spPr>
          <a:xfrm>
            <a:off x="256032" y="1115568"/>
            <a:ext cx="4160520" cy="3493008"/>
          </a:xfrm>
          <a:prstGeom prst="rect">
            <a:avLst/>
          </a:prstGeom>
          <a:solidFill>
            <a:srgbClr val="F5F5F5"/>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56032" y="1115568"/>
            <a:ext cx="4160520" cy="64008"/>
          </a:xfrm>
          <a:prstGeom prst="rect">
            <a:avLst/>
          </a:prstGeom>
          <a:solidFill>
            <a:srgbClr val="1A1A1A"/>
          </a:solidFill>
          <a:ln w="12700">
            <a:solidFill>
              <a:srgbClr val="1A1A1A"/>
            </a:solidFill>
            <a:prstDash val="solid"/>
          </a:ln>
        </p:spPr>
        <p:txBody>
          <a:bodyPr/>
          <a:lstStyle/>
          <a:p>
            <a:endParaRPr lang="es-ES"/>
          </a:p>
        </p:txBody>
      </p:sp>
      <p:sp>
        <p:nvSpPr>
          <p:cNvPr id="8" name="Text 6"/>
          <p:cNvSpPr/>
          <p:nvPr/>
        </p:nvSpPr>
        <p:spPr>
          <a:xfrm>
            <a:off x="256032" y="1234440"/>
            <a:ext cx="4160520" cy="411480"/>
          </a:xfrm>
          <a:prstGeom prst="rect">
            <a:avLst/>
          </a:prstGeom>
          <a:noFill/>
          <a:ln/>
        </p:spPr>
        <p:txBody>
          <a:bodyPr wrap="square" lIns="0" tIns="0" rIns="0" bIns="0" rtlCol="0" anchor="ctr"/>
          <a:lstStyle/>
          <a:p>
            <a:pPr marL="0" indent="0" algn="ctr">
              <a:buNone/>
            </a:pPr>
            <a:r>
              <a:rPr lang="en-US" sz="1700" b="1" dirty="0">
                <a:solidFill>
                  <a:srgbClr val="1A1A1A"/>
                </a:solidFill>
                <a:latin typeface="Calibri" pitchFamily="34" charset="0"/>
                <a:ea typeface="Calibri" pitchFamily="34" charset="-122"/>
                <a:cs typeface="Calibri" pitchFamily="34" charset="-120"/>
              </a:rPr>
              <a:t>OPCIÓN A</a:t>
            </a:r>
            <a:endParaRPr lang="en-US" sz="1700" dirty="0"/>
          </a:p>
        </p:txBody>
      </p:sp>
      <p:sp>
        <p:nvSpPr>
          <p:cNvPr id="9" name="Text 7"/>
          <p:cNvSpPr/>
          <p:nvPr/>
        </p:nvSpPr>
        <p:spPr>
          <a:xfrm>
            <a:off x="256032" y="1645920"/>
            <a:ext cx="4160520" cy="256032"/>
          </a:xfrm>
          <a:prstGeom prst="rect">
            <a:avLst/>
          </a:prstGeom>
          <a:noFill/>
          <a:ln/>
        </p:spPr>
        <p:txBody>
          <a:bodyPr wrap="square" lIns="0" tIns="0" rIns="0" bIns="0"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FTTO 1 Gbps simétrico</a:t>
            </a:r>
            <a:endParaRPr lang="en-US" sz="1100" dirty="0"/>
          </a:p>
        </p:txBody>
      </p:sp>
      <p:sp>
        <p:nvSpPr>
          <p:cNvPr id="10" name="Shape 8"/>
          <p:cNvSpPr/>
          <p:nvPr/>
        </p:nvSpPr>
        <p:spPr>
          <a:xfrm>
            <a:off x="621792" y="1975104"/>
            <a:ext cx="3429000" cy="566928"/>
          </a:xfrm>
          <a:prstGeom prst="rect">
            <a:avLst/>
          </a:prstGeom>
          <a:solidFill>
            <a:srgbClr val="1A1A1A"/>
          </a:solidFill>
          <a:ln w="12700">
            <a:solidFill>
              <a:srgbClr val="1A1A1A"/>
            </a:solidFill>
            <a:prstDash val="solid"/>
          </a:ln>
        </p:spPr>
        <p:txBody>
          <a:bodyPr/>
          <a:lstStyle/>
          <a:p>
            <a:endParaRPr lang="es-ES"/>
          </a:p>
        </p:txBody>
      </p:sp>
      <p:sp>
        <p:nvSpPr>
          <p:cNvPr id="11" name="Text 9"/>
          <p:cNvSpPr/>
          <p:nvPr/>
        </p:nvSpPr>
        <p:spPr>
          <a:xfrm>
            <a:off x="621792" y="1975104"/>
            <a:ext cx="3429000" cy="566928"/>
          </a:xfrm>
          <a:prstGeom prst="rect">
            <a:avLst/>
          </a:prstGeom>
          <a:noFill/>
          <a:ln/>
        </p:spPr>
        <p:txBody>
          <a:bodyPr wrap="square" lIns="0" tIns="0" rIns="0" bIns="0" rtlCol="0" anchor="ctr"/>
          <a:lstStyle/>
          <a:p>
            <a:pPr marL="0" indent="0" algn="ctr">
              <a:buNone/>
            </a:pPr>
            <a:r>
              <a:rPr lang="en-US" sz="2200" b="1" dirty="0">
                <a:solidFill>
                  <a:srgbClr val="45C241"/>
                </a:solidFill>
                <a:latin typeface="Calibri" pitchFamily="34" charset="0"/>
                <a:ea typeface="Calibri" pitchFamily="34" charset="-122"/>
                <a:cs typeface="Calibri" pitchFamily="34" charset="-120"/>
              </a:rPr>
              <a:t>3.795 €/mes</a:t>
            </a:r>
            <a:endParaRPr lang="en-US" sz="2200" dirty="0"/>
          </a:p>
        </p:txBody>
      </p:sp>
      <p:sp>
        <p:nvSpPr>
          <p:cNvPr id="12" name="Shape 10"/>
          <p:cNvSpPr/>
          <p:nvPr/>
        </p:nvSpPr>
        <p:spPr>
          <a:xfrm>
            <a:off x="457200" y="2688336"/>
            <a:ext cx="54864" cy="256032"/>
          </a:xfrm>
          <a:prstGeom prst="rect">
            <a:avLst/>
          </a:prstGeom>
          <a:solidFill>
            <a:srgbClr val="45C241"/>
          </a:solidFill>
          <a:ln w="12700">
            <a:solidFill>
              <a:srgbClr val="45C241"/>
            </a:solidFill>
            <a:prstDash val="solid"/>
          </a:ln>
        </p:spPr>
        <p:txBody>
          <a:bodyPr/>
          <a:lstStyle/>
          <a:p>
            <a:endParaRPr lang="es-ES"/>
          </a:p>
        </p:txBody>
      </p:sp>
      <p:sp>
        <p:nvSpPr>
          <p:cNvPr id="13" name="Text 11"/>
          <p:cNvSpPr/>
          <p:nvPr/>
        </p:nvSpPr>
        <p:spPr>
          <a:xfrm>
            <a:off x="621792" y="2688336"/>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55 × FTTO 1 Gbps — 2.310€</a:t>
            </a:r>
            <a:endParaRPr lang="en-US" sz="1000" dirty="0"/>
          </a:p>
        </p:txBody>
      </p:sp>
      <p:sp>
        <p:nvSpPr>
          <p:cNvPr id="14" name="Shape 12"/>
          <p:cNvSpPr/>
          <p:nvPr/>
        </p:nvSpPr>
        <p:spPr>
          <a:xfrm>
            <a:off x="457200" y="3072384"/>
            <a:ext cx="54864" cy="256032"/>
          </a:xfrm>
          <a:prstGeom prst="rect">
            <a:avLst/>
          </a:prstGeom>
          <a:solidFill>
            <a:srgbClr val="45C241"/>
          </a:solidFill>
          <a:ln w="12700">
            <a:solidFill>
              <a:srgbClr val="45C241"/>
            </a:solidFill>
            <a:prstDash val="solid"/>
          </a:ln>
        </p:spPr>
        <p:txBody>
          <a:bodyPr/>
          <a:lstStyle/>
          <a:p>
            <a:endParaRPr lang="es-ES"/>
          </a:p>
        </p:txBody>
      </p:sp>
      <p:sp>
        <p:nvSpPr>
          <p:cNvPr id="15" name="Text 13"/>
          <p:cNvSpPr/>
          <p:nvPr/>
        </p:nvSpPr>
        <p:spPr>
          <a:xfrm>
            <a:off x="621792" y="3072384"/>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55 × DDI — 82,50€</a:t>
            </a:r>
            <a:endParaRPr lang="en-US" sz="1000" dirty="0"/>
          </a:p>
        </p:txBody>
      </p:sp>
      <p:sp>
        <p:nvSpPr>
          <p:cNvPr id="16" name="Shape 14"/>
          <p:cNvSpPr/>
          <p:nvPr/>
        </p:nvSpPr>
        <p:spPr>
          <a:xfrm>
            <a:off x="457200" y="3456432"/>
            <a:ext cx="54864" cy="256032"/>
          </a:xfrm>
          <a:prstGeom prst="rect">
            <a:avLst/>
          </a:prstGeom>
          <a:solidFill>
            <a:srgbClr val="45C241"/>
          </a:solidFill>
          <a:ln w="12700">
            <a:solidFill>
              <a:srgbClr val="45C241"/>
            </a:solidFill>
            <a:prstDash val="solid"/>
          </a:ln>
        </p:spPr>
        <p:txBody>
          <a:bodyPr/>
          <a:lstStyle/>
          <a:p>
            <a:endParaRPr lang="es-ES"/>
          </a:p>
        </p:txBody>
      </p:sp>
      <p:sp>
        <p:nvSpPr>
          <p:cNvPr id="17" name="Text 15"/>
          <p:cNvSpPr/>
          <p:nvPr/>
        </p:nvSpPr>
        <p:spPr>
          <a:xfrm>
            <a:off x="621792" y="3456432"/>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165 × Yealink W37P — 1.402,50€</a:t>
            </a:r>
            <a:endParaRPr lang="en-US" sz="1000" dirty="0"/>
          </a:p>
        </p:txBody>
      </p:sp>
      <p:sp>
        <p:nvSpPr>
          <p:cNvPr id="18" name="Shape 16"/>
          <p:cNvSpPr/>
          <p:nvPr/>
        </p:nvSpPr>
        <p:spPr>
          <a:xfrm>
            <a:off x="457200" y="3840480"/>
            <a:ext cx="54864" cy="256032"/>
          </a:xfrm>
          <a:prstGeom prst="rect">
            <a:avLst/>
          </a:prstGeom>
          <a:solidFill>
            <a:srgbClr val="45C241"/>
          </a:solidFill>
          <a:ln w="12700">
            <a:solidFill>
              <a:srgbClr val="45C241"/>
            </a:solidFill>
            <a:prstDash val="solid"/>
          </a:ln>
        </p:spPr>
        <p:txBody>
          <a:bodyPr/>
          <a:lstStyle/>
          <a:p>
            <a:endParaRPr lang="es-ES"/>
          </a:p>
        </p:txBody>
      </p:sp>
      <p:sp>
        <p:nvSpPr>
          <p:cNvPr id="19" name="Text 17"/>
          <p:cNvSpPr/>
          <p:nvPr/>
        </p:nvSpPr>
        <p:spPr>
          <a:xfrm>
            <a:off x="621792" y="3840480"/>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Extensiones + Canales + IVR — 0€</a:t>
            </a:r>
            <a:endParaRPr lang="en-US" sz="1000" dirty="0"/>
          </a:p>
        </p:txBody>
      </p:sp>
      <p:sp>
        <p:nvSpPr>
          <p:cNvPr id="20" name="Text 18"/>
          <p:cNvSpPr/>
          <p:nvPr/>
        </p:nvSpPr>
        <p:spPr>
          <a:xfrm>
            <a:off x="347472" y="4315968"/>
            <a:ext cx="3931920" cy="201168"/>
          </a:xfrm>
          <a:prstGeom prst="rect">
            <a:avLst/>
          </a:prstGeom>
          <a:noFill/>
          <a:ln/>
        </p:spPr>
        <p:txBody>
          <a:bodyPr wrap="square" lIns="0" tIns="0" rIns="0" bIns="0" rtlCol="0" anchor="ctr"/>
          <a:lstStyle/>
          <a:p>
            <a:pPr marL="0" indent="0" algn="ctr">
              <a:buNone/>
            </a:pPr>
            <a:r>
              <a:rPr lang="en-US" sz="900" i="1" dirty="0">
                <a:solidFill>
                  <a:srgbClr val="38A834"/>
                </a:solidFill>
                <a:latin typeface="Calibri" pitchFamily="34" charset="0"/>
                <a:ea typeface="Calibri" pitchFamily="34" charset="-122"/>
                <a:cs typeface="Calibri" pitchFamily="34" charset="-120"/>
              </a:rPr>
              <a:t>↑ Recomendada para alto tráfico o expansión futura</a:t>
            </a:r>
            <a:endParaRPr lang="en-US" sz="900" dirty="0"/>
          </a:p>
        </p:txBody>
      </p:sp>
      <p:sp>
        <p:nvSpPr>
          <p:cNvPr id="21" name="Shape 19"/>
          <p:cNvSpPr/>
          <p:nvPr/>
        </p:nvSpPr>
        <p:spPr>
          <a:xfrm>
            <a:off x="4224528" y="2212848"/>
            <a:ext cx="685800" cy="685800"/>
          </a:xfrm>
          <a:prstGeom prst="rect">
            <a:avLst/>
          </a:prstGeom>
          <a:solidFill>
            <a:srgbClr val="1A1A1A"/>
          </a:solidFill>
          <a:ln w="12700">
            <a:solidFill>
              <a:srgbClr val="1A1A1A"/>
            </a:solidFill>
            <a:prstDash val="solid"/>
          </a:ln>
        </p:spPr>
        <p:txBody>
          <a:bodyPr/>
          <a:lstStyle/>
          <a:p>
            <a:endParaRPr lang="es-ES"/>
          </a:p>
        </p:txBody>
      </p:sp>
      <p:sp>
        <p:nvSpPr>
          <p:cNvPr id="22" name="Text 20"/>
          <p:cNvSpPr/>
          <p:nvPr/>
        </p:nvSpPr>
        <p:spPr>
          <a:xfrm>
            <a:off x="4224528" y="2212848"/>
            <a:ext cx="685800" cy="685800"/>
          </a:xfrm>
          <a:prstGeom prst="rect">
            <a:avLst/>
          </a:prstGeom>
          <a:noFill/>
          <a:ln/>
        </p:spPr>
        <p:txBody>
          <a:bodyPr wrap="square" lIns="0" tIns="0" rIns="0" bIns="0" rtlCol="0" anchor="ctr"/>
          <a:lstStyle/>
          <a:p>
            <a:pPr marL="0" indent="0" algn="ctr">
              <a:buNone/>
            </a:pPr>
            <a:r>
              <a:rPr lang="en-US" sz="1400" b="1" dirty="0">
                <a:solidFill>
                  <a:srgbClr val="45C241"/>
                </a:solidFill>
                <a:latin typeface="Calibri" pitchFamily="34" charset="0"/>
                <a:ea typeface="Calibri" pitchFamily="34" charset="-122"/>
                <a:cs typeface="Calibri" pitchFamily="34" charset="-120"/>
              </a:rPr>
              <a:t>VS</a:t>
            </a:r>
            <a:endParaRPr lang="en-US" sz="1400" dirty="0"/>
          </a:p>
        </p:txBody>
      </p:sp>
      <p:sp>
        <p:nvSpPr>
          <p:cNvPr id="23" name="Shape 21"/>
          <p:cNvSpPr/>
          <p:nvPr/>
        </p:nvSpPr>
        <p:spPr>
          <a:xfrm>
            <a:off x="4727448" y="1115568"/>
            <a:ext cx="4160520" cy="3493008"/>
          </a:xfrm>
          <a:prstGeom prst="rect">
            <a:avLst/>
          </a:prstGeom>
          <a:solidFill>
            <a:srgbClr val="F5F5F5"/>
          </a:solidFill>
          <a:ln w="12700">
            <a:solidFill>
              <a:srgbClr val="E0E0E0"/>
            </a:solidFill>
            <a:prstDash val="solid"/>
          </a:ln>
          <a:effectLst>
            <a:outerShdw blurRad="50800" dist="25400" dir="8100000" algn="bl" rotWithShape="0">
              <a:srgbClr val="000000">
                <a:alpha val="10000"/>
              </a:srgbClr>
            </a:outerShdw>
          </a:effectLst>
        </p:spPr>
        <p:txBody>
          <a:bodyPr/>
          <a:lstStyle/>
          <a:p>
            <a:endParaRPr lang="es-ES"/>
          </a:p>
        </p:txBody>
      </p:sp>
      <p:sp>
        <p:nvSpPr>
          <p:cNvPr id="24" name="Shape 22"/>
          <p:cNvSpPr/>
          <p:nvPr/>
        </p:nvSpPr>
        <p:spPr>
          <a:xfrm>
            <a:off x="4727448" y="1115568"/>
            <a:ext cx="4160520" cy="64008"/>
          </a:xfrm>
          <a:prstGeom prst="rect">
            <a:avLst/>
          </a:prstGeom>
          <a:solidFill>
            <a:srgbClr val="45C241"/>
          </a:solidFill>
          <a:ln w="12700">
            <a:solidFill>
              <a:srgbClr val="45C241"/>
            </a:solidFill>
            <a:prstDash val="solid"/>
          </a:ln>
        </p:spPr>
        <p:txBody>
          <a:bodyPr/>
          <a:lstStyle/>
          <a:p>
            <a:endParaRPr lang="es-ES"/>
          </a:p>
        </p:txBody>
      </p:sp>
      <p:sp>
        <p:nvSpPr>
          <p:cNvPr id="25" name="Text 23"/>
          <p:cNvSpPr/>
          <p:nvPr/>
        </p:nvSpPr>
        <p:spPr>
          <a:xfrm>
            <a:off x="4727448" y="1234440"/>
            <a:ext cx="4160520" cy="411480"/>
          </a:xfrm>
          <a:prstGeom prst="rect">
            <a:avLst/>
          </a:prstGeom>
          <a:noFill/>
          <a:ln/>
        </p:spPr>
        <p:txBody>
          <a:bodyPr wrap="square" lIns="0" tIns="0" rIns="0" bIns="0" rtlCol="0" anchor="ctr"/>
          <a:lstStyle/>
          <a:p>
            <a:pPr marL="0" indent="0" algn="ctr">
              <a:buNone/>
            </a:pPr>
            <a:r>
              <a:rPr lang="en-US" sz="1700" b="1" dirty="0">
                <a:solidFill>
                  <a:srgbClr val="38A834"/>
                </a:solidFill>
                <a:latin typeface="Calibri" pitchFamily="34" charset="0"/>
                <a:ea typeface="Calibri" pitchFamily="34" charset="-122"/>
                <a:cs typeface="Calibri" pitchFamily="34" charset="-120"/>
              </a:rPr>
              <a:t>OPCIÓN B</a:t>
            </a:r>
            <a:endParaRPr lang="en-US" sz="1700" dirty="0"/>
          </a:p>
        </p:txBody>
      </p:sp>
      <p:sp>
        <p:nvSpPr>
          <p:cNvPr id="26" name="Text 24"/>
          <p:cNvSpPr/>
          <p:nvPr/>
        </p:nvSpPr>
        <p:spPr>
          <a:xfrm>
            <a:off x="4727448" y="1645920"/>
            <a:ext cx="4160520" cy="256032"/>
          </a:xfrm>
          <a:prstGeom prst="rect">
            <a:avLst/>
          </a:prstGeom>
          <a:noFill/>
          <a:ln/>
        </p:spPr>
        <p:txBody>
          <a:bodyPr wrap="square" lIns="0" tIns="0" rIns="0" bIns="0"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FTTO 600 Mbps simétrico</a:t>
            </a:r>
            <a:endParaRPr lang="en-US" sz="1100" dirty="0"/>
          </a:p>
        </p:txBody>
      </p:sp>
      <p:sp>
        <p:nvSpPr>
          <p:cNvPr id="27" name="Shape 25"/>
          <p:cNvSpPr/>
          <p:nvPr/>
        </p:nvSpPr>
        <p:spPr>
          <a:xfrm>
            <a:off x="5093208" y="1975104"/>
            <a:ext cx="3429000" cy="566928"/>
          </a:xfrm>
          <a:prstGeom prst="rect">
            <a:avLst/>
          </a:prstGeom>
          <a:solidFill>
            <a:srgbClr val="45C241"/>
          </a:solidFill>
          <a:ln w="12700">
            <a:solidFill>
              <a:srgbClr val="45C241"/>
            </a:solidFill>
            <a:prstDash val="solid"/>
          </a:ln>
        </p:spPr>
        <p:txBody>
          <a:bodyPr/>
          <a:lstStyle/>
          <a:p>
            <a:endParaRPr lang="es-ES"/>
          </a:p>
        </p:txBody>
      </p:sp>
      <p:sp>
        <p:nvSpPr>
          <p:cNvPr id="28" name="Text 26"/>
          <p:cNvSpPr/>
          <p:nvPr/>
        </p:nvSpPr>
        <p:spPr>
          <a:xfrm>
            <a:off x="5093208" y="1975104"/>
            <a:ext cx="3429000" cy="566928"/>
          </a:xfrm>
          <a:prstGeom prst="rect">
            <a:avLst/>
          </a:prstGeom>
          <a:noFill/>
          <a:ln/>
        </p:spPr>
        <p:txBody>
          <a:bodyPr wrap="square" lIns="0" tIns="0" rIns="0" bIns="0" rtlCol="0" anchor="ctr"/>
          <a:lstStyle/>
          <a:p>
            <a:pPr marL="0" indent="0" algn="ctr">
              <a:buNone/>
            </a:pPr>
            <a:r>
              <a:rPr lang="en-US" sz="2200" b="1" dirty="0">
                <a:solidFill>
                  <a:srgbClr val="1A1A1A"/>
                </a:solidFill>
                <a:latin typeface="Calibri" pitchFamily="34" charset="0"/>
                <a:ea typeface="Calibri" pitchFamily="34" charset="-122"/>
                <a:cs typeface="Calibri" pitchFamily="34" charset="-120"/>
              </a:rPr>
              <a:t>3.575 €/mes</a:t>
            </a:r>
            <a:endParaRPr lang="en-US" sz="2200" dirty="0"/>
          </a:p>
        </p:txBody>
      </p:sp>
      <p:sp>
        <p:nvSpPr>
          <p:cNvPr id="29" name="Shape 27"/>
          <p:cNvSpPr/>
          <p:nvPr/>
        </p:nvSpPr>
        <p:spPr>
          <a:xfrm>
            <a:off x="4892040" y="2688336"/>
            <a:ext cx="54864" cy="256032"/>
          </a:xfrm>
          <a:prstGeom prst="rect">
            <a:avLst/>
          </a:prstGeom>
          <a:solidFill>
            <a:srgbClr val="45C241"/>
          </a:solidFill>
          <a:ln w="12700">
            <a:solidFill>
              <a:srgbClr val="45C241"/>
            </a:solidFill>
            <a:prstDash val="solid"/>
          </a:ln>
        </p:spPr>
        <p:txBody>
          <a:bodyPr/>
          <a:lstStyle/>
          <a:p>
            <a:endParaRPr lang="es-ES"/>
          </a:p>
        </p:txBody>
      </p:sp>
      <p:sp>
        <p:nvSpPr>
          <p:cNvPr id="30" name="Text 28"/>
          <p:cNvSpPr/>
          <p:nvPr/>
        </p:nvSpPr>
        <p:spPr>
          <a:xfrm>
            <a:off x="5074920" y="2688336"/>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55 × FTTO 600 Mbps — 2.090€</a:t>
            </a:r>
            <a:endParaRPr lang="en-US" sz="1000" dirty="0"/>
          </a:p>
        </p:txBody>
      </p:sp>
      <p:sp>
        <p:nvSpPr>
          <p:cNvPr id="31" name="Shape 29"/>
          <p:cNvSpPr/>
          <p:nvPr/>
        </p:nvSpPr>
        <p:spPr>
          <a:xfrm>
            <a:off x="4892040" y="3072384"/>
            <a:ext cx="54864" cy="256032"/>
          </a:xfrm>
          <a:prstGeom prst="rect">
            <a:avLst/>
          </a:prstGeom>
          <a:solidFill>
            <a:srgbClr val="45C241"/>
          </a:solidFill>
          <a:ln w="12700">
            <a:solidFill>
              <a:srgbClr val="45C241"/>
            </a:solidFill>
            <a:prstDash val="solid"/>
          </a:ln>
        </p:spPr>
        <p:txBody>
          <a:bodyPr/>
          <a:lstStyle/>
          <a:p>
            <a:endParaRPr lang="es-ES"/>
          </a:p>
        </p:txBody>
      </p:sp>
      <p:sp>
        <p:nvSpPr>
          <p:cNvPr id="32" name="Text 30"/>
          <p:cNvSpPr/>
          <p:nvPr/>
        </p:nvSpPr>
        <p:spPr>
          <a:xfrm>
            <a:off x="5074920" y="3072384"/>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55 × DDI — 82,50€</a:t>
            </a:r>
            <a:endParaRPr lang="en-US" sz="1000" dirty="0"/>
          </a:p>
        </p:txBody>
      </p:sp>
      <p:sp>
        <p:nvSpPr>
          <p:cNvPr id="33" name="Shape 31"/>
          <p:cNvSpPr/>
          <p:nvPr/>
        </p:nvSpPr>
        <p:spPr>
          <a:xfrm>
            <a:off x="4892040" y="3456432"/>
            <a:ext cx="54864" cy="256032"/>
          </a:xfrm>
          <a:prstGeom prst="rect">
            <a:avLst/>
          </a:prstGeom>
          <a:solidFill>
            <a:srgbClr val="45C241"/>
          </a:solidFill>
          <a:ln w="12700">
            <a:solidFill>
              <a:srgbClr val="45C241"/>
            </a:solidFill>
            <a:prstDash val="solid"/>
          </a:ln>
        </p:spPr>
        <p:txBody>
          <a:bodyPr/>
          <a:lstStyle/>
          <a:p>
            <a:endParaRPr lang="es-ES"/>
          </a:p>
        </p:txBody>
      </p:sp>
      <p:sp>
        <p:nvSpPr>
          <p:cNvPr id="34" name="Text 32"/>
          <p:cNvSpPr/>
          <p:nvPr/>
        </p:nvSpPr>
        <p:spPr>
          <a:xfrm>
            <a:off x="5074920" y="3456432"/>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165 × Yealink W37P — 1.402,50€</a:t>
            </a:r>
            <a:endParaRPr lang="en-US" sz="1000" dirty="0"/>
          </a:p>
        </p:txBody>
      </p:sp>
      <p:sp>
        <p:nvSpPr>
          <p:cNvPr id="35" name="Shape 33"/>
          <p:cNvSpPr/>
          <p:nvPr/>
        </p:nvSpPr>
        <p:spPr>
          <a:xfrm>
            <a:off x="4892040" y="3840480"/>
            <a:ext cx="54864" cy="256032"/>
          </a:xfrm>
          <a:prstGeom prst="rect">
            <a:avLst/>
          </a:prstGeom>
          <a:solidFill>
            <a:srgbClr val="45C241"/>
          </a:solidFill>
          <a:ln w="12700">
            <a:solidFill>
              <a:srgbClr val="45C241"/>
            </a:solidFill>
            <a:prstDash val="solid"/>
          </a:ln>
        </p:spPr>
        <p:txBody>
          <a:bodyPr/>
          <a:lstStyle/>
          <a:p>
            <a:endParaRPr lang="es-ES"/>
          </a:p>
        </p:txBody>
      </p:sp>
      <p:sp>
        <p:nvSpPr>
          <p:cNvPr id="36" name="Text 34"/>
          <p:cNvSpPr/>
          <p:nvPr/>
        </p:nvSpPr>
        <p:spPr>
          <a:xfrm>
            <a:off x="5074920" y="3840480"/>
            <a:ext cx="3657600" cy="27432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Extensiones + Canales + IVR — 0€</a:t>
            </a:r>
            <a:endParaRPr lang="en-US" sz="1000" dirty="0"/>
          </a:p>
        </p:txBody>
      </p:sp>
      <p:sp>
        <p:nvSpPr>
          <p:cNvPr id="37" name="Text 35"/>
          <p:cNvSpPr/>
          <p:nvPr/>
        </p:nvSpPr>
        <p:spPr>
          <a:xfrm>
            <a:off x="4773168" y="4315968"/>
            <a:ext cx="4023360" cy="201168"/>
          </a:xfrm>
          <a:prstGeom prst="rect">
            <a:avLst/>
          </a:prstGeom>
          <a:noFill/>
          <a:ln/>
        </p:spPr>
        <p:txBody>
          <a:bodyPr wrap="square" lIns="0" tIns="0" rIns="0" bIns="0" rtlCol="0" anchor="ctr"/>
          <a:lstStyle/>
          <a:p>
            <a:pPr marL="0" indent="0" algn="ctr">
              <a:buNone/>
            </a:pPr>
            <a:r>
              <a:rPr lang="en-US" sz="900" i="1" dirty="0">
                <a:solidFill>
                  <a:srgbClr val="38A834"/>
                </a:solidFill>
                <a:latin typeface="Calibri" pitchFamily="34" charset="0"/>
                <a:ea typeface="Calibri" pitchFamily="34" charset="-122"/>
                <a:cs typeface="Calibri" pitchFamily="34" charset="-120"/>
              </a:rPr>
              <a:t>↓ Ahorro de 2.640€/año respecto a Opción A</a:t>
            </a:r>
            <a:endParaRPr lang="en-US" sz="900" dirty="0"/>
          </a:p>
        </p:txBody>
      </p:sp>
      <p:sp>
        <p:nvSpPr>
          <p:cNvPr id="38" name="Shape 36"/>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39" name="Text 37"/>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A1A"/>
          </a:solidFill>
          <a:ln w="12700">
            <a:solidFill>
              <a:srgbClr val="1A1A1A"/>
            </a:solidFill>
            <a:prstDash val="solid"/>
          </a:ln>
        </p:spPr>
        <p:txBody>
          <a:bodyPr/>
          <a:lstStyle/>
          <a:p>
            <a:endParaRPr lang="es-ES"/>
          </a:p>
        </p:txBody>
      </p:sp>
      <p:sp>
        <p:nvSpPr>
          <p:cNvPr id="3" name="Shape 1"/>
          <p:cNvSpPr/>
          <p:nvPr/>
        </p:nvSpPr>
        <p:spPr>
          <a:xfrm>
            <a:off x="0" y="0"/>
            <a:ext cx="201168" cy="5143500"/>
          </a:xfrm>
          <a:prstGeom prst="rect">
            <a:avLst/>
          </a:prstGeom>
          <a:solidFill>
            <a:srgbClr val="45C241"/>
          </a:solidFill>
          <a:ln w="12700">
            <a:solidFill>
              <a:srgbClr val="45C241"/>
            </a:solidFill>
            <a:prstDash val="solid"/>
          </a:ln>
        </p:spPr>
        <p:txBody>
          <a:bodyPr/>
          <a:lstStyle/>
          <a:p>
            <a:endParaRPr lang="es-ES"/>
          </a:p>
        </p:txBody>
      </p:sp>
      <p:sp>
        <p:nvSpPr>
          <p:cNvPr id="4" name="Text 2"/>
          <p:cNvSpPr/>
          <p:nvPr/>
        </p:nvSpPr>
        <p:spPr>
          <a:xfrm>
            <a:off x="411480" y="6400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PRÓXIMOS PASOS</a:t>
            </a:r>
            <a:endParaRPr lang="en-US" sz="2200" dirty="0"/>
          </a:p>
        </p:txBody>
      </p:sp>
      <p:sp>
        <p:nvSpPr>
          <p:cNvPr id="5" name="Text 3"/>
          <p:cNvSpPr/>
          <p:nvPr/>
        </p:nvSpPr>
        <p:spPr>
          <a:xfrm>
            <a:off x="411480" y="612648"/>
            <a:ext cx="8229600" cy="347472"/>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Estamos listos para arrancar con DIAVERUM SERVICIOS RENALES SL</a:t>
            </a:r>
            <a:endParaRPr lang="en-US" sz="1100" dirty="0"/>
          </a:p>
        </p:txBody>
      </p:sp>
      <p:sp>
        <p:nvSpPr>
          <p:cNvPr id="6" name="Shape 4"/>
          <p:cNvSpPr/>
          <p:nvPr/>
        </p:nvSpPr>
        <p:spPr>
          <a:xfrm>
            <a:off x="292608" y="1207008"/>
            <a:ext cx="2011680" cy="2633472"/>
          </a:xfrm>
          <a:prstGeom prst="rect">
            <a:avLst/>
          </a:prstGeom>
          <a:solidFill>
            <a:srgbClr val="1E1E1E"/>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7" name="Shape 5"/>
          <p:cNvSpPr/>
          <p:nvPr/>
        </p:nvSpPr>
        <p:spPr>
          <a:xfrm>
            <a:off x="292608" y="1207008"/>
            <a:ext cx="2011680" cy="54864"/>
          </a:xfrm>
          <a:prstGeom prst="rect">
            <a:avLst/>
          </a:prstGeom>
          <a:solidFill>
            <a:srgbClr val="45C241"/>
          </a:solidFill>
          <a:ln w="12700">
            <a:solidFill>
              <a:srgbClr val="45C241"/>
            </a:solidFill>
            <a:prstDash val="solid"/>
          </a:ln>
        </p:spPr>
        <p:txBody>
          <a:bodyPr/>
          <a:lstStyle/>
          <a:p>
            <a:endParaRPr lang="es-ES"/>
          </a:p>
        </p:txBody>
      </p:sp>
      <p:sp>
        <p:nvSpPr>
          <p:cNvPr id="8" name="Shape 6"/>
          <p:cNvSpPr/>
          <p:nvPr/>
        </p:nvSpPr>
        <p:spPr>
          <a:xfrm>
            <a:off x="987552" y="1335024"/>
            <a:ext cx="621792" cy="621792"/>
          </a:xfrm>
          <a:prstGeom prst="rect">
            <a:avLst/>
          </a:prstGeom>
          <a:solidFill>
            <a:srgbClr val="45C241"/>
          </a:solidFill>
          <a:ln w="12700">
            <a:solidFill>
              <a:srgbClr val="45C241"/>
            </a:solidFill>
            <a:prstDash val="solid"/>
          </a:ln>
        </p:spPr>
        <p:txBody>
          <a:bodyPr/>
          <a:lstStyle/>
          <a:p>
            <a:endParaRPr lang="es-ES"/>
          </a:p>
        </p:txBody>
      </p:sp>
      <p:sp>
        <p:nvSpPr>
          <p:cNvPr id="9" name="Text 7"/>
          <p:cNvSpPr/>
          <p:nvPr/>
        </p:nvSpPr>
        <p:spPr>
          <a:xfrm>
            <a:off x="987552" y="1335024"/>
            <a:ext cx="621792" cy="621792"/>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384048" y="2066544"/>
            <a:ext cx="182880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Elige tu opción</a:t>
            </a:r>
            <a:endParaRPr lang="en-US" sz="1250" dirty="0"/>
          </a:p>
        </p:txBody>
      </p:sp>
      <p:sp>
        <p:nvSpPr>
          <p:cNvPr id="11" name="Shape 9"/>
          <p:cNvSpPr/>
          <p:nvPr/>
        </p:nvSpPr>
        <p:spPr>
          <a:xfrm>
            <a:off x="914400" y="2496312"/>
            <a:ext cx="768096" cy="36576"/>
          </a:xfrm>
          <a:prstGeom prst="rect">
            <a:avLst/>
          </a:prstGeom>
          <a:solidFill>
            <a:srgbClr val="45C241"/>
          </a:solidFill>
          <a:ln w="12700">
            <a:solidFill>
              <a:srgbClr val="45C241"/>
            </a:solidFill>
            <a:prstDash val="solid"/>
          </a:ln>
        </p:spPr>
        <p:txBody>
          <a:bodyPr/>
          <a:lstStyle/>
          <a:p>
            <a:endParaRPr lang="es-ES"/>
          </a:p>
        </p:txBody>
      </p:sp>
      <p:sp>
        <p:nvSpPr>
          <p:cNvPr id="12" name="Text 10"/>
          <p:cNvSpPr/>
          <p:nvPr/>
        </p:nvSpPr>
        <p:spPr>
          <a:xfrm>
            <a:off x="384048" y="2606040"/>
            <a:ext cx="1828800" cy="1005840"/>
          </a:xfrm>
          <a:prstGeom prst="rect">
            <a:avLst/>
          </a:prstGeom>
          <a:noFill/>
          <a:ln/>
        </p:spPr>
        <p:txBody>
          <a:bodyPr wrap="square" lIns="0" tIns="0" rIns="0" bIns="0"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Opción A (1Gbps) u Opción B (600Mbps)</a:t>
            </a:r>
            <a:endParaRPr lang="en-US" sz="950" dirty="0"/>
          </a:p>
          <a:p>
            <a:pPr marL="0" indent="0" algn="ctr">
              <a:buNone/>
            </a:pPr>
            <a:r>
              <a:rPr lang="en-US" sz="950" dirty="0">
                <a:solidFill>
                  <a:srgbClr val="888888"/>
                </a:solidFill>
                <a:latin typeface="Calibri" pitchFamily="34" charset="0"/>
                <a:ea typeface="Calibri" pitchFamily="34" charset="-122"/>
                <a:cs typeface="Calibri" pitchFamily="34" charset="-120"/>
              </a:rPr>
              <a:t>O ajustamos a tu medida</a:t>
            </a:r>
            <a:endParaRPr lang="en-US" sz="950" dirty="0"/>
          </a:p>
        </p:txBody>
      </p:sp>
      <p:sp>
        <p:nvSpPr>
          <p:cNvPr id="13" name="Shape 11"/>
          <p:cNvSpPr/>
          <p:nvPr/>
        </p:nvSpPr>
        <p:spPr>
          <a:xfrm>
            <a:off x="2468880" y="1207008"/>
            <a:ext cx="2011680" cy="2633472"/>
          </a:xfrm>
          <a:prstGeom prst="rect">
            <a:avLst/>
          </a:prstGeom>
          <a:solidFill>
            <a:srgbClr val="1E1E1E"/>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14" name="Shape 12"/>
          <p:cNvSpPr/>
          <p:nvPr/>
        </p:nvSpPr>
        <p:spPr>
          <a:xfrm>
            <a:off x="2468880" y="1207008"/>
            <a:ext cx="2011680" cy="54864"/>
          </a:xfrm>
          <a:prstGeom prst="rect">
            <a:avLst/>
          </a:prstGeom>
          <a:solidFill>
            <a:srgbClr val="45C241"/>
          </a:solidFill>
          <a:ln w="12700">
            <a:solidFill>
              <a:srgbClr val="45C241"/>
            </a:solidFill>
            <a:prstDash val="solid"/>
          </a:ln>
        </p:spPr>
        <p:txBody>
          <a:bodyPr/>
          <a:lstStyle/>
          <a:p>
            <a:endParaRPr lang="es-ES"/>
          </a:p>
        </p:txBody>
      </p:sp>
      <p:sp>
        <p:nvSpPr>
          <p:cNvPr id="15" name="Shape 13"/>
          <p:cNvSpPr/>
          <p:nvPr/>
        </p:nvSpPr>
        <p:spPr>
          <a:xfrm>
            <a:off x="3163824" y="1335024"/>
            <a:ext cx="621792" cy="621792"/>
          </a:xfrm>
          <a:prstGeom prst="rect">
            <a:avLst/>
          </a:prstGeom>
          <a:solidFill>
            <a:srgbClr val="45C241"/>
          </a:solidFill>
          <a:ln w="12700">
            <a:solidFill>
              <a:srgbClr val="45C241"/>
            </a:solidFill>
            <a:prstDash val="solid"/>
          </a:ln>
        </p:spPr>
        <p:txBody>
          <a:bodyPr/>
          <a:lstStyle/>
          <a:p>
            <a:endParaRPr lang="es-ES"/>
          </a:p>
        </p:txBody>
      </p:sp>
      <p:sp>
        <p:nvSpPr>
          <p:cNvPr id="16" name="Text 14"/>
          <p:cNvSpPr/>
          <p:nvPr/>
        </p:nvSpPr>
        <p:spPr>
          <a:xfrm>
            <a:off x="3163824" y="1335024"/>
            <a:ext cx="621792" cy="621792"/>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02</a:t>
            </a:r>
            <a:endParaRPr lang="en-US" sz="1400" dirty="0"/>
          </a:p>
        </p:txBody>
      </p:sp>
      <p:sp>
        <p:nvSpPr>
          <p:cNvPr id="17" name="Text 15"/>
          <p:cNvSpPr/>
          <p:nvPr/>
        </p:nvSpPr>
        <p:spPr>
          <a:xfrm>
            <a:off x="2560320" y="2066544"/>
            <a:ext cx="182880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Estudio de sedes</a:t>
            </a:r>
            <a:endParaRPr lang="en-US" sz="1250" dirty="0"/>
          </a:p>
        </p:txBody>
      </p:sp>
      <p:sp>
        <p:nvSpPr>
          <p:cNvPr id="18" name="Shape 16"/>
          <p:cNvSpPr/>
          <p:nvPr/>
        </p:nvSpPr>
        <p:spPr>
          <a:xfrm>
            <a:off x="3090672" y="2496312"/>
            <a:ext cx="768096" cy="36576"/>
          </a:xfrm>
          <a:prstGeom prst="rect">
            <a:avLst/>
          </a:prstGeom>
          <a:solidFill>
            <a:srgbClr val="45C241"/>
          </a:solidFill>
          <a:ln w="12700">
            <a:solidFill>
              <a:srgbClr val="45C241"/>
            </a:solidFill>
            <a:prstDash val="solid"/>
          </a:ln>
        </p:spPr>
        <p:txBody>
          <a:bodyPr/>
          <a:lstStyle/>
          <a:p>
            <a:endParaRPr lang="es-ES"/>
          </a:p>
        </p:txBody>
      </p:sp>
      <p:sp>
        <p:nvSpPr>
          <p:cNvPr id="19" name="Text 17"/>
          <p:cNvSpPr/>
          <p:nvPr/>
        </p:nvSpPr>
        <p:spPr>
          <a:xfrm>
            <a:off x="2560320" y="2606040"/>
            <a:ext cx="1828800" cy="1005840"/>
          </a:xfrm>
          <a:prstGeom prst="rect">
            <a:avLst/>
          </a:prstGeom>
          <a:noFill/>
          <a:ln/>
        </p:spPr>
        <p:txBody>
          <a:bodyPr wrap="square" lIns="0" tIns="0" rIns="0" bIns="0"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Revisamos cobertura y acceso</a:t>
            </a:r>
            <a:endParaRPr lang="en-US" sz="950" dirty="0"/>
          </a:p>
          <a:p>
            <a:pPr marL="0" indent="0" algn="ctr">
              <a:buNone/>
            </a:pPr>
            <a:r>
              <a:rPr lang="en-US" sz="950" dirty="0">
                <a:solidFill>
                  <a:srgbClr val="888888"/>
                </a:solidFill>
                <a:latin typeface="Calibri" pitchFamily="34" charset="0"/>
                <a:ea typeface="Calibri" pitchFamily="34" charset="-122"/>
                <a:cs typeface="Calibri" pitchFamily="34" charset="-120"/>
              </a:rPr>
              <a:t>de fibra en cada clínica</a:t>
            </a:r>
            <a:endParaRPr lang="en-US" sz="950" dirty="0"/>
          </a:p>
        </p:txBody>
      </p:sp>
      <p:sp>
        <p:nvSpPr>
          <p:cNvPr id="20" name="Shape 18"/>
          <p:cNvSpPr/>
          <p:nvPr/>
        </p:nvSpPr>
        <p:spPr>
          <a:xfrm>
            <a:off x="4645152" y="1207008"/>
            <a:ext cx="2011680" cy="2633472"/>
          </a:xfrm>
          <a:prstGeom prst="rect">
            <a:avLst/>
          </a:prstGeom>
          <a:solidFill>
            <a:srgbClr val="1E1E1E"/>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21" name="Shape 19"/>
          <p:cNvSpPr/>
          <p:nvPr/>
        </p:nvSpPr>
        <p:spPr>
          <a:xfrm>
            <a:off x="4645152" y="1207008"/>
            <a:ext cx="2011680" cy="54864"/>
          </a:xfrm>
          <a:prstGeom prst="rect">
            <a:avLst/>
          </a:prstGeom>
          <a:solidFill>
            <a:srgbClr val="45C241"/>
          </a:solidFill>
          <a:ln w="12700">
            <a:solidFill>
              <a:srgbClr val="45C241"/>
            </a:solidFill>
            <a:prstDash val="solid"/>
          </a:ln>
        </p:spPr>
        <p:txBody>
          <a:bodyPr/>
          <a:lstStyle/>
          <a:p>
            <a:endParaRPr lang="es-ES"/>
          </a:p>
        </p:txBody>
      </p:sp>
      <p:sp>
        <p:nvSpPr>
          <p:cNvPr id="22" name="Shape 20"/>
          <p:cNvSpPr/>
          <p:nvPr/>
        </p:nvSpPr>
        <p:spPr>
          <a:xfrm>
            <a:off x="5340096" y="1335024"/>
            <a:ext cx="621792" cy="621792"/>
          </a:xfrm>
          <a:prstGeom prst="rect">
            <a:avLst/>
          </a:prstGeom>
          <a:solidFill>
            <a:srgbClr val="45C241"/>
          </a:solidFill>
          <a:ln w="12700">
            <a:solidFill>
              <a:srgbClr val="45C241"/>
            </a:solidFill>
            <a:prstDash val="solid"/>
          </a:ln>
        </p:spPr>
        <p:txBody>
          <a:bodyPr/>
          <a:lstStyle/>
          <a:p>
            <a:endParaRPr lang="es-ES"/>
          </a:p>
        </p:txBody>
      </p:sp>
      <p:sp>
        <p:nvSpPr>
          <p:cNvPr id="23" name="Text 21"/>
          <p:cNvSpPr/>
          <p:nvPr/>
        </p:nvSpPr>
        <p:spPr>
          <a:xfrm>
            <a:off x="5340096" y="1335024"/>
            <a:ext cx="621792" cy="621792"/>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03</a:t>
            </a:r>
            <a:endParaRPr lang="en-US" sz="1400" dirty="0"/>
          </a:p>
        </p:txBody>
      </p:sp>
      <p:sp>
        <p:nvSpPr>
          <p:cNvPr id="24" name="Text 22"/>
          <p:cNvSpPr/>
          <p:nvPr/>
        </p:nvSpPr>
        <p:spPr>
          <a:xfrm>
            <a:off x="4736592" y="2066544"/>
            <a:ext cx="182880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Firma digital</a:t>
            </a:r>
            <a:endParaRPr lang="en-US" sz="1250" dirty="0"/>
          </a:p>
        </p:txBody>
      </p:sp>
      <p:sp>
        <p:nvSpPr>
          <p:cNvPr id="25" name="Shape 23"/>
          <p:cNvSpPr/>
          <p:nvPr/>
        </p:nvSpPr>
        <p:spPr>
          <a:xfrm>
            <a:off x="5266944" y="2496312"/>
            <a:ext cx="768096" cy="36576"/>
          </a:xfrm>
          <a:prstGeom prst="rect">
            <a:avLst/>
          </a:prstGeom>
          <a:solidFill>
            <a:srgbClr val="45C241"/>
          </a:solidFill>
          <a:ln w="12700">
            <a:solidFill>
              <a:srgbClr val="45C241"/>
            </a:solidFill>
            <a:prstDash val="solid"/>
          </a:ln>
        </p:spPr>
        <p:txBody>
          <a:bodyPr/>
          <a:lstStyle/>
          <a:p>
            <a:endParaRPr lang="es-ES"/>
          </a:p>
        </p:txBody>
      </p:sp>
      <p:sp>
        <p:nvSpPr>
          <p:cNvPr id="26" name="Text 24"/>
          <p:cNvSpPr/>
          <p:nvPr/>
        </p:nvSpPr>
        <p:spPr>
          <a:xfrm>
            <a:off x="4736592" y="2606040"/>
            <a:ext cx="1828800" cy="1005840"/>
          </a:xfrm>
          <a:prstGeom prst="rect">
            <a:avLst/>
          </a:prstGeom>
          <a:noFill/>
          <a:ln/>
        </p:spPr>
        <p:txBody>
          <a:bodyPr wrap="square" lIns="0" tIns="0" rIns="0" bIns="0"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Proceso 100% digital</a:t>
            </a:r>
            <a:endParaRPr lang="en-US" sz="950" dirty="0"/>
          </a:p>
          <a:p>
            <a:pPr marL="0" indent="0" algn="ctr">
              <a:buNone/>
            </a:pPr>
            <a:r>
              <a:rPr lang="en-US" sz="950" dirty="0">
                <a:solidFill>
                  <a:srgbClr val="888888"/>
                </a:solidFill>
                <a:latin typeface="Calibri" pitchFamily="34" charset="0"/>
                <a:ea typeface="Calibri" pitchFamily="34" charset="-122"/>
                <a:cs typeface="Calibri" pitchFamily="34" charset="-120"/>
              </a:rPr>
              <a:t>Sin desplazamientos ni papeleo</a:t>
            </a:r>
            <a:endParaRPr lang="en-US" sz="950" dirty="0"/>
          </a:p>
        </p:txBody>
      </p:sp>
      <p:sp>
        <p:nvSpPr>
          <p:cNvPr id="27" name="Shape 25"/>
          <p:cNvSpPr/>
          <p:nvPr/>
        </p:nvSpPr>
        <p:spPr>
          <a:xfrm>
            <a:off x="6821424" y="1207008"/>
            <a:ext cx="2011680" cy="2633472"/>
          </a:xfrm>
          <a:prstGeom prst="rect">
            <a:avLst/>
          </a:prstGeom>
          <a:solidFill>
            <a:srgbClr val="1E1E1E"/>
          </a:solidFill>
          <a:ln w="12700">
            <a:solidFill>
              <a:srgbClr val="333333"/>
            </a:solidFill>
            <a:prstDash val="solid"/>
          </a:ln>
          <a:effectLst>
            <a:outerShdw blurRad="50800" dist="25400" dir="8100000" algn="bl" rotWithShape="0">
              <a:srgbClr val="000000">
                <a:alpha val="10000"/>
              </a:srgbClr>
            </a:outerShdw>
          </a:effectLst>
        </p:spPr>
        <p:txBody>
          <a:bodyPr/>
          <a:lstStyle/>
          <a:p>
            <a:endParaRPr lang="es-ES"/>
          </a:p>
        </p:txBody>
      </p:sp>
      <p:sp>
        <p:nvSpPr>
          <p:cNvPr id="28" name="Shape 26"/>
          <p:cNvSpPr/>
          <p:nvPr/>
        </p:nvSpPr>
        <p:spPr>
          <a:xfrm>
            <a:off x="6821424" y="1207008"/>
            <a:ext cx="2011680" cy="54864"/>
          </a:xfrm>
          <a:prstGeom prst="rect">
            <a:avLst/>
          </a:prstGeom>
          <a:solidFill>
            <a:srgbClr val="45C241"/>
          </a:solidFill>
          <a:ln w="12700">
            <a:solidFill>
              <a:srgbClr val="45C241"/>
            </a:solidFill>
            <a:prstDash val="solid"/>
          </a:ln>
        </p:spPr>
        <p:txBody>
          <a:bodyPr/>
          <a:lstStyle/>
          <a:p>
            <a:endParaRPr lang="es-ES"/>
          </a:p>
        </p:txBody>
      </p:sp>
      <p:sp>
        <p:nvSpPr>
          <p:cNvPr id="29" name="Shape 27"/>
          <p:cNvSpPr/>
          <p:nvPr/>
        </p:nvSpPr>
        <p:spPr>
          <a:xfrm>
            <a:off x="7516368" y="1335024"/>
            <a:ext cx="621792" cy="621792"/>
          </a:xfrm>
          <a:prstGeom prst="rect">
            <a:avLst/>
          </a:prstGeom>
          <a:solidFill>
            <a:srgbClr val="45C241"/>
          </a:solidFill>
          <a:ln w="12700">
            <a:solidFill>
              <a:srgbClr val="45C241"/>
            </a:solidFill>
            <a:prstDash val="solid"/>
          </a:ln>
        </p:spPr>
        <p:txBody>
          <a:bodyPr/>
          <a:lstStyle/>
          <a:p>
            <a:endParaRPr lang="es-ES"/>
          </a:p>
        </p:txBody>
      </p:sp>
      <p:sp>
        <p:nvSpPr>
          <p:cNvPr id="30" name="Text 28"/>
          <p:cNvSpPr/>
          <p:nvPr/>
        </p:nvSpPr>
        <p:spPr>
          <a:xfrm>
            <a:off x="7516368" y="1335024"/>
            <a:ext cx="621792" cy="621792"/>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04</a:t>
            </a:r>
            <a:endParaRPr lang="en-US" sz="1400" dirty="0"/>
          </a:p>
        </p:txBody>
      </p:sp>
      <p:sp>
        <p:nvSpPr>
          <p:cNvPr id="31" name="Text 29"/>
          <p:cNvSpPr/>
          <p:nvPr/>
        </p:nvSpPr>
        <p:spPr>
          <a:xfrm>
            <a:off x="6912864" y="2066544"/>
            <a:ext cx="182880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Despliegue</a:t>
            </a:r>
            <a:endParaRPr lang="en-US" sz="1250" dirty="0"/>
          </a:p>
        </p:txBody>
      </p:sp>
      <p:sp>
        <p:nvSpPr>
          <p:cNvPr id="32" name="Shape 30"/>
          <p:cNvSpPr/>
          <p:nvPr/>
        </p:nvSpPr>
        <p:spPr>
          <a:xfrm>
            <a:off x="7443216" y="2496312"/>
            <a:ext cx="768096" cy="36576"/>
          </a:xfrm>
          <a:prstGeom prst="rect">
            <a:avLst/>
          </a:prstGeom>
          <a:solidFill>
            <a:srgbClr val="45C241"/>
          </a:solidFill>
          <a:ln w="12700">
            <a:solidFill>
              <a:srgbClr val="45C241"/>
            </a:solidFill>
            <a:prstDash val="solid"/>
          </a:ln>
        </p:spPr>
        <p:txBody>
          <a:bodyPr/>
          <a:lstStyle/>
          <a:p>
            <a:endParaRPr lang="es-ES"/>
          </a:p>
        </p:txBody>
      </p:sp>
      <p:sp>
        <p:nvSpPr>
          <p:cNvPr id="33" name="Text 31"/>
          <p:cNvSpPr/>
          <p:nvPr/>
        </p:nvSpPr>
        <p:spPr>
          <a:xfrm>
            <a:off x="6912864" y="2606040"/>
            <a:ext cx="1828800" cy="1005840"/>
          </a:xfrm>
          <a:prstGeom prst="rect">
            <a:avLst/>
          </a:prstGeom>
          <a:noFill/>
          <a:ln/>
        </p:spPr>
        <p:txBody>
          <a:bodyPr wrap="square" lIns="0" tIns="0" rIns="0" bIns="0"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Instalación coordinada sede a sede</a:t>
            </a:r>
            <a:endParaRPr lang="en-US" sz="950" dirty="0"/>
          </a:p>
          <a:p>
            <a:pPr marL="0" indent="0" algn="ctr">
              <a:buNone/>
            </a:pPr>
            <a:r>
              <a:rPr lang="en-US" sz="950" dirty="0">
                <a:solidFill>
                  <a:srgbClr val="888888"/>
                </a:solidFill>
                <a:latin typeface="Calibri" pitchFamily="34" charset="0"/>
                <a:ea typeface="Calibri" pitchFamily="34" charset="-122"/>
                <a:cs typeface="Calibri" pitchFamily="34" charset="-120"/>
              </a:rPr>
              <a:t>Sin interrupciones de servicio</a:t>
            </a:r>
            <a:endParaRPr lang="en-US" sz="950" dirty="0"/>
          </a:p>
        </p:txBody>
      </p:sp>
      <p:sp>
        <p:nvSpPr>
          <p:cNvPr id="34" name="Shape 32"/>
          <p:cNvSpPr/>
          <p:nvPr/>
        </p:nvSpPr>
        <p:spPr>
          <a:xfrm>
            <a:off x="0" y="3950208"/>
            <a:ext cx="9144000" cy="859536"/>
          </a:xfrm>
          <a:prstGeom prst="rect">
            <a:avLst/>
          </a:prstGeom>
          <a:solidFill>
            <a:srgbClr val="45C241"/>
          </a:solidFill>
          <a:ln w="12700">
            <a:solidFill>
              <a:srgbClr val="45C241"/>
            </a:solidFill>
            <a:prstDash val="solid"/>
          </a:ln>
        </p:spPr>
        <p:txBody>
          <a:bodyPr/>
          <a:lstStyle/>
          <a:p>
            <a:endParaRPr lang="es-ES"/>
          </a:p>
        </p:txBody>
      </p:sp>
      <p:sp>
        <p:nvSpPr>
          <p:cNvPr id="35" name="Text 33"/>
          <p:cNvSpPr/>
          <p:nvPr/>
        </p:nvSpPr>
        <p:spPr>
          <a:xfrm>
            <a:off x="365760" y="3950208"/>
            <a:ext cx="8412480" cy="859536"/>
          </a:xfrm>
          <a:prstGeom prst="rect">
            <a:avLst/>
          </a:prstGeom>
          <a:noFill/>
          <a:ln/>
        </p:spPr>
        <p:txBody>
          <a:bodyPr wrap="square" lIns="0" tIns="0" rIns="0" bIns="0"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 911-08-98-77   ✉ info@lynks-tic.com   🌐 lynks-tic.com</a:t>
            </a:r>
            <a:endParaRPr lang="en-US" sz="1300" dirty="0"/>
          </a:p>
        </p:txBody>
      </p:sp>
      <p:sp>
        <p:nvSpPr>
          <p:cNvPr id="36" name="Shape 34"/>
          <p:cNvSpPr/>
          <p:nvPr/>
        </p:nvSpPr>
        <p:spPr>
          <a:xfrm>
            <a:off x="0" y="4818888"/>
            <a:ext cx="9144000" cy="324612"/>
          </a:xfrm>
          <a:prstGeom prst="rect">
            <a:avLst/>
          </a:prstGeom>
          <a:solidFill>
            <a:srgbClr val="111111"/>
          </a:solidFill>
          <a:ln w="12700">
            <a:solidFill>
              <a:srgbClr val="111111"/>
            </a:solidFill>
            <a:prstDash val="solid"/>
          </a:ln>
        </p:spPr>
        <p:txBody>
          <a:bodyPr/>
          <a:lstStyle/>
          <a:p>
            <a:endParaRPr lang="es-ES"/>
          </a:p>
        </p:txBody>
      </p:sp>
      <p:sp>
        <p:nvSpPr>
          <p:cNvPr id="37" name="Text 35"/>
          <p:cNvSpPr/>
          <p:nvPr/>
        </p:nvSpPr>
        <p:spPr>
          <a:xfrm>
            <a:off x="0" y="4818888"/>
            <a:ext cx="9144000" cy="324612"/>
          </a:xfrm>
          <a:prstGeom prst="rect">
            <a:avLst/>
          </a:prstGeom>
          <a:noFill/>
          <a:ln/>
        </p:spPr>
        <p:txBody>
          <a:bodyPr wrap="square" lIns="0" tIns="0" rIns="0" bIns="0"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lynks tic  ·  professional network  ·  info@lynks-tic.com  ·  911-08-98-77  ·  lynks-tic.com</a:t>
            </a:r>
            <a:endParaRPr lang="en-US" sz="800" dirty="0"/>
          </a:p>
        </p:txBody>
      </p:sp>
    </p:spTree>
  </p:cSld>
  <p:clrMapOvr>
    <a:masterClrMapping/>
  </p:clrMapOvr>
</p:sld>
</file>

<file path=ppt/theme/theme1.xml><?xml version="1.0" encoding="utf-8"?>
<a:theme xmlns:thm15="http://schemas.microsoft.com/office/thememl/2012/main"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vt="http://schemas.openxmlformats.org/officeDocument/2006/docPropsVTypes" xmlns:ap="http://schemas.openxmlformats.org/officeDocument/2006/extended-properties">
  <ap:TotalTime>0</ap:TotalTime>
  <ap:Words>2510</ap:Words>
  <ap:Application>Microsoft Macintosh PowerPoint</ap:Application>
  <ap:PresentationFormat>Presentación en pantalla (16:9)</ap:PresentationFormat>
  <ap:Paragraphs>446</ap:Paragraphs>
  <ap:Slides>17</ap:Slides>
  <ap:Notes>17</ap:Notes>
  <ap:HiddenSlides>0</ap:HiddenSlides>
  <ap:MMClips>0</ap:MMClips>
  <ap:ScaleCrop>false</ap:ScaleCrop>
  <ap:HeadingPairs>
    <vt:vector baseType="variant" size="6">
      <vt:variant>
        <vt:lpstr>Fuentes usadas</vt:lpstr>
      </vt:variant>
      <vt:variant>
        <vt:i4>2</vt:i4>
      </vt:variant>
      <vt:variant>
        <vt:lpstr>Tema</vt:lpstr>
      </vt:variant>
      <vt:variant>
        <vt:i4>1</vt:i4>
      </vt:variant>
      <vt:variant>
        <vt:lpstr>Títulos de diapositiva</vt:lpstr>
      </vt:variant>
      <vt:variant>
        <vt:i4>17</vt:i4>
      </vt:variant>
    </vt:vector>
  </ap:HeadingPairs>
  <ap:TitlesOfParts>
    <vt:vector baseType="lpstr" size="20">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ap:TitlesOfParts>
  <ap:Company>PptxGenJS</ap:Company>
  <ap:LinksUpToDate>false</ap:LinksUpToDate>
  <ap:SharedDoc>false</ap:SharedDoc>
  <ap:HyperlinksChanged>false</ap:HyperlinksChanged>
  <ap:AppVersion>16.0000</ap:AppVers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 Lynks TIC - Diaverum Servicios Renales SL</dc:title>
  <dc:subject>PptxGenJS Presentation</dc:subject>
  <dc:creator>PptxGenJS</dc:creator>
  <cp:lastModifiedBy>Javier Martin</cp:lastModifiedBy>
  <cp:revision>2</cp:revision>
  <dcterms:created xsi:type="dcterms:W3CDTF">2026-03-29T09:53:28Z</dcterms:created>
  <dcterms:modified xsi:type="dcterms:W3CDTF">2026-03-29T09:55:39Z</dcterms:modified>
</cp:coreProperties>
</file>