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2000"/>
          </a:xfrm>
          <a:prstGeom prst="rect">
            <a:avLst/>
          </a:prstGeom>
          <a:solidFill>
            <a:srgbClr val="45C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72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5C241"/>
                </a:solidFill>
                <a:latin typeface="Calibri"/>
              </a:defRPr>
            </a:pPr>
            <a:r>
              <a:t>lynkstic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Calibri"/>
              </a:defRPr>
            </a:pPr>
            <a:r>
              <a:t>professional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900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Propuesta</a:t>
            </a:r>
            <a:br/>
            <a:r>
              <a:t>comercial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80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HIJAS DE MARÍA AUXILIADORA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2088000"/>
            <a:ext cx="50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INSTITUTO SALESIANAS CIR  ·  NIF R0800057B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2520000"/>
            <a:ext cx="50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✓730 líneas móviles  ·  B2 Pack Ilimitada</a:t>
            </a:r>
            <a:br/>
            <a:r>
              <a:t>✓Cobertura nacional MasOrange + Movistar</a:t>
            </a:r>
            <a:br/>
            <a:r>
              <a:t>✓Bolsa de terminales: 8.000€ (36 meses)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4608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911 08 98 77  ·  info@lynks-tic.com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4788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45C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432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1A"/>
                </a:solidFill>
                <a:latin typeface="Calibri"/>
              </a:defRPr>
            </a:pPr>
            <a:r>
              <a:t>¿Por qué Lynks TIC?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792000"/>
            <a:ext cx="72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Operador global de telecomunicaciones, foco en empresas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1152000"/>
            <a:ext cx="1980000" cy="216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126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📱  B2Mobile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548000"/>
            <a:ext cx="18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Telefonía móvil sobre Red Orange</a:t>
            </a:r>
            <a:br/>
            <a:r>
              <a:t>4G/5G · Cobertura nacional ·</a:t>
            </a:r>
            <a:br/>
            <a:r>
              <a:t>VoLTE · eSIM · Tarifas ilimitadas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20000" y="1152000"/>
            <a:ext cx="1980000" cy="216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28000" y="126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🛡️  Ciberseguridad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8000" y="1548000"/>
            <a:ext cx="18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Forticore con firewall de última</a:t>
            </a:r>
            <a:br/>
            <a:r>
              <a:t>generación · Prevención de</a:t>
            </a:r>
            <a:br/>
            <a:r>
              <a:t>amenazas en tiempo real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1152000"/>
            <a:ext cx="1980000" cy="216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8000" y="126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☁️ 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8000" y="1548000"/>
            <a:ext cx="18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Infraestructura Cloud · Backup ·</a:t>
            </a:r>
            <a:br/>
            <a:r>
              <a:t>DRP · VPS · ISO 20000 · ISO 27001</a:t>
            </a:r>
            <a:br/>
            <a:r>
              <a:t>· ENS Alta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0000" y="1152000"/>
            <a:ext cx="1980000" cy="216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8000" y="1260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🎯  Solución a medida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8000" y="1548000"/>
            <a:ext cx="18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Atención dedicada · Equipo</a:t>
            </a:r>
            <a:br/>
            <a:r>
              <a:t>comercial propio · Proveedor</a:t>
            </a:r>
            <a:br/>
            <a:r>
              <a:t>único y factura unificada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4788000"/>
            <a:ext cx="82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Lleva tu comunicación corporativa a su mejor versión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4608000"/>
            <a:ext cx="82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lynks-tic.com  ·  911 08 98 77  ·  info@lynks-tic.com  ·  Comercial: Javier Martín  ·  664 25 89 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45C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432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5C241"/>
                </a:solidFill>
                <a:latin typeface="Calibri"/>
              </a:defRPr>
            </a:pPr>
            <a:r>
              <a:t>B2Mobile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8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Telefonía móvil para empresas — Red MasOrange 4G/5G + Movistar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0000"/>
            <a:ext cx="28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45C241"/>
                </a:solidFill>
                <a:latin typeface="Calibri"/>
              </a:defRPr>
            </a:pPr>
            <a:r>
              <a:t>730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8720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líneas móviles ilimitadas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20880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B2 Pack Ilimitada · Voz y datos ilimitados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0" y="1152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Voz ilimitada nacional — Llamadas a fijos y móviles nacionales sin límite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0" y="1728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Datos ilimitados — Hasta 400 GB/mes a máxima velocidad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0000" y="2304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Red MasOrange 4G/5G — Red principal · VoLTE incluido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0000" y="2880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Cobertura Movistar — Subsidiaria donde MasOrange no llega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0000" y="3456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eSIM disponible — Activación digital instantánea sin SIM física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700000"/>
            <a:ext cx="82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Precio negociado para 730 líneas: 7,50€/línea/mes   (Catálogo público: 9,45€  ·  21% de descuento)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4608000"/>
            <a:ext cx="82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lynks-tic.com  ·  911 08 98 77  ·  info@lynks-tic.com  ·  Comercial: Javier Martín  ·  664 25 89 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45C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432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Lo que incluye tu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720000"/>
            <a:ext cx="82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Servicios para HIJAS DE MARÍA AUXILIADORA — INSTITUTO SALESIANAS CIR · Permanencia 36 meses · Total: 5.475€/mes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" y="1080000"/>
            <a:ext cx="2808000" cy="342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0" y="1152000"/>
            <a:ext cx="259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45C241"/>
                </a:solidFill>
                <a:latin typeface="Calibri"/>
              </a:defRPr>
            </a:pPr>
            <a:r>
              <a:t>V O Z  Y  D A T O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13320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B2 PACK ILIMITADA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584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5C241"/>
                </a:solidFill>
                <a:latin typeface="Calibri"/>
              </a:defRPr>
            </a:pPr>
            <a:r>
              <a:t>5.475€/mes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908000"/>
            <a:ext cx="2592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antes: 6.898,50€/mes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" y="2052000"/>
            <a:ext cx="2592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45C241"/>
                </a:solidFill>
                <a:latin typeface="Calibri"/>
              </a:defRPr>
            </a:pPr>
            <a:r>
              <a:t>21% de descuento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2340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Calibri"/>
              </a:defRPr>
            </a:pPr>
            <a:r>
              <a:t>✓  730 líneas móviles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628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Calibri"/>
              </a:defRPr>
            </a:pPr>
            <a:r>
              <a:t>✓  Voz y datos ilimitados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916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Calibri"/>
              </a:defRPr>
            </a:pPr>
            <a:r>
              <a:t>✓  7,50€/línea/mes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31999" y="1080000"/>
            <a:ext cx="2808000" cy="342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999" y="1152000"/>
            <a:ext cx="259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45C241"/>
                </a:solidFill>
                <a:latin typeface="Calibri"/>
              </a:defRPr>
            </a:pPr>
            <a:r>
              <a:t>C O B E R T U R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9999" y="13320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MASORANGE + MOVISTAR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9999" y="1584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5C241"/>
                </a:solidFill>
                <a:latin typeface="Calibri"/>
              </a:defRPr>
            </a:pPr>
            <a:r>
              <a:t>Nacional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9999" y="1908000"/>
            <a:ext cx="2592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cobertura garantizada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9999" y="2052000"/>
            <a:ext cx="2592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45C241"/>
                </a:solidFill>
                <a:latin typeface="Calibri"/>
              </a:defRPr>
            </a:pPr>
            <a:r>
              <a:t>Doble 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1999" y="2340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Calibri"/>
              </a:defRPr>
            </a:pPr>
            <a:r>
              <a:t>✓  Red principal: MasOrange 4G/5G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1999" y="2628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Calibri"/>
              </a:defRPr>
            </a:pPr>
            <a:r>
              <a:t>✓  Subsidiaria: Movistar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2916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Calibri"/>
              </a:defRPr>
            </a:pPr>
            <a:r>
              <a:t>✓  VoLTE · eSIM incluidos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3999" y="1080000"/>
            <a:ext cx="2808000" cy="342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1999" y="1152000"/>
            <a:ext cx="2592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45C241"/>
                </a:solidFill>
                <a:latin typeface="Calibri"/>
              </a:defRPr>
            </a:pPr>
            <a:r>
              <a:t>B O L S A  T E R M I N A L E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1999" y="13320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AYUDA LYNKS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1999" y="1584000"/>
            <a:ext cx="259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5C241"/>
                </a:solidFill>
                <a:latin typeface="Calibri"/>
              </a:defRPr>
            </a:pPr>
            <a:r>
              <a:t>8.000€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1999" y="1908000"/>
            <a:ext cx="2592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para terminales móviles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1999" y="2052000"/>
            <a:ext cx="2592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45C241"/>
                </a:solidFill>
                <a:latin typeface="Calibri"/>
              </a:defRPr>
            </a:pPr>
            <a:r>
              <a:t>36 meses de permanencia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999" y="2340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Calibri"/>
              </a:defRPr>
            </a:pPr>
            <a:r>
              <a:t>✓  Bolsa exclusiva para terminales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999" y="2628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Calibri"/>
              </a:defRPr>
            </a:pPr>
            <a:r>
              <a:t>✓  Disponible durante 36 meses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999" y="2916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Calibri"/>
              </a:defRPr>
            </a:pPr>
            <a:r>
              <a:t>✓  Renovación progresiva del parque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000" y="4608000"/>
            <a:ext cx="82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lynks-tic.com  ·  911 08 98 77  ·  info@lynks-tic.com  ·  Comercial: Javier Martín  ·  664 25 89 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45C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432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Detalle de la oferta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720000"/>
            <a:ext cx="82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alibri"/>
              </a:defRPr>
            </a:pPr>
            <a:r>
              <a:t>Resumen económico — Compromiso 36 meses · IVA no incluido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972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5C241"/>
                </a:solidFill>
                <a:latin typeface="Calibri"/>
              </a:defRPr>
            </a:pPr>
            <a:r>
              <a:t>5.475 €/mes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440000"/>
            <a:ext cx="2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Cuota mensual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620000"/>
            <a:ext cx="2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730 líneas · 7,50€/línea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980000"/>
            <a:ext cx="18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Calibri"/>
              </a:defRPr>
            </a:pPr>
            <a:r>
              <a:t>Datos de la operación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2124000"/>
            <a:ext cx="1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Calibri"/>
              </a:defRPr>
            </a:pPr>
            <a:r>
              <a:t>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000" y="2124000"/>
            <a:ext cx="21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Calibri"/>
              </a:defRPr>
            </a:pPr>
            <a:r>
              <a:t>HIJAS DE MARÍA AUXILIADORA · INSTITUTO SALESIANAS CIR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2304000"/>
            <a:ext cx="1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Calibri"/>
              </a:defRPr>
            </a:pPr>
            <a:r>
              <a:t>NIF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2304000"/>
            <a:ext cx="21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Calibri"/>
              </a:defRPr>
            </a:pPr>
            <a:r>
              <a:t>R0800057B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484000"/>
            <a:ext cx="1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Calibri"/>
              </a:defRPr>
            </a:pPr>
            <a:r>
              <a:t>Permanencia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0000" y="2484000"/>
            <a:ext cx="21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Calibri"/>
              </a:defRPr>
            </a:pPr>
            <a:r>
              <a:t>36 meses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2664000"/>
            <a:ext cx="1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1A1A"/>
                </a:solidFill>
                <a:latin typeface="Calibri"/>
              </a:defRPr>
            </a:pPr>
            <a:r>
              <a:t>Activación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000" y="2664000"/>
            <a:ext cx="21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  <a:latin typeface="Calibri"/>
              </a:defRPr>
            </a:pPr>
            <a:r>
              <a:t>Sin cuota de alta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000" y="2880000"/>
            <a:ext cx="828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A1A1A"/>
                </a:solidFill>
                <a:latin typeface="Calibri"/>
              </a:defRPr>
            </a:pPr>
            <a:r>
              <a:t>Servicio          Descripción                                                Precio cat.    Dto.    Precio final    Uds.    Total/mes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" y="3060000"/>
            <a:ext cx="12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  <a:latin typeface="Calibri"/>
              </a:defRPr>
            </a:pPr>
            <a:r>
              <a:t>B2 Pack Ilimitada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0000" y="3060000"/>
            <a:ext cx="1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  <a:latin typeface="Calibri"/>
              </a:defRPr>
            </a:pPr>
            <a:r>
              <a:t>Voz y datos ilim. · Red 4G/5G · 36 meses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0000" y="3060000"/>
            <a:ext cx="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  <a:latin typeface="Calibri"/>
              </a:defRPr>
            </a:pPr>
            <a:r>
              <a:t>9,45€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0000" y="3060000"/>
            <a:ext cx="5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  <a:latin typeface="Calibri"/>
              </a:defRPr>
            </a:pPr>
            <a:r>
              <a:t>21%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0000" y="306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  <a:latin typeface="Calibri"/>
              </a:defRPr>
            </a:pPr>
            <a:r>
              <a:t>7,50€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0" y="3060000"/>
            <a:ext cx="5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  <a:latin typeface="Calibri"/>
              </a:defRPr>
            </a:pPr>
            <a:r>
              <a:t>730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0000" y="306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  <a:latin typeface="Calibri"/>
              </a:defRPr>
            </a:pPr>
            <a:r>
              <a:t>5.475,00€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000" y="3240000"/>
            <a:ext cx="12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  <a:latin typeface="Calibri"/>
              </a:defRPr>
            </a:pPr>
            <a:r>
              <a:t>Cobertura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0000" y="3240000"/>
            <a:ext cx="1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  <a:latin typeface="Calibri"/>
              </a:defRPr>
            </a:pPr>
            <a:r>
              <a:t>MasOrange 4G/5G + Movistar (subsidiaria)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0000" y="3240000"/>
            <a:ext cx="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0000" y="3240000"/>
            <a:ext cx="5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0000" y="324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  <a:latin typeface="Calibri"/>
              </a:defRPr>
            </a:pPr>
            <a:r>
              <a:t>Incluida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0000" y="3240000"/>
            <a:ext cx="5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0000" y="324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  <a:latin typeface="Calibri"/>
              </a:defRPr>
            </a:pPr>
            <a:r>
              <a:t>0,00€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0000" y="3420000"/>
            <a:ext cx="12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  <a:latin typeface="Calibri"/>
              </a:defRPr>
            </a:pPr>
            <a:r>
              <a:t>Bolsa Terminales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0000" y="3420000"/>
            <a:ext cx="1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  <a:latin typeface="Calibri"/>
              </a:defRPr>
            </a:pPr>
            <a:r>
              <a:t>Bolsa Lynks para terminales móviles (36 meses)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0000" y="3420000"/>
            <a:ext cx="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0000" y="3420000"/>
            <a:ext cx="5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0000" y="342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0000" y="3420000"/>
            <a:ext cx="54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0000" y="3420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  <a:latin typeface="Calibri"/>
              </a:defRPr>
            </a:pPr>
            <a:r>
              <a:t>8.000,00€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3671999"/>
            <a:ext cx="9144000" cy="14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0000" y="3708000"/>
            <a:ext cx="36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0000" y="3708000"/>
            <a:ext cx="1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730 uds.    5.475,00€/mes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0000" y="4608000"/>
            <a:ext cx="82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lynks-tic.com  ·  911 08 98 77  ·  info@lynks-tic.com  ·  Comercial: Javier Martín  ·  664 25 89 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45C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432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Conectividad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720000"/>
            <a:ext cx="82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Fibra profesional — Servicios adicionales disponibles para ampliar el alcance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0000" y="1080000"/>
            <a:ext cx="2808000" cy="306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000" y="972000"/>
            <a:ext cx="1368000" cy="144000"/>
          </a:xfrm>
          <a:prstGeom prst="roundRect">
            <a:avLst/>
          </a:prstGeom>
          <a:solidFill>
            <a:srgbClr val="45C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972000"/>
            <a:ext cx="136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RECOMENDADO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2240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FTTO 1Gb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620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•  Velocidad simétrica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1908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•  IP fija incluida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2196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•  Backup 4G incluido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484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•  WiFi Business y visitante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772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•  Equipamiento y alta sin coste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3240000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5C241"/>
                </a:solidFill>
                <a:latin typeface="Calibri"/>
              </a:defRPr>
            </a:pPr>
            <a:r>
              <a:t>69€/mes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31999" y="1080000"/>
            <a:ext cx="2808000" cy="306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39999" y="12240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FTTO 600Mb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1999" y="1620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•  Velocidad simétrica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1999" y="1908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•  IP fija incluida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1999" y="2196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•  WiFi Business y visitante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1999" y="2484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•  Equipamiento incluido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1999" y="2772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•  Sin cuota de alta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9999" y="3240000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5C241"/>
                </a:solidFill>
                <a:latin typeface="Calibri"/>
              </a:defRPr>
            </a:pPr>
            <a:r>
              <a:t>49€/mes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3999" y="1080000"/>
            <a:ext cx="2808000" cy="306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1999" y="1224000"/>
            <a:ext cx="2592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1A1A"/>
                </a:solidFill>
                <a:latin typeface="Calibri"/>
              </a:defRPr>
            </a:pPr>
            <a:r>
              <a:t>FTTO 300Mb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999" y="1620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•  Velocidad simétrica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999" y="1908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•  IP fija incluida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999" y="2196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•  WiFi Business y visitante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999" y="2484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•  Equipamiento incluido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999" y="2772000"/>
            <a:ext cx="24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•  Sin cuota de alta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1999" y="3240000"/>
            <a:ext cx="25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5C241"/>
                </a:solidFill>
                <a:latin typeface="Calibri"/>
              </a:defRPr>
            </a:pPr>
            <a:r>
              <a:t>34€/mes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" y="4320000"/>
            <a:ext cx="82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Permanencia 24 meses · Equipamiento en modelo de cesión · IVA no incluido · Consultar disponibilidad por sede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000" y="4608000"/>
            <a:ext cx="82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lynks-tic.com  ·  911 08 98 77  ·  info@lynks-tic.com  ·  Comercial: Javier Martín  ·  664 25 89 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45C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432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Ciberseguridad de 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720000"/>
            <a:ext cx="82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Forticore — Protección Fortinet de última generación para sedes empresariales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52000"/>
            <a:ext cx="1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Forticore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368000"/>
            <a:ext cx="18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Calibri"/>
              </a:defRPr>
            </a:pPr>
            <a:r>
              <a:t>Firewall avanzado · Multi-sede · Gestión centralizada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728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Firewall de última generación — Tecnología Fortinet líder del sector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2052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Prevención de amenazas — Detección y bloqueo en tiempo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2376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Control de accesos y navegación — Políticas configurables por usuario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2700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Multi-sede protegidas — Gestión unificada y baja latencia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3024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✓  Informe diario — 3 meses gratis incluidos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0000" y="1152000"/>
            <a:ext cx="2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45C241"/>
                </a:solidFill>
                <a:latin typeface="Calibri"/>
              </a:defRPr>
            </a:pPr>
            <a:r>
              <a:t>P A C K   I N I C I A 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0000" y="1368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2 sedes protegidas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0000" y="16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5C241"/>
                </a:solidFill>
                <a:latin typeface="Calibri"/>
              </a:defRPr>
            </a:pPr>
            <a:r>
              <a:t>70€/mes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0000" y="2340000"/>
            <a:ext cx="2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45C241"/>
                </a:solidFill>
                <a:latin typeface="Calibri"/>
              </a:defRPr>
            </a:pPr>
            <a:r>
              <a:t>S E D E   A D I C I O N A 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0000" y="2556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Por cada sede extra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0000" y="2808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5C241"/>
                </a:solidFill>
                <a:latin typeface="Calibri"/>
              </a:defRPr>
            </a:pPr>
            <a:r>
              <a:t>35€/mes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3600000"/>
            <a:ext cx="82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Permanencia 36 meses · Servicio de Gestión Personalizada disponible bajo consulta · IVA no incluido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4608000"/>
            <a:ext cx="82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Calibri"/>
              </a:defRPr>
            </a:pPr>
            <a:r>
              <a:t>lynks-tic.com  ·  911 08 98 77  ·  info@lynks-tic.com  ·  Comercial: Javier Martín  ·  664 25 89 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45C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432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Calibri"/>
              </a:defRPr>
            </a:pPr>
            <a:r>
              <a:t>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720000"/>
            <a:ext cx="82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Listos para formalizar la propuesta para HIJAS DE MARÍA AUXILIADORA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260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5C241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000" y="1368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Validación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000" y="1620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Confirmación de</a:t>
            </a:r>
            <a:br/>
            <a:r>
              <a:t>condiciones y 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0000" y="1260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5C241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8000" y="1368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Firma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8000" y="1620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Contrato y proceso</a:t>
            </a:r>
            <a:br/>
            <a:r>
              <a:t>de alta digital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0" y="1260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5C24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8000" y="1368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Portabilidad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8000" y="1620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Gestión de las</a:t>
            </a:r>
            <a:br/>
            <a:r>
              <a:t>730 líneas móviles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40000" y="1260000"/>
            <a:ext cx="5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5C241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8000" y="1368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1A"/>
                </a:solidFill>
                <a:latin typeface="Calibri"/>
              </a:defRPr>
            </a:pPr>
            <a:r>
              <a:t>Activación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8000" y="1620000"/>
            <a:ext cx="1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Despliegue progresivo</a:t>
            </a:r>
            <a:br/>
            <a:r>
              <a:t>y soporte dedicado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2880000"/>
            <a:ext cx="82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A1A1A"/>
                </a:solidFill>
                <a:latin typeface="Calibri"/>
              </a:defRPr>
            </a:pPr>
            <a:r>
              <a:t>Javier Martín Amador  ·  664 25 89 77  ·  javier.martin@lynks-tic.com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680000"/>
            <a:ext cx="9144000" cy="36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4320000"/>
            <a:ext cx="82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Calibri"/>
              </a:defRPr>
            </a:pPr>
            <a:r>
              <a:t>lynks-tic.com  ·  911 08 98 77  ·  Junio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